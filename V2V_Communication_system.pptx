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rawings/drawing1.xml" ContentType="application/vnd.openxmlformats-officedocument.drawingml.chartshapes+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6"/>
  </p:notesMasterIdLst>
  <p:handoutMasterIdLst>
    <p:handoutMasterId r:id="rId27"/>
  </p:handoutMasterIdLst>
  <p:sldIdLst>
    <p:sldId id="257" r:id="rId2"/>
    <p:sldId id="273" r:id="rId3"/>
    <p:sldId id="259" r:id="rId4"/>
    <p:sldId id="296" r:id="rId5"/>
    <p:sldId id="297" r:id="rId6"/>
    <p:sldId id="276" r:id="rId7"/>
    <p:sldId id="288" r:id="rId8"/>
    <p:sldId id="289" r:id="rId9"/>
    <p:sldId id="279" r:id="rId10"/>
    <p:sldId id="285" r:id="rId11"/>
    <p:sldId id="304" r:id="rId12"/>
    <p:sldId id="300" r:id="rId13"/>
    <p:sldId id="301" r:id="rId14"/>
    <p:sldId id="292" r:id="rId15"/>
    <p:sldId id="286" r:id="rId16"/>
    <p:sldId id="283" r:id="rId17"/>
    <p:sldId id="281" r:id="rId18"/>
    <p:sldId id="282" r:id="rId19"/>
    <p:sldId id="305" r:id="rId20"/>
    <p:sldId id="287" r:id="rId21"/>
    <p:sldId id="303" r:id="rId22"/>
    <p:sldId id="299" r:id="rId23"/>
    <p:sldId id="269" r:id="rId24"/>
    <p:sldId id="278" r:id="rId25"/>
  </p:sldIdLst>
  <p:sldSz cx="12192000" cy="6858000"/>
  <p:notesSz cx="6858000" cy="9144000"/>
  <p:defaultTextStyle>
    <a:lvl1pPr marL="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defaultTextStyle>
  <p:extLst>
    <p:ext uri="{EFAFB233-063F-42B5-8137-9DF3F51BA10A}">
      <p15:sldGuideLst xmlns:p15="http://schemas.microsoft.com/office/powerpoint/2012/main">
        <p15:guide id="1" orient="horz" pos="212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 uri="smNativeData">
      <pr:guideOptions xmlns="smNativeData" xmlns:pr="smNativeData" xmlns:p15="http://schemas.microsoft.com/office/powerpoint/2012/main" xmlns:p14="http://schemas.microsoft.com/office/powerpoint/2010/main" xmlns:mc="http://schemas.openxmlformats.org/markup-compatibility/2006" dt="1730963489" snapToBorders="1" snapToGuides="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8548" autoAdjust="0"/>
    <p:restoredTop sz="94660"/>
  </p:normalViewPr>
  <p:slideViewPr>
    <p:cSldViewPr snapToGrid="0" showGuides="1">
      <p:cViewPr varScale="1">
        <p:scale>
          <a:sx n="78" d="100"/>
          <a:sy n="78" d="100"/>
        </p:scale>
        <p:origin x="715" y="43"/>
      </p:cViewPr>
      <p:guideLst>
        <p:guide orient="horz" pos="212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5" d="100"/>
        <a:sy n="15" d="100"/>
      </p:scale>
      <p:origin x="0" y="0"/>
    </p:cViewPr>
  </p:sorterViewPr>
  <p:notesViewPr>
    <p:cSldViewPr snapToGrid="0" showGuides="1">
      <p:cViewPr>
        <p:scale>
          <a:sx n="74" d="100"/>
          <a:sy n="74" d="100"/>
        </p:scale>
        <p:origin x="1181" y="25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 Id="rId4" Type="http://schemas.openxmlformats.org/officeDocument/2006/relationships/chartUserShapes" Target="../drawings/drawing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r>
              <a:rPr lang="en-US" b="1" dirty="0">
                <a:solidFill>
                  <a:schemeClr val="tx1"/>
                </a:solidFill>
              </a:rPr>
              <a:t>GANTT</a:t>
            </a:r>
            <a:r>
              <a:rPr lang="en-US" b="1" baseline="0" dirty="0">
                <a:solidFill>
                  <a:schemeClr val="tx1"/>
                </a:solidFill>
              </a:rPr>
              <a:t> CHART</a:t>
            </a:r>
            <a:endParaRPr lang="en-IN" b="1" dirty="0">
              <a:solidFill>
                <a:schemeClr val="tx1"/>
              </a:solidFill>
            </a:endParaRPr>
          </a:p>
        </c:rich>
      </c:tx>
      <c:overlay val="0"/>
      <c:spPr>
        <a:noFill/>
        <a:ln>
          <a:noFill/>
        </a:ln>
        <a:effectLst/>
      </c:spPr>
      <c:txPr>
        <a:bodyPr rot="0" spcFirstLastPara="1" vertOverflow="ellipsis" vert="horz" wrap="square" anchor="ctr" anchorCtr="1"/>
        <a:lstStyle/>
        <a:p>
          <a:pPr>
            <a:defRPr sz="2200" b="0" i="0" u="none" strike="noStrike" kern="1200" cap="none" spc="0" normalizeH="0" baseline="0">
              <a:solidFill>
                <a:schemeClr val="tx1">
                  <a:lumMod val="65000"/>
                  <a:lumOff val="35000"/>
                </a:schemeClr>
              </a:solidFill>
              <a:latin typeface="+mj-lt"/>
              <a:ea typeface="+mj-ea"/>
              <a:cs typeface="+mj-cs"/>
            </a:defRPr>
          </a:pPr>
          <a:endParaRPr lang="en-IN"/>
        </a:p>
      </c:txPr>
    </c:title>
    <c:autoTitleDeleted val="0"/>
    <c:view3D>
      <c:rotX val="15"/>
      <c:rotY val="20"/>
      <c:depthPercent val="100"/>
      <c:rAngAx val="1"/>
    </c:view3D>
    <c:floor>
      <c:thickness val="0"/>
      <c:spPr>
        <a:noFill/>
        <a:ln>
          <a:noFill/>
        </a:ln>
        <a:effectLst/>
        <a:sp3d/>
      </c:spPr>
    </c:floor>
    <c:sideWall>
      <c:thickness val="0"/>
      <c:spPr>
        <a:noFill/>
        <a:ln>
          <a:noFill/>
        </a:ln>
        <a:effectLst/>
        <a:sp3d/>
      </c:spPr>
    </c:sideWall>
    <c:backWall>
      <c:thickness val="0"/>
      <c:spPr>
        <a:noFill/>
        <a:ln>
          <a:noFill/>
        </a:ln>
        <a:effectLst/>
        <a:sp3d/>
      </c:spPr>
    </c:backWall>
    <c:plotArea>
      <c:layout/>
      <c:bar3DChart>
        <c:barDir val="bar"/>
        <c:grouping val="stacked"/>
        <c:varyColors val="0"/>
        <c:ser>
          <c:idx val="0"/>
          <c:order val="0"/>
          <c:tx>
            <c:strRef>
              <c:f>Sheet1!$B$1</c:f>
              <c:strCache>
                <c:ptCount val="1"/>
                <c:pt idx="0">
                  <c:v>TO DO</c:v>
                </c:pt>
              </c:strCache>
            </c:strRef>
          </c:tx>
          <c:spPr>
            <a:solidFill>
              <a:schemeClr val="accent1"/>
            </a:solidFill>
            <a:ln>
              <a:noFill/>
            </a:ln>
            <a:effectLst/>
            <a:sp3d/>
          </c:spPr>
          <c:invertIfNegative val="0"/>
          <c:cat>
            <c:strRef>
              <c:f>Sheet1!$A$2:$A$7</c:f>
              <c:strCache>
                <c:ptCount val="6"/>
                <c:pt idx="0">
                  <c:v>DOCUMENTATION</c:v>
                </c:pt>
                <c:pt idx="1">
                  <c:v>IMPLEMENTATION &amp; TESTING</c:v>
                </c:pt>
                <c:pt idx="2">
                  <c:v>SIMULAION</c:v>
                </c:pt>
                <c:pt idx="3">
                  <c:v>LEARNING PREREQUISITES</c:v>
                </c:pt>
                <c:pt idx="4">
                  <c:v>LITERATURE REVIEW</c:v>
                </c:pt>
                <c:pt idx="5">
                  <c:v>IDEATION</c:v>
                </c:pt>
              </c:strCache>
            </c:strRef>
          </c:cat>
          <c:val>
            <c:numRef>
              <c:f>Sheet1!$B$2:$B$7</c:f>
              <c:numCache>
                <c:formatCode>General</c:formatCode>
                <c:ptCount val="6"/>
                <c:pt idx="0">
                  <c:v>10</c:v>
                </c:pt>
                <c:pt idx="1">
                  <c:v>8</c:v>
                </c:pt>
                <c:pt idx="2">
                  <c:v>5</c:v>
                </c:pt>
                <c:pt idx="3">
                  <c:v>4</c:v>
                </c:pt>
                <c:pt idx="4">
                  <c:v>2</c:v>
                </c:pt>
                <c:pt idx="5">
                  <c:v>0</c:v>
                </c:pt>
              </c:numCache>
            </c:numRef>
          </c:val>
          <c:extLst>
            <c:ext xmlns:c16="http://schemas.microsoft.com/office/drawing/2014/chart" uri="{C3380CC4-5D6E-409C-BE32-E72D297353CC}">
              <c16:uniqueId val="{00000000-1FE8-4BB2-ADF3-6F872313C8C3}"/>
            </c:ext>
          </c:extLst>
        </c:ser>
        <c:ser>
          <c:idx val="1"/>
          <c:order val="1"/>
          <c:tx>
            <c:strRef>
              <c:f>Sheet1!$C$1</c:f>
              <c:strCache>
                <c:ptCount val="1"/>
                <c:pt idx="0">
                  <c:v>IN PROGRESS</c:v>
                </c:pt>
              </c:strCache>
            </c:strRef>
          </c:tx>
          <c:spPr>
            <a:solidFill>
              <a:schemeClr val="accent2"/>
            </a:solidFill>
            <a:ln>
              <a:noFill/>
            </a:ln>
            <a:effectLst/>
            <a:sp3d/>
          </c:spPr>
          <c:invertIfNegative val="0"/>
          <c:cat>
            <c:strRef>
              <c:f>Sheet1!$A$2:$A$7</c:f>
              <c:strCache>
                <c:ptCount val="6"/>
                <c:pt idx="0">
                  <c:v>DOCUMENTATION</c:v>
                </c:pt>
                <c:pt idx="1">
                  <c:v>IMPLEMENTATION &amp; TESTING</c:v>
                </c:pt>
                <c:pt idx="2">
                  <c:v>SIMULAION</c:v>
                </c:pt>
                <c:pt idx="3">
                  <c:v>LEARNING PREREQUISITES</c:v>
                </c:pt>
                <c:pt idx="4">
                  <c:v>LITERATURE REVIEW</c:v>
                </c:pt>
                <c:pt idx="5">
                  <c:v>IDEATION</c:v>
                </c:pt>
              </c:strCache>
            </c:strRef>
          </c:cat>
          <c:val>
            <c:numRef>
              <c:f>Sheet1!$C$2:$C$7</c:f>
              <c:numCache>
                <c:formatCode>General</c:formatCode>
                <c:ptCount val="6"/>
                <c:pt idx="0">
                  <c:v>10</c:v>
                </c:pt>
                <c:pt idx="1">
                  <c:v>8</c:v>
                </c:pt>
                <c:pt idx="2">
                  <c:v>8</c:v>
                </c:pt>
                <c:pt idx="3">
                  <c:v>5</c:v>
                </c:pt>
                <c:pt idx="4">
                  <c:v>4</c:v>
                </c:pt>
                <c:pt idx="5">
                  <c:v>2</c:v>
                </c:pt>
              </c:numCache>
            </c:numRef>
          </c:val>
          <c:extLst>
            <c:ext xmlns:c16="http://schemas.microsoft.com/office/drawing/2014/chart" uri="{C3380CC4-5D6E-409C-BE32-E72D297353CC}">
              <c16:uniqueId val="{00000001-1FE8-4BB2-ADF3-6F872313C8C3}"/>
            </c:ext>
          </c:extLst>
        </c:ser>
        <c:ser>
          <c:idx val="2"/>
          <c:order val="2"/>
          <c:tx>
            <c:strRef>
              <c:f>Sheet1!$D$1</c:f>
              <c:strCache>
                <c:ptCount val="1"/>
                <c:pt idx="0">
                  <c:v>DONE</c:v>
                </c:pt>
              </c:strCache>
            </c:strRef>
          </c:tx>
          <c:spPr>
            <a:solidFill>
              <a:schemeClr val="accent3"/>
            </a:solidFill>
            <a:ln>
              <a:noFill/>
            </a:ln>
            <a:effectLst/>
            <a:sp3d/>
          </c:spPr>
          <c:invertIfNegative val="0"/>
          <c:cat>
            <c:strRef>
              <c:f>Sheet1!$A$2:$A$7</c:f>
              <c:strCache>
                <c:ptCount val="6"/>
                <c:pt idx="0">
                  <c:v>DOCUMENTATION</c:v>
                </c:pt>
                <c:pt idx="1">
                  <c:v>IMPLEMENTATION &amp; TESTING</c:v>
                </c:pt>
                <c:pt idx="2">
                  <c:v>SIMULAION</c:v>
                </c:pt>
                <c:pt idx="3">
                  <c:v>LEARNING PREREQUISITES</c:v>
                </c:pt>
                <c:pt idx="4">
                  <c:v>LITERATURE REVIEW</c:v>
                </c:pt>
                <c:pt idx="5">
                  <c:v>IDEATION</c:v>
                </c:pt>
              </c:strCache>
            </c:strRef>
          </c:cat>
          <c:val>
            <c:numRef>
              <c:f>Sheet1!$D$2:$D$7</c:f>
              <c:numCache>
                <c:formatCode>General</c:formatCode>
                <c:ptCount val="6"/>
                <c:pt idx="0">
                  <c:v>0</c:v>
                </c:pt>
                <c:pt idx="1">
                  <c:v>4</c:v>
                </c:pt>
                <c:pt idx="2">
                  <c:v>7</c:v>
                </c:pt>
                <c:pt idx="3">
                  <c:v>11</c:v>
                </c:pt>
                <c:pt idx="4">
                  <c:v>14</c:v>
                </c:pt>
                <c:pt idx="5">
                  <c:v>18</c:v>
                </c:pt>
              </c:numCache>
            </c:numRef>
          </c:val>
          <c:extLst>
            <c:ext xmlns:c16="http://schemas.microsoft.com/office/drawing/2014/chart" uri="{C3380CC4-5D6E-409C-BE32-E72D297353CC}">
              <c16:uniqueId val="{00000002-1FE8-4BB2-ADF3-6F872313C8C3}"/>
            </c:ext>
          </c:extLst>
        </c:ser>
        <c:dLbls>
          <c:showLegendKey val="0"/>
          <c:showVal val="0"/>
          <c:showCatName val="0"/>
          <c:showSerName val="0"/>
          <c:showPercent val="0"/>
          <c:showBubbleSize val="0"/>
        </c:dLbls>
        <c:gapWidth val="150"/>
        <c:shape val="cylinder"/>
        <c:axId val="728315087"/>
        <c:axId val="728315567"/>
        <c:axId val="0"/>
      </c:bar3DChart>
      <c:catAx>
        <c:axId val="728315087"/>
        <c:scaling>
          <c:orientation val="minMax"/>
        </c:scaling>
        <c:delete val="0"/>
        <c:axPos val="l"/>
        <c:title>
          <c:tx>
            <c:rich>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dirty="0"/>
                  <a:t>PHASES</a:t>
                </a:r>
                <a:endParaRPr lang="en-IN" dirty="0"/>
              </a:p>
            </c:rich>
          </c:tx>
          <c:overlay val="0"/>
          <c:spPr>
            <a:noFill/>
            <a:ln>
              <a:noFill/>
            </a:ln>
            <a:effectLst/>
          </c:spPr>
          <c:txPr>
            <a:bodyPr rot="-540000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cap="none" spc="0" normalizeH="0" baseline="0">
                <a:solidFill>
                  <a:schemeClr val="tx1">
                    <a:lumMod val="65000"/>
                    <a:lumOff val="35000"/>
                  </a:schemeClr>
                </a:solidFill>
                <a:latin typeface="+mn-lt"/>
                <a:ea typeface="+mn-ea"/>
                <a:cs typeface="+mn-cs"/>
              </a:defRPr>
            </a:pPr>
            <a:endParaRPr lang="en-US"/>
          </a:p>
        </c:txPr>
        <c:crossAx val="728315567"/>
        <c:crosses val="autoZero"/>
        <c:auto val="1"/>
        <c:lblAlgn val="ctr"/>
        <c:lblOffset val="100"/>
        <c:noMultiLvlLbl val="0"/>
      </c:catAx>
      <c:valAx>
        <c:axId val="728315567"/>
        <c:scaling>
          <c:orientation val="minMax"/>
        </c:scaling>
        <c:delete val="1"/>
        <c:axPos val="b"/>
        <c:majorGridlines>
          <c:spPr>
            <a:ln w="9525" cap="flat" cmpd="sng" algn="ctr">
              <a:solidFill>
                <a:schemeClr val="tx1">
                  <a:lumMod val="15000"/>
                  <a:lumOff val="85000"/>
                </a:schemeClr>
              </a:solidFill>
              <a:round/>
            </a:ln>
            <a:effectLst/>
          </c:spPr>
        </c:majorGridlines>
        <c:minorGridlines>
          <c:spPr>
            <a:ln w="9525" cap="flat" cmpd="sng" algn="ctr">
              <a:solidFill>
                <a:schemeClr val="tx1">
                  <a:lumMod val="5000"/>
                  <a:lumOff val="95000"/>
                </a:schemeClr>
              </a:solidFill>
              <a:round/>
            </a:ln>
            <a:effectLst/>
          </c:spPr>
        </c:minorGridlines>
        <c:title>
          <c:tx>
            <c:rich>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r>
                  <a:rPr lang="en-US" dirty="0"/>
                  <a:t>TIME</a:t>
                </a:r>
                <a:endParaRPr lang="en-IN" dirty="0"/>
              </a:p>
            </c:rich>
          </c:tx>
          <c:layout>
            <c:manualLayout>
              <c:xMode val="edge"/>
              <c:yMode val="edge"/>
              <c:x val="0.5870590919224965"/>
              <c:y val="0.83127734709302736"/>
            </c:manualLayout>
          </c:layout>
          <c:overlay val="0"/>
          <c:spPr>
            <a:noFill/>
            <a:ln>
              <a:noFill/>
            </a:ln>
            <a:effectLst/>
          </c:spPr>
          <c:txPr>
            <a:bodyPr rot="0" spcFirstLastPara="1" vertOverflow="ellipsis" vert="horz" wrap="square" anchor="ctr" anchorCtr="1"/>
            <a:lstStyle/>
            <a:p>
              <a:pPr>
                <a:defRPr sz="1197" b="0" i="0" u="none" strike="noStrike" kern="1200" cap="all" baseline="0">
                  <a:solidFill>
                    <a:schemeClr val="tx1">
                      <a:lumMod val="65000"/>
                      <a:lumOff val="35000"/>
                    </a:schemeClr>
                  </a:solidFill>
                  <a:latin typeface="+mn-lt"/>
                  <a:ea typeface="+mn-ea"/>
                  <a:cs typeface="+mn-cs"/>
                </a:defRPr>
              </a:pPr>
              <a:endParaRPr lang="en-IN"/>
            </a:p>
          </c:txPr>
        </c:title>
        <c:numFmt formatCode="General" sourceLinked="1"/>
        <c:majorTickMark val="none"/>
        <c:minorTickMark val="none"/>
        <c:tickLblPos val="nextTo"/>
        <c:crossAx val="728315087"/>
        <c:crosses val="autoZero"/>
        <c:crossBetween val="between"/>
      </c:valAx>
      <c:spPr>
        <a:noFill/>
        <a:ln>
          <a:noFill/>
        </a:ln>
        <a:effectLst/>
      </c:spPr>
    </c:plotArea>
    <c:legend>
      <c:legendPos val="b"/>
      <c:layout>
        <c:manualLayout>
          <c:xMode val="edge"/>
          <c:yMode val="edge"/>
          <c:x val="3.9237040144617194E-2"/>
          <c:y val="4.2201609749039519E-2"/>
          <c:w val="0.28345371616282916"/>
          <c:h val="4.5746500610617531E-2"/>
        </c:manualLayout>
      </c:layout>
      <c:overlay val="0"/>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userShapes r:id="rId4"/>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96">
  <cs:axisTitle>
    <cs:lnRef idx="0"/>
    <cs:fillRef idx="0"/>
    <cs:effectRef idx="0"/>
    <cs:fontRef idx="minor">
      <a:schemeClr val="tx1">
        <a:lumMod val="65000"/>
        <a:lumOff val="35000"/>
      </a:schemeClr>
    </cs:fontRef>
    <cs:defRPr sz="1197" kern="1200" cap="all"/>
  </cs:axisTitle>
  <cs:categoryAxis>
    <cs:lnRef idx="0"/>
    <cs:fillRef idx="0"/>
    <cs:effectRef idx="0"/>
    <cs:fontRef idx="minor">
      <a:schemeClr val="tx1">
        <a:lumMod val="65000"/>
        <a:lumOff val="35000"/>
      </a:schemeClr>
    </cs:fontRef>
    <cs:defRPr sz="1197" b="0" kern="1200" cap="none" spc="0" normalizeH="0" baseline="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75000"/>
        <a:lumOff val="25000"/>
      </a:schemeClr>
    </cs:fontRef>
    <cs:spPr>
      <a:solidFill>
        <a:schemeClr val="dk1">
          <a:lumMod val="15000"/>
          <a:lumOff val="85000"/>
        </a:schemeClr>
      </a:solidFill>
    </cs:spPr>
    <cs:defRPr sz="1197"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cs:spPr>
  </cs:dataPoint>
  <cs:dataPoint3D>
    <cs:lnRef idx="0"/>
    <cs:fillRef idx="0">
      <cs:styleClr val="auto"/>
    </cs:fillRef>
    <cs:effectRef idx="0"/>
    <cs:fontRef idx="minor">
      <a:schemeClr val="dk1"/>
    </cs:fontRef>
    <cs:spPr>
      <a:solidFill>
        <a:schemeClr val="phClr"/>
      </a:solidFill>
    </cs:spPr>
  </cs:dataPoint3D>
  <cs:dataPointLine>
    <cs:lnRef idx="0">
      <cs:styleClr val="auto"/>
    </cs:lnRef>
    <cs:fillRef idx="0"/>
    <cs:effectRef idx="0"/>
    <cs:fontRef idx="minor">
      <a:schemeClr val="dk1"/>
    </cs:fontRef>
    <cs:spPr>
      <a:ln w="38100" cap="rnd">
        <a:solidFill>
          <a:schemeClr val="phClr"/>
        </a:solidFill>
        <a:round/>
      </a:ln>
    </cs:spPr>
  </cs:dataPointLine>
  <cs:dataPointMarker>
    <cs:lnRef idx="0"/>
    <cs:fillRef idx="0">
      <cs:styleClr val="auto"/>
    </cs:fillRef>
    <cs:effectRef idx="0"/>
    <cs:fontRef idx="minor">
      <a:schemeClr val="dk1"/>
    </cs:fontRef>
    <cs:spPr>
      <a:solidFill>
        <a:schemeClr val="phClr"/>
      </a:solidFill>
    </cs:spPr>
  </cs:dataPointMarker>
  <cs:dataPointMarkerLayout symbol="circle" size="8"/>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1197"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50000"/>
            <a:lumOff val="50000"/>
          </a:schemeClr>
        </a:solidFill>
        <a:prstDash val="dash"/>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solidFill>
          <a:schemeClr val="tx1">
            <a:lumMod val="15000"/>
            <a:lumOff val="85000"/>
          </a:schemeClr>
        </a:solidFill>
        <a:round/>
      </a:ln>
    </cs:spPr>
  </cs:gridlineMajor>
  <cs:gridlineMinor>
    <cs:lnRef idx="0"/>
    <cs:fillRef idx="0"/>
    <cs:effectRef idx="0"/>
    <cs:fontRef idx="minor">
      <a:schemeClr val="dk1"/>
    </cs:fontRef>
    <cs:spPr>
      <a:ln w="9525" cap="flat" cmpd="sng" algn="ctr">
        <a:solidFill>
          <a:schemeClr val="tx1">
            <a:lumMod val="5000"/>
            <a:lumOff val="95000"/>
          </a:schemeClr>
        </a:solidFill>
        <a:round/>
      </a:ln>
    </cs:spPr>
  </cs:gridlineMinor>
  <cs:hiLoLine>
    <cs:lnRef idx="0"/>
    <cs:fillRef idx="0"/>
    <cs:effectRef idx="0"/>
    <cs:fontRef idx="minor">
      <a:schemeClr val="dk1"/>
    </cs:fontRef>
    <cs:spPr>
      <a:ln w="9525">
        <a:solidFill>
          <a:schemeClr val="tx1">
            <a:lumMod val="50000"/>
            <a:lumOff val="50000"/>
          </a:schemeClr>
        </a:solidFill>
        <a:prstDash val="dash"/>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ajor">
      <a:schemeClr val="tx1">
        <a:lumMod val="65000"/>
        <a:lumOff val="35000"/>
      </a:schemeClr>
    </cs:fontRef>
    <cs:defRPr sz="2200" b="0" kern="1200" cap="none" spc="0" normalizeH="0" baseline="0"/>
  </cs:title>
  <cs:trendline>
    <cs:lnRef idx="0">
      <cs:styleClr val="auto"/>
    </cs:lnRef>
    <cs:fillRef idx="0"/>
    <cs:effectRef idx="0"/>
    <cs:fontRef idx="minor">
      <a:schemeClr val="dk1"/>
    </cs:fontRef>
    <cs:spPr>
      <a:ln w="19050" cap="rnd">
        <a:solidFill>
          <a:schemeClr val="phClr"/>
        </a:solidFill>
        <a:round/>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dk1"/>
    </cs:fontRef>
  </cs:wall>
</cs:chartStyle>
</file>

<file path=ppt/drawings/drawing1.xml><?xml version="1.0" encoding="utf-8"?>
<c:userShapes xmlns:c="http://schemas.openxmlformats.org/drawingml/2006/chart">
  <cdr:relSizeAnchor xmlns:cdr="http://schemas.openxmlformats.org/drawingml/2006/chartDrawing">
    <cdr:from>
      <cdr:x>0.28589</cdr:x>
      <cdr:y>0.89783</cdr:y>
    </cdr:from>
    <cdr:to>
      <cdr:x>0.97661</cdr:x>
      <cdr:y>0.96316</cdr:y>
    </cdr:to>
    <cdr:sp macro="" textlink="">
      <cdr:nvSpPr>
        <cdr:cNvPr id="2" name="TextBox 1">
          <a:extLst xmlns:a="http://schemas.openxmlformats.org/drawingml/2006/main">
            <a:ext uri="{FF2B5EF4-FFF2-40B4-BE49-F238E27FC236}">
              <a16:creationId xmlns:a16="http://schemas.microsoft.com/office/drawing/2014/main" id="{793CECEF-DE63-FE46-467D-7DE41529E1FC}"/>
            </a:ext>
          </a:extLst>
        </cdr:cNvPr>
        <cdr:cNvSpPr txBox="1"/>
      </cdr:nvSpPr>
      <cdr:spPr>
        <a:xfrm xmlns:a="http://schemas.openxmlformats.org/drawingml/2006/main">
          <a:off x="2323690" y="4865057"/>
          <a:ext cx="5614220" cy="35396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endParaRPr lang="en-IN" sz="1100" kern="1200" dirty="0"/>
        </a:p>
      </cdr:txBody>
    </cdr:sp>
  </cdr:relSizeAnchor>
  <cdr:relSizeAnchor xmlns:cdr="http://schemas.openxmlformats.org/drawingml/2006/chartDrawing">
    <cdr:from>
      <cdr:x>0.24751</cdr:x>
      <cdr:y>0.86674</cdr:y>
    </cdr:from>
    <cdr:to>
      <cdr:x>0.33949</cdr:x>
      <cdr:y>1</cdr:y>
    </cdr:to>
    <cdr:sp macro="" textlink="">
      <cdr:nvSpPr>
        <cdr:cNvPr id="4" name="TextBox 3">
          <a:extLst xmlns:a="http://schemas.openxmlformats.org/drawingml/2006/main">
            <a:ext uri="{FF2B5EF4-FFF2-40B4-BE49-F238E27FC236}">
              <a16:creationId xmlns:a16="http://schemas.microsoft.com/office/drawing/2014/main" id="{F9E3C0B6-F888-EA7F-D1F6-AF7ECAB22001}"/>
            </a:ext>
          </a:extLst>
        </cdr:cNvPr>
        <cdr:cNvSpPr txBox="1"/>
      </cdr:nvSpPr>
      <cdr:spPr>
        <a:xfrm xmlns:a="http://schemas.openxmlformats.org/drawingml/2006/main">
          <a:off x="2195870" y="4924049"/>
          <a:ext cx="816077" cy="757085"/>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kern="1200" dirty="0"/>
            <a:t>27</a:t>
          </a:r>
        </a:p>
        <a:p xmlns:a="http://schemas.openxmlformats.org/drawingml/2006/main">
          <a:r>
            <a:rPr lang="en-US" kern="1200" dirty="0"/>
            <a:t>FEB</a:t>
          </a:r>
        </a:p>
        <a:p xmlns:a="http://schemas.openxmlformats.org/drawingml/2006/main">
          <a:endParaRPr lang="en-US" sz="1100" kern="1200" dirty="0"/>
        </a:p>
        <a:p xmlns:a="http://schemas.openxmlformats.org/drawingml/2006/main">
          <a:endParaRPr lang="en-IN" sz="1100" kern="1200" dirty="0"/>
        </a:p>
      </cdr:txBody>
    </cdr:sp>
  </cdr:relSizeAnchor>
  <cdr:relSizeAnchor xmlns:cdr="http://schemas.openxmlformats.org/drawingml/2006/chartDrawing">
    <cdr:from>
      <cdr:x>0.30957</cdr:x>
      <cdr:y>0.86501</cdr:y>
    </cdr:from>
    <cdr:to>
      <cdr:x>0.39712</cdr:x>
      <cdr:y>0.96019</cdr:y>
    </cdr:to>
    <cdr:sp macro="" textlink="">
      <cdr:nvSpPr>
        <cdr:cNvPr id="5" name="TextBox 4">
          <a:extLst xmlns:a="http://schemas.openxmlformats.org/drawingml/2006/main">
            <a:ext uri="{FF2B5EF4-FFF2-40B4-BE49-F238E27FC236}">
              <a16:creationId xmlns:a16="http://schemas.microsoft.com/office/drawing/2014/main" id="{3F46C01A-3C2B-A498-E02C-F7EF5F64AC0C}"/>
            </a:ext>
          </a:extLst>
        </cdr:cNvPr>
        <cdr:cNvSpPr txBox="1"/>
      </cdr:nvSpPr>
      <cdr:spPr>
        <a:xfrm xmlns:a="http://schemas.openxmlformats.org/drawingml/2006/main">
          <a:off x="2746477" y="4914218"/>
          <a:ext cx="776748" cy="540774"/>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kern="1200" dirty="0"/>
            <a:t>14</a:t>
          </a:r>
        </a:p>
        <a:p xmlns:a="http://schemas.openxmlformats.org/drawingml/2006/main">
          <a:r>
            <a:rPr lang="en-US" kern="1200" dirty="0"/>
            <a:t>MAR</a:t>
          </a:r>
          <a:endParaRPr lang="en-IN" sz="1100" kern="1200" dirty="0"/>
        </a:p>
      </cdr:txBody>
    </cdr:sp>
  </cdr:relSizeAnchor>
  <cdr:relSizeAnchor xmlns:cdr="http://schemas.openxmlformats.org/drawingml/2006/chartDrawing">
    <cdr:from>
      <cdr:x>0.38493</cdr:x>
      <cdr:y>0.86154</cdr:y>
    </cdr:from>
    <cdr:to>
      <cdr:x>0.44477</cdr:x>
      <cdr:y>0.93943</cdr:y>
    </cdr:to>
    <cdr:sp macro="" textlink="">
      <cdr:nvSpPr>
        <cdr:cNvPr id="6" name="TextBox 5">
          <a:extLst xmlns:a="http://schemas.openxmlformats.org/drawingml/2006/main">
            <a:ext uri="{FF2B5EF4-FFF2-40B4-BE49-F238E27FC236}">
              <a16:creationId xmlns:a16="http://schemas.microsoft.com/office/drawing/2014/main" id="{F0D5AAF9-5F01-4C95-6ABA-1BA96D6D732D}"/>
            </a:ext>
          </a:extLst>
        </cdr:cNvPr>
        <cdr:cNvSpPr txBox="1"/>
      </cdr:nvSpPr>
      <cdr:spPr>
        <a:xfrm xmlns:a="http://schemas.openxmlformats.org/drawingml/2006/main">
          <a:off x="3415071" y="4894552"/>
          <a:ext cx="530942" cy="442452"/>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kern="1200" dirty="0"/>
            <a:t>23</a:t>
          </a:r>
        </a:p>
        <a:p xmlns:a="http://schemas.openxmlformats.org/drawingml/2006/main">
          <a:r>
            <a:rPr lang="en-US" kern="1200" dirty="0"/>
            <a:t>MAR</a:t>
          </a:r>
        </a:p>
        <a:p xmlns:a="http://schemas.openxmlformats.org/drawingml/2006/main">
          <a:endParaRPr lang="en-IN" sz="1100" kern="1200" dirty="0"/>
        </a:p>
      </cdr:txBody>
    </cdr:sp>
  </cdr:relSizeAnchor>
  <cdr:relSizeAnchor xmlns:cdr="http://schemas.openxmlformats.org/drawingml/2006/chartDrawing">
    <cdr:from>
      <cdr:x>0.45807</cdr:x>
      <cdr:y>0.86674</cdr:y>
    </cdr:from>
    <cdr:to>
      <cdr:x>0.52586</cdr:x>
      <cdr:y>0.97404</cdr:y>
    </cdr:to>
    <cdr:sp macro="" textlink="">
      <cdr:nvSpPr>
        <cdr:cNvPr id="7" name="TextBox 6">
          <a:extLst xmlns:a="http://schemas.openxmlformats.org/drawingml/2006/main">
            <a:ext uri="{FF2B5EF4-FFF2-40B4-BE49-F238E27FC236}">
              <a16:creationId xmlns:a16="http://schemas.microsoft.com/office/drawing/2014/main" id="{901E85B2-C896-4C09-1FEE-61B10380A6FC}"/>
            </a:ext>
          </a:extLst>
        </cdr:cNvPr>
        <cdr:cNvSpPr txBox="1"/>
      </cdr:nvSpPr>
      <cdr:spPr>
        <a:xfrm xmlns:a="http://schemas.openxmlformats.org/drawingml/2006/main">
          <a:off x="4064000" y="4924050"/>
          <a:ext cx="601407" cy="60960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kern="1200" dirty="0"/>
            <a:t>2</a:t>
          </a:r>
        </a:p>
        <a:p xmlns:a="http://schemas.openxmlformats.org/drawingml/2006/main">
          <a:r>
            <a:rPr lang="en-US" kern="1200" dirty="0"/>
            <a:t>APR</a:t>
          </a:r>
          <a:endParaRPr lang="en-IN" sz="1100" kern="1200" dirty="0"/>
        </a:p>
      </cdr:txBody>
    </cdr:sp>
  </cdr:relSizeAnchor>
  <cdr:relSizeAnchor xmlns:cdr="http://schemas.openxmlformats.org/drawingml/2006/chartDrawing">
    <cdr:from>
      <cdr:x>0.52457</cdr:x>
      <cdr:y>0.86674</cdr:y>
    </cdr:from>
    <cdr:to>
      <cdr:x>0.58441</cdr:x>
      <cdr:y>0.97231</cdr:y>
    </cdr:to>
    <cdr:sp macro="" textlink="">
      <cdr:nvSpPr>
        <cdr:cNvPr id="8" name="TextBox 7">
          <a:extLst xmlns:a="http://schemas.openxmlformats.org/drawingml/2006/main">
            <a:ext uri="{FF2B5EF4-FFF2-40B4-BE49-F238E27FC236}">
              <a16:creationId xmlns:a16="http://schemas.microsoft.com/office/drawing/2014/main" id="{4E64F836-51DD-AB0A-C0A9-2FBDFFBBBD99}"/>
            </a:ext>
          </a:extLst>
        </cdr:cNvPr>
        <cdr:cNvSpPr txBox="1"/>
      </cdr:nvSpPr>
      <cdr:spPr>
        <a:xfrm xmlns:a="http://schemas.openxmlformats.org/drawingml/2006/main">
          <a:off x="4653935" y="4924049"/>
          <a:ext cx="530942" cy="599768"/>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kern="1200" dirty="0"/>
            <a:t>9</a:t>
          </a:r>
        </a:p>
        <a:p xmlns:a="http://schemas.openxmlformats.org/drawingml/2006/main">
          <a:r>
            <a:rPr lang="en-US" kern="1200" dirty="0"/>
            <a:t>APR</a:t>
          </a:r>
          <a:endParaRPr lang="en-IN" sz="1100" kern="1200" dirty="0"/>
        </a:p>
      </cdr:txBody>
    </cdr:sp>
  </cdr:relSizeAnchor>
  <cdr:relSizeAnchor xmlns:cdr="http://schemas.openxmlformats.org/drawingml/2006/chartDrawing">
    <cdr:from>
      <cdr:x>0.59882</cdr:x>
      <cdr:y>0.86847</cdr:y>
    </cdr:from>
    <cdr:to>
      <cdr:x>0.67861</cdr:x>
      <cdr:y>0.98442</cdr:y>
    </cdr:to>
    <cdr:sp macro="" textlink="">
      <cdr:nvSpPr>
        <cdr:cNvPr id="9" name="TextBox 8">
          <a:extLst xmlns:a="http://schemas.openxmlformats.org/drawingml/2006/main">
            <a:ext uri="{FF2B5EF4-FFF2-40B4-BE49-F238E27FC236}">
              <a16:creationId xmlns:a16="http://schemas.microsoft.com/office/drawing/2014/main" id="{E26E81D4-F2E0-0C90-3B85-17829DAB178E}"/>
            </a:ext>
          </a:extLst>
        </cdr:cNvPr>
        <cdr:cNvSpPr txBox="1"/>
      </cdr:nvSpPr>
      <cdr:spPr>
        <a:xfrm xmlns:a="http://schemas.openxmlformats.org/drawingml/2006/main">
          <a:off x="5312695" y="4933883"/>
          <a:ext cx="707923" cy="658761"/>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kern="1200" dirty="0"/>
            <a:t>16</a:t>
          </a:r>
        </a:p>
        <a:p xmlns:a="http://schemas.openxmlformats.org/drawingml/2006/main">
          <a:r>
            <a:rPr lang="en-US" kern="1200" dirty="0"/>
            <a:t>APR</a:t>
          </a:r>
          <a:endParaRPr lang="en-IN" sz="1100" kern="1200" dirty="0"/>
        </a:p>
      </cdr:txBody>
    </cdr:sp>
  </cdr:relSizeAnchor>
  <cdr:relSizeAnchor xmlns:cdr="http://schemas.openxmlformats.org/drawingml/2006/chartDrawing">
    <cdr:from>
      <cdr:x>0.66864</cdr:x>
      <cdr:y>0.86501</cdr:y>
    </cdr:from>
    <cdr:to>
      <cdr:x>0.73624</cdr:x>
      <cdr:y>0.94808</cdr:y>
    </cdr:to>
    <cdr:sp macro="" textlink="">
      <cdr:nvSpPr>
        <cdr:cNvPr id="10" name="TextBox 9">
          <a:extLst xmlns:a="http://schemas.openxmlformats.org/drawingml/2006/main">
            <a:ext uri="{FF2B5EF4-FFF2-40B4-BE49-F238E27FC236}">
              <a16:creationId xmlns:a16="http://schemas.microsoft.com/office/drawing/2014/main" id="{0D3D5E8A-515A-1827-86E6-D17D8B42FE62}"/>
            </a:ext>
          </a:extLst>
        </cdr:cNvPr>
        <cdr:cNvSpPr txBox="1"/>
      </cdr:nvSpPr>
      <cdr:spPr>
        <a:xfrm xmlns:a="http://schemas.openxmlformats.org/drawingml/2006/main">
          <a:off x="5932128" y="4914218"/>
          <a:ext cx="599768" cy="471948"/>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kern="1200" dirty="0"/>
            <a:t>25</a:t>
          </a:r>
        </a:p>
        <a:p xmlns:a="http://schemas.openxmlformats.org/drawingml/2006/main">
          <a:r>
            <a:rPr lang="en-US" kern="1200" dirty="0"/>
            <a:t>APR</a:t>
          </a:r>
          <a:endParaRPr lang="en-IN" sz="1100" kern="1200" dirty="0"/>
        </a:p>
      </cdr:txBody>
    </cdr:sp>
  </cdr:relSizeAnchor>
  <cdr:relSizeAnchor xmlns:cdr="http://schemas.openxmlformats.org/drawingml/2006/chartDrawing">
    <cdr:from>
      <cdr:x>0.73291</cdr:x>
      <cdr:y>0.86328</cdr:y>
    </cdr:from>
    <cdr:to>
      <cdr:x>0.785</cdr:x>
      <cdr:y>0.94289</cdr:y>
    </cdr:to>
    <cdr:sp macro="" textlink="">
      <cdr:nvSpPr>
        <cdr:cNvPr id="11" name="TextBox 10">
          <a:extLst xmlns:a="http://schemas.openxmlformats.org/drawingml/2006/main">
            <a:ext uri="{FF2B5EF4-FFF2-40B4-BE49-F238E27FC236}">
              <a16:creationId xmlns:a16="http://schemas.microsoft.com/office/drawing/2014/main" id="{3A0A608C-E3DC-9B3B-6662-6ABF4813B677}"/>
            </a:ext>
          </a:extLst>
        </cdr:cNvPr>
        <cdr:cNvSpPr txBox="1"/>
      </cdr:nvSpPr>
      <cdr:spPr>
        <a:xfrm xmlns:a="http://schemas.openxmlformats.org/drawingml/2006/main">
          <a:off x="6502400" y="4904385"/>
          <a:ext cx="462116" cy="452283"/>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kern="1200" dirty="0"/>
            <a:t>3</a:t>
          </a:r>
        </a:p>
        <a:p xmlns:a="http://schemas.openxmlformats.org/drawingml/2006/main">
          <a:r>
            <a:rPr lang="en-US" kern="1200" dirty="0"/>
            <a:t>MAY</a:t>
          </a:r>
          <a:endParaRPr lang="en-IN" sz="1100" kern="1200" dirty="0"/>
        </a:p>
      </cdr:txBody>
    </cdr:sp>
  </cdr:relSizeAnchor>
  <cdr:relSizeAnchor xmlns:cdr="http://schemas.openxmlformats.org/drawingml/2006/chartDrawing">
    <cdr:from>
      <cdr:x>0.80273</cdr:x>
      <cdr:y>0.8702</cdr:y>
    </cdr:from>
    <cdr:to>
      <cdr:x>0.87034</cdr:x>
      <cdr:y>0.96019</cdr:y>
    </cdr:to>
    <cdr:sp macro="" textlink="">
      <cdr:nvSpPr>
        <cdr:cNvPr id="12" name="TextBox 11">
          <a:extLst xmlns:a="http://schemas.openxmlformats.org/drawingml/2006/main">
            <a:ext uri="{FF2B5EF4-FFF2-40B4-BE49-F238E27FC236}">
              <a16:creationId xmlns:a16="http://schemas.microsoft.com/office/drawing/2014/main" id="{479CE952-0D07-73E2-935F-C33218911CAA}"/>
            </a:ext>
          </a:extLst>
        </cdr:cNvPr>
        <cdr:cNvSpPr txBox="1"/>
      </cdr:nvSpPr>
      <cdr:spPr>
        <a:xfrm xmlns:a="http://schemas.openxmlformats.org/drawingml/2006/main">
          <a:off x="7121830" y="4943715"/>
          <a:ext cx="599769" cy="51127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kern="1200" dirty="0"/>
            <a:t>10</a:t>
          </a:r>
        </a:p>
        <a:p xmlns:a="http://schemas.openxmlformats.org/drawingml/2006/main">
          <a:r>
            <a:rPr lang="en-US" kern="1200" dirty="0"/>
            <a:t>MAY</a:t>
          </a:r>
          <a:endParaRPr lang="en-IN" sz="1100" kern="1200" dirty="0"/>
        </a:p>
      </cdr:txBody>
    </cdr:sp>
  </cdr:relSizeAnchor>
  <cdr:relSizeAnchor xmlns:cdr="http://schemas.openxmlformats.org/drawingml/2006/chartDrawing">
    <cdr:from>
      <cdr:x>0.8659</cdr:x>
      <cdr:y>0.86847</cdr:y>
    </cdr:from>
    <cdr:to>
      <cdr:x>0.95013</cdr:x>
      <cdr:y>0.96539</cdr:y>
    </cdr:to>
    <cdr:sp macro="" textlink="">
      <cdr:nvSpPr>
        <cdr:cNvPr id="13" name="TextBox 12">
          <a:extLst xmlns:a="http://schemas.openxmlformats.org/drawingml/2006/main">
            <a:ext uri="{FF2B5EF4-FFF2-40B4-BE49-F238E27FC236}">
              <a16:creationId xmlns:a16="http://schemas.microsoft.com/office/drawing/2014/main" id="{C1273EAC-4D8E-679F-4DDE-74B381665189}"/>
            </a:ext>
          </a:extLst>
        </cdr:cNvPr>
        <cdr:cNvSpPr txBox="1"/>
      </cdr:nvSpPr>
      <cdr:spPr>
        <a:xfrm xmlns:a="http://schemas.openxmlformats.org/drawingml/2006/main">
          <a:off x="7682271" y="4933881"/>
          <a:ext cx="747252" cy="550607"/>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kern="1200" dirty="0"/>
            <a:t>17</a:t>
          </a:r>
        </a:p>
        <a:p xmlns:a="http://schemas.openxmlformats.org/drawingml/2006/main">
          <a:r>
            <a:rPr lang="en-US" kern="1200" dirty="0"/>
            <a:t>MAY</a:t>
          </a:r>
          <a:endParaRPr lang="en-IN" sz="1100" kern="1200" dirty="0"/>
        </a:p>
      </cdr:txBody>
    </cdr:sp>
  </cdr:relSizeAnchor>
  <cdr:relSizeAnchor xmlns:cdr="http://schemas.openxmlformats.org/drawingml/2006/chartDrawing">
    <cdr:from>
      <cdr:x>0.92575</cdr:x>
      <cdr:y>0.85635</cdr:y>
    </cdr:from>
    <cdr:to>
      <cdr:x>0.98892</cdr:x>
      <cdr:y>0.94808</cdr:y>
    </cdr:to>
    <cdr:sp macro="" textlink="">
      <cdr:nvSpPr>
        <cdr:cNvPr id="14" name="TextBox 13">
          <a:extLst xmlns:a="http://schemas.openxmlformats.org/drawingml/2006/main">
            <a:ext uri="{FF2B5EF4-FFF2-40B4-BE49-F238E27FC236}">
              <a16:creationId xmlns:a16="http://schemas.microsoft.com/office/drawing/2014/main" id="{AC1DB510-CFB9-F66C-381B-BD62D204B057}"/>
            </a:ext>
          </a:extLst>
        </cdr:cNvPr>
        <cdr:cNvSpPr txBox="1"/>
      </cdr:nvSpPr>
      <cdr:spPr>
        <a:xfrm xmlns:a="http://schemas.openxmlformats.org/drawingml/2006/main">
          <a:off x="8213212" y="4865056"/>
          <a:ext cx="560439" cy="521110"/>
        </a:xfrm>
        <a:prstGeom xmlns:a="http://schemas.openxmlformats.org/drawingml/2006/main" prst="rect">
          <a:avLst/>
        </a:prstGeom>
      </cdr:spPr>
      <cdr:txBody>
        <a:bodyPr xmlns:a="http://schemas.openxmlformats.org/drawingml/2006/main" vertOverflow="clip" wrap="square" rtlCol="0"/>
        <a:lstStyle xmlns:a="http://schemas.openxmlformats.org/drawingml/2006/main"/>
        <a:p xmlns:a="http://schemas.openxmlformats.org/drawingml/2006/main">
          <a:r>
            <a:rPr lang="en-US" sz="1100" kern="1200" dirty="0"/>
            <a:t>24</a:t>
          </a:r>
        </a:p>
        <a:p xmlns:a="http://schemas.openxmlformats.org/drawingml/2006/main">
          <a:r>
            <a:rPr lang="en-US" kern="1200" dirty="0"/>
            <a:t>MAY</a:t>
          </a:r>
          <a:endParaRPr lang="en-IN" sz="1100" kern="1200" dirty="0"/>
        </a:p>
      </cdr:txBody>
    </cdr:sp>
  </cdr:relSizeAnchor>
</c:userShape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MCAAQ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BIEgAA0wIAABAAAAAmAAAACAAAAD+PAAAAAAAA"/>
              </a:ext>
            </a:extLst>
          </p:cNvSpPr>
          <p:nvPr>
            <p:ph type="hdr" sz="quarter"/>
          </p:nvPr>
        </p:nvSpPr>
        <p:spPr>
          <a:xfrm>
            <a:off x="0" y="0"/>
            <a:ext cx="2971800" cy="459105"/>
          </a:xfrm>
          <a:prstGeom prst="rect">
            <a:avLst/>
          </a:prstGeom>
        </p:spPr>
        <p:txBody>
          <a:bodyPr vert="horz" wrap="square" lIns="91440" tIns="45720" rIns="91440" bIns="45720" numCol="1" spcCol="215900" anchor="t">
            <a:prstTxWarp prst="textNoShape">
              <a:avLst/>
            </a:prstTxWarp>
          </a:bodyPr>
          <a:lstStyle>
            <a:lvl1pPr algn="l">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endParaRPr/>
          </a:p>
        </p:txBody>
      </p:sp>
      <p:sp>
        <p:nvSpPr>
          <p:cNvPr id="3" name="Date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AAAAAAuKgAA0wIAABAAAAAmAAAACAAAAD+PAAAAAAAA"/>
              </a:ext>
            </a:extLst>
          </p:cNvSpPr>
          <p:nvPr>
            <p:ph type="dt" sz="quarter" idx="10"/>
          </p:nvPr>
        </p:nvSpPr>
        <p:spPr>
          <a:xfrm>
            <a:off x="3884930" y="0"/>
            <a:ext cx="2971800" cy="459105"/>
          </a:xfrm>
          <a:prstGeom prst="rect">
            <a:avLst/>
          </a:prstGeom>
        </p:spPr>
        <p:txBody>
          <a:bodyPr vert="horz" wrap="square" lIns="91440" tIns="45720" rIns="91440" bIns="45720" numCol="1" spcCol="215900" anchor="t">
            <a:prstTxWarp prst="textNoShape">
              <a:avLst/>
            </a:prstTxWarp>
          </a:bodyPr>
          <a:lstStyle>
            <a:lvl1pPr algn="r">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7FC3834B-ED78-40EF-8E79-E0F990199ECB}" type="datetime1">
              <a:rPr lang="en-US" smtClean="0"/>
              <a:t>11/27/2025</a:t>
            </a:fld>
            <a:endParaRPr/>
          </a:p>
        </p:txBody>
      </p:sp>
      <p:sp>
        <p:nvSpPr>
          <p:cNvPr id="4" name="Foot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G41AABIEgAAQDgAABAAAAAmAAAACAAAAL+PAAAAAAAA"/>
              </a:ext>
            </a:extLst>
          </p:cNvSpPr>
          <p:nvPr>
            <p:ph type="ftr" sz="quarter" idx="11"/>
          </p:nvPr>
        </p:nvSpPr>
        <p:spPr>
          <a:xfrm>
            <a:off x="0" y="8685530"/>
            <a:ext cx="2971800" cy="458470"/>
          </a:xfrm>
          <a:prstGeom prst="rect">
            <a:avLst/>
          </a:prstGeom>
        </p:spPr>
        <p:txBody>
          <a:bodyPr vert="horz" wrap="square" lIns="91440" tIns="45720" rIns="91440" bIns="45720" numCol="1" spcCol="215900" anchor="b">
            <a:prstTxWarp prst="textNoShape">
              <a:avLst/>
            </a:prstTxWarp>
          </a:bodyPr>
          <a:lstStyle>
            <a:lvl1pPr algn="l">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endParaRPr/>
          </a:p>
        </p:txBody>
      </p:sp>
      <p:sp>
        <p:nvSpPr>
          <p:cNvPr id="5" name="Slide Numb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G41AAAuKgAAQDgAABAAAAAmAAAACAAAAL+PAAAAAAAA"/>
              </a:ext>
            </a:extLst>
          </p:cNvSpPr>
          <p:nvPr>
            <p:ph type="sldNum" sz="quarter" idx="12"/>
          </p:nvPr>
        </p:nvSpPr>
        <p:spPr>
          <a:xfrm>
            <a:off x="3884930" y="8685530"/>
            <a:ext cx="2971800" cy="458470"/>
          </a:xfrm>
          <a:prstGeom prst="rect">
            <a:avLst/>
          </a:prstGeom>
        </p:spPr>
        <p:txBody>
          <a:bodyPr vert="horz" wrap="square" lIns="91440" tIns="45720" rIns="91440" bIns="45720" numCol="1" spcCol="215900" anchor="b">
            <a:prstTxWarp prst="textNoShape">
              <a:avLst/>
            </a:prstTxWarp>
          </a:bodyPr>
          <a:lstStyle>
            <a:lvl1pPr algn="r">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3B5A8DE8-A6D6-0F7B-98E2-502EC3AC6E05}" type="slidenum">
              <a:t>‹#›</a:t>
            </a:fld>
            <a:endParaRPr/>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AAAAABIEgAA0wIAABAAAAAmAAAACAAAAD+PAAAAAAAA"/>
              </a:ext>
            </a:extLst>
          </p:cNvSpPr>
          <p:nvPr>
            <p:ph type="hdr" sz="quarter"/>
          </p:nvPr>
        </p:nvSpPr>
        <p:spPr>
          <a:xfrm>
            <a:off x="0" y="0"/>
            <a:ext cx="2971800" cy="459105"/>
          </a:xfrm>
          <a:prstGeom prst="rect">
            <a:avLst/>
          </a:prstGeom>
        </p:spPr>
        <p:txBody>
          <a:bodyPr vert="horz" wrap="square" lIns="91440" tIns="45720" rIns="91440" bIns="45720" numCol="1" spcCol="215900" anchor="t">
            <a:prstTxWarp prst="textNoShape">
              <a:avLst/>
            </a:prstTxWarp>
          </a:bodyPr>
          <a:lstStyle>
            <a:lvl1pPr algn="l">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endParaRPr/>
          </a:p>
        </p:txBody>
      </p:sp>
      <p:sp>
        <p:nvSpPr>
          <p:cNvPr id="3" name="Date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AAAAAAuKgAA0wIAABAAAAAmAAAACAAAAD+PAAAAAAAA"/>
              </a:ext>
            </a:extLst>
          </p:cNvSpPr>
          <p:nvPr>
            <p:ph type="dt" idx="10"/>
          </p:nvPr>
        </p:nvSpPr>
        <p:spPr>
          <a:xfrm>
            <a:off x="3884930" y="0"/>
            <a:ext cx="2971800" cy="459105"/>
          </a:xfrm>
          <a:prstGeom prst="rect">
            <a:avLst/>
          </a:prstGeom>
        </p:spPr>
        <p:txBody>
          <a:bodyPr vert="horz" wrap="square" lIns="91440" tIns="45720" rIns="91440" bIns="45720" numCol="1" spcCol="215900" anchor="t">
            <a:prstTxWarp prst="textNoShape">
              <a:avLst/>
            </a:prstTxWarp>
          </a:bodyPr>
          <a:lstStyle>
            <a:lvl1pPr algn="r">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D2BCE73D-69A2-414F-98DE-5E588C7AC870}" type="datetime1">
              <a:rPr lang="en-US" smtClean="0"/>
              <a:t>11/27/2025</a:t>
            </a:fld>
            <a:endParaRPr/>
          </a:p>
        </p:txBody>
      </p:sp>
      <p:sp>
        <p:nvSpPr>
          <p:cNvPr id="4" name="Slide Image Placeholder 3"/>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C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L8PAAD/HwAA"/>
              </a:ext>
            </a:extLst>
          </p:cNvSpPr>
          <p:nvPr>
            <p:ph type="sldImg" idx="2"/>
          </p:nvPr>
        </p:nvSpPr>
        <p:spPr>
          <a:xfrm>
            <a:off x="685800" y="1143000"/>
            <a:ext cx="5486400" cy="3086100"/>
          </a:xfrm>
          <a:prstGeom prst="rect">
            <a:avLst/>
          </a:prstGeom>
          <a:noFill/>
          <a:ln w="12700" cap="flat" cmpd="sng" algn="ctr">
            <a:solidFill>
              <a:srgbClr val="000000"/>
            </a:solidFill>
            <a:prstDash val="solid"/>
            <a:headEnd type="none"/>
            <a:tailEnd type="none"/>
          </a:ln>
        </p:spPr>
        <p:txBody>
          <a:bodyPr vert="horz" wrap="square" lIns="91440" tIns="45720" rIns="91440" bIns="45720" numCol="1" spcCol="215900" anchor="ctr">
            <a:prstTxWarp prst="textNoShape">
              <a:avLst/>
            </a:prstTxWarp>
          </a:bodyPr>
          <a:lstStyle/>
          <a:p>
            <a:pPr>
              <a:defRPr lang="en-US"/>
            </a:pPr>
            <a:endParaRPr/>
          </a:p>
        </p:txBody>
      </p:sp>
      <p:sp>
        <p:nvSpPr>
          <p:cNvPr id="5" name="Notes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OAQAABIbAAD4JQAAODEAABAAAAAmAAAACAAAAD8PAAD/HwAA"/>
              </a:ext>
            </a:extLst>
          </p:cNvSpPr>
          <p:nvPr>
            <p:ph type="body" idx="3"/>
          </p:nvPr>
        </p:nvSpPr>
        <p:spPr>
          <a:xfrm>
            <a:off x="685800" y="4400550"/>
            <a:ext cx="5486400" cy="3600450"/>
          </a:xfrm>
          <a:prstGeom prst="rect">
            <a:avLst/>
          </a:prstGeom>
          <a:noFill/>
          <a:ln>
            <a:noFill/>
          </a:ln>
        </p:spPr>
        <p:txBody>
          <a:bodyPr vert="horz" wrap="square" lIns="91440" tIns="45720" rIns="91440" bIns="45720" numCol="1" spcCol="215900" anchor="t">
            <a:prstTxWarp prst="textNoShape">
              <a:avLst/>
            </a:prstTxWarp>
          </a:bodyPr>
          <a:lstStyle/>
          <a:p>
            <a:pPr>
              <a:defRPr lang="en-US"/>
            </a:pPr>
            <a:r>
              <a:t>Click to edit Master text styles</a:t>
            </a:r>
          </a:p>
          <a:p>
            <a:pPr lvl="1">
              <a:defRPr lang="en-US"/>
            </a:pPr>
            <a:r>
              <a:t>Second level</a:t>
            </a:r>
          </a:p>
          <a:p>
            <a:pPr lvl="2">
              <a:defRPr lang="en-US"/>
            </a:pPr>
            <a:r>
              <a:t>Third level</a:t>
            </a:r>
          </a:p>
          <a:p>
            <a:pPr lvl="3">
              <a:defRPr lang="en-US"/>
            </a:pPr>
            <a:r>
              <a:t>Fourth level</a:t>
            </a:r>
          </a:p>
          <a:p>
            <a:pPr lvl="4">
              <a:defRPr lang="en-US"/>
            </a:pPr>
            <a:r>
              <a:t>Fifth level</a:t>
            </a:r>
          </a:p>
        </p:txBody>
      </p:sp>
      <p:sp>
        <p:nvSpPr>
          <p:cNvPr id="6" name="Foot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AAAAAG41AABIEgAAQDgAABAAAAAmAAAACAAAAL+PAAD/HwAA"/>
              </a:ext>
            </a:extLst>
          </p:cNvSpPr>
          <p:nvPr>
            <p:ph type="ftr" sz="quarter" idx="11"/>
          </p:nvPr>
        </p:nvSpPr>
        <p:spPr>
          <a:xfrm>
            <a:off x="0" y="8685530"/>
            <a:ext cx="2971800" cy="458470"/>
          </a:xfrm>
          <a:prstGeom prst="rect">
            <a:avLst/>
          </a:prstGeom>
          <a:noFill/>
          <a:ln>
            <a:noFill/>
          </a:ln>
        </p:spPr>
        <p:txBody>
          <a:bodyPr vert="horz" wrap="square" lIns="91440" tIns="45720" rIns="91440" bIns="45720" numCol="1" spcCol="215900" anchor="b">
            <a:prstTxWarp prst="textNoShape">
              <a:avLst/>
            </a:prstTxWarp>
          </a:bodyPr>
          <a:lstStyle>
            <a:lvl1pPr algn="l">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endParaRPr/>
          </a:p>
        </p:txBody>
      </p:sp>
      <p:sp>
        <p:nvSpPr>
          <p:cNvPr id="7" name="Slide Number 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G41AAAuKgAAQDgAABAAAAAmAAAACAAAAL+PAAD/HwAA"/>
              </a:ext>
            </a:extLst>
          </p:cNvSpPr>
          <p:nvPr>
            <p:ph type="sldNum" sz="quarter" idx="12"/>
          </p:nvPr>
        </p:nvSpPr>
        <p:spPr>
          <a:xfrm>
            <a:off x="3884930" y="8685530"/>
            <a:ext cx="2971800" cy="458470"/>
          </a:xfrm>
          <a:prstGeom prst="rect">
            <a:avLst/>
          </a:prstGeom>
          <a:noFill/>
          <a:ln>
            <a:noFill/>
          </a:ln>
        </p:spPr>
        <p:txBody>
          <a:bodyPr vert="horz" wrap="square" lIns="91440" tIns="45720" rIns="91440" bIns="45720" numCol="1" spcCol="215900" anchor="b">
            <a:prstTxWarp prst="textNoShape">
              <a:avLst/>
            </a:prstTxWarp>
          </a:bodyPr>
          <a:lstStyle>
            <a:lvl1pPr algn="r">
              <a:defRPr lang="en-US" sz="1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3B5AF7FA-B4D6-0F01-98E2-4254B9AC6E17}" type="slidenum">
              <a:t>‹#›</a:t>
            </a:fld>
            <a:endParaRPr/>
          </a:p>
        </p:txBody>
      </p:sp>
    </p:spTree>
    <p:extLst>
      <p:ext uri="{BB962C8B-B14F-4D97-AF65-F5344CB8AC3E}">
        <p14:creationId xmlns:p14="http://schemas.microsoft.com/office/powerpoint/2010/main" val="543735009"/>
      </p:ext>
    </p:extLst>
  </p:cSld>
  <p:clrMap bg1="lt1" tx1="dk1" bg2="lt2" tx2="dk2" accent1="accent1" accent2="accent2" accent3="accent3" accent4="accent4" accent5="accent5" accent6="accent6" hlink="hlink" folHlink="folHlink"/>
  <p:hf hdr="0" ftr="0"/>
  <p:notesStyle>
    <a:lvl1pPr marL="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a:lnSpc>
        <a:spcPct val="100000"/>
      </a:lnSpc>
      <a:spcBef>
        <a:spcPts val="0"/>
      </a:spcBef>
      <a:spcAft>
        <a:spcPts val="0"/>
      </a:spcAft>
      <a:buNone/>
      <a:tabLst/>
      <a:defRPr lang="en-US" sz="1200" b="0" i="0" u="none" strike="noStrike" kern="1" cap="none" spc="0" baseline="0">
        <a:solidFill>
          <a:schemeClr val="tx1"/>
        </a:solidFill>
        <a:effectLst/>
        <a:latin typeface="Calibri" pitchFamily="2" charset="0"/>
        <a:ea typeface="Calibri" pitchFamily="2" charset="0"/>
        <a:cs typeface="Calibri" pitchFamily="2" charset="0"/>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p:cSld>
    <p:bg>
      <p:bgPr>
        <a:solidFill>
          <a:schemeClr val="bg1"/>
        </a:solidFill>
        <a:effectLst/>
      </p:bgPr>
    </p:bg>
    <p:spTree>
      <p:nvGrpSpPr>
        <p:cNvPr id="1" name=""/>
        <p:cNvGrpSpPr/>
        <p:nvPr/>
      </p:nvGrpSpPr>
      <p:grpSpPr>
        <a:xfrm>
          <a:off x="0" y="0"/>
          <a:ext cx="0" cy="0"/>
          <a:chOff x="0" y="0"/>
          <a:chExt cx="0" cy="0"/>
        </a:xfrm>
      </p:grpSpPr>
      <p:sp>
        <p:nvSpPr>
          <p:cNvPr id="2" name="Slide Image Placeholder 1"/>
          <p:cNvSpPr>
            <a:spLocks noGrp="1" noRot="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C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B/f38AAAAAA8zMzADAwP8Af39/AAAAAAAAAAAAAAAAAAAAAAAAAAAAIQAAABgAAAAUAAAAOAQAAAgHAAD4JQAABBoAABAAAAAmAAAACAAAAAEAAAAAAAAA"/>
              </a:ext>
            </a:extLst>
          </p:cNvSpPr>
          <p:nvPr>
            <p:ph type="sldImg"/>
          </p:nvPr>
        </p:nvSpPr>
        <p:spPr>
          <a:xfrm>
            <a:off x="685800" y="1143000"/>
            <a:ext cx="5486400" cy="3086100"/>
          </a:xfrm>
        </p:spPr>
      </p:sp>
      <p:sp>
        <p:nvSpPr>
          <p:cNvPr id="3" name="Notes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OAQAABIbAAD4JQAAODEAABAAAAAmAAAACAAAAAEAAAAAAAAA"/>
              </a:ext>
            </a:extLst>
          </p:cNvSpPr>
          <p:nvPr>
            <p:ph type="body" idx="1"/>
          </p:nvPr>
        </p:nvSpPr>
        <p:spPr>
          <a:xfrm>
            <a:off x="685800" y="4400550"/>
            <a:ext cx="5486400" cy="3600450"/>
          </a:xfrm>
        </p:spPr>
        <p:txBody>
          <a:bodyPr/>
          <a:lstStyle/>
          <a:p>
            <a:pPr>
              <a:defRPr lang="en-US"/>
            </a:pP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C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5hcAAG41AAAuKgAAQDgAABAAAAAmAAAACAAAAAEAAAAAAAAA"/>
              </a:ext>
            </a:extLst>
          </p:cNvSpPr>
          <p:nvPr>
            <p:ph type="sldNum" sz="quarter" idx="12"/>
          </p:nvPr>
        </p:nvSpPr>
        <p:spPr>
          <a:xfrm>
            <a:off x="3884930" y="8685530"/>
            <a:ext cx="2971800" cy="458470"/>
          </a:xfrm>
        </p:spPr>
        <p:txBody>
          <a:bodyPr/>
          <a:lstStyle/>
          <a:p>
            <a:pPr>
              <a:defRPr lang="en-US"/>
            </a:pPr>
            <a:fld id="{3B5ACA2C-62D6-0F3C-98E2-946984AC6EC1}" type="slidenum">
              <a:t>1</a:t>
            </a:fld>
            <a:endParaRPr/>
          </a:p>
        </p:txBody>
      </p:sp>
    </p:spTree>
    <p:extLst>
      <p:ext uri="{BB962C8B-B14F-4D97-AF65-F5344CB8AC3E}">
        <p14:creationId xmlns:p14="http://schemas.microsoft.com/office/powerpoint/2010/main" val="38954335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0"/>
          </p:nvPr>
        </p:nvSpPr>
        <p:spPr/>
        <p:txBody>
          <a:bodyPr/>
          <a:lstStyle/>
          <a:p>
            <a:pPr>
              <a:defRPr lang="en-US"/>
            </a:pPr>
            <a:fld id="{665952B3-4CC5-483D-A72C-CE2B80578B89}" type="datetime1">
              <a:rPr lang="en-US" smtClean="0"/>
              <a:t>11/27/2025</a:t>
            </a:fld>
            <a:endParaRPr lang="en-US"/>
          </a:p>
        </p:txBody>
      </p:sp>
      <p:sp>
        <p:nvSpPr>
          <p:cNvPr id="5" name="Slide Number Placeholder 4"/>
          <p:cNvSpPr>
            <a:spLocks noGrp="1"/>
          </p:cNvSpPr>
          <p:nvPr>
            <p:ph type="sldNum" sz="quarter" idx="12"/>
          </p:nvPr>
        </p:nvSpPr>
        <p:spPr/>
        <p:txBody>
          <a:bodyPr/>
          <a:lstStyle/>
          <a:p>
            <a:pPr>
              <a:defRPr lang="en-US"/>
            </a:pPr>
            <a:fld id="{3B5AF7FA-B4D6-0F01-98E2-4254B9AC6E17}" type="slidenum">
              <a:rPr lang="en-IN" smtClean="0"/>
              <a:t>23</a:t>
            </a:fld>
            <a:endParaRPr lang="en-IN"/>
          </a:p>
        </p:txBody>
      </p:sp>
    </p:spTree>
    <p:extLst>
      <p:ext uri="{BB962C8B-B14F-4D97-AF65-F5344CB8AC3E}">
        <p14:creationId xmlns:p14="http://schemas.microsoft.com/office/powerpoint/2010/main" val="206890788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AkAAOgGAACgQQAAmBUAABAAAAAmAAAACAAAAIGAAAAAAAAA"/>
              </a:ext>
            </a:extLst>
          </p:cNvSpPr>
          <p:nvPr>
            <p:ph type="ctrTitle"/>
          </p:nvPr>
        </p:nvSpPr>
        <p:spPr>
          <a:xfrm>
            <a:off x="1524000" y="1122680"/>
            <a:ext cx="9144000" cy="2387600"/>
          </a:xfrm>
        </p:spPr>
        <p:txBody>
          <a:bodyPr vert="horz" wrap="square" lIns="91440" tIns="45720" rIns="91440" bIns="45720" numCol="1" spcCol="215900" anchor="b">
            <a:prstTxWarp prst="textNoShape">
              <a:avLst/>
            </a:prstTxWarp>
          </a:bodyPr>
          <a:lstStyle>
            <a:lvl1pPr algn="ctr">
              <a:defRPr lang="en-US" sz="60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rPr lang="en-US"/>
              <a:t>Click to edit Master title style</a:t>
            </a:r>
            <a:endParaRPr/>
          </a:p>
        </p:txBody>
      </p:sp>
      <p:sp>
        <p:nvSpPr>
          <p:cNvPr id="3" name="Subtitle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JhbX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YAkAACkWAACgQQAAWCAAABAAAAAmAAAACAAAAAGAAAAAAAAA"/>
              </a:ext>
            </a:extLst>
          </p:cNvSpPr>
          <p:nvPr>
            <p:ph type="subTitle" idx="1"/>
          </p:nvPr>
        </p:nvSpPr>
        <p:spPr>
          <a:xfrm>
            <a:off x="1524000" y="3602355"/>
            <a:ext cx="9144000" cy="1655445"/>
          </a:xfrm>
        </p:spPr>
        <p:txBody>
          <a:bodyPr/>
          <a:lstStyle>
            <a:lvl1pPr marL="0" indent="0" algn="ctr">
              <a:buNone/>
              <a:defRPr lang="en-US" sz="2400" cap="none"/>
            </a:lvl1pPr>
            <a:lvl2pPr marL="457200" indent="0" algn="ctr">
              <a:buNone/>
              <a:defRPr lang="en-US" sz="2000" cap="none"/>
            </a:lvl2pPr>
            <a:lvl3pPr marL="914400" indent="0" algn="ctr">
              <a:buNone/>
              <a:defRPr lang="en-US" sz="1800" cap="none"/>
            </a:lvl3pPr>
            <a:lvl4pPr marL="1371600" indent="0" algn="ctr">
              <a:buNone/>
              <a:defRPr lang="en-US" sz="1600" cap="none"/>
            </a:lvl4pPr>
            <a:lvl5pPr marL="1828800" indent="0" algn="ctr">
              <a:buNone/>
              <a:defRPr lang="en-US" sz="1600" cap="none"/>
            </a:lvl5pPr>
            <a:lvl6pPr marL="2286000" indent="0" algn="ctr">
              <a:buNone/>
              <a:defRPr lang="en-US" sz="1600" cap="none"/>
            </a:lvl6pPr>
            <a:lvl7pPr marL="2743200" indent="0" algn="ctr">
              <a:buNone/>
              <a:defRPr lang="en-US" sz="1600" cap="none"/>
            </a:lvl7pPr>
            <a:lvl8pPr marL="3200400" indent="0" algn="ctr">
              <a:buNone/>
              <a:defRPr lang="en-US" sz="1600" cap="none"/>
            </a:lvl8pPr>
            <a:lvl9pPr marL="3657600" indent="0" algn="ctr">
              <a:buNone/>
              <a:defRPr lang="en-US" sz="1600" cap="none"/>
            </a:lvl9pPr>
          </a:lstStyle>
          <a:p>
            <a:pPr>
              <a:defRPr lang="en-US"/>
            </a:pPr>
            <a:r>
              <a:rPr lang="en-US"/>
              <a:t>Click to edit Master subtitle style</a:t>
            </a:r>
            <a:endParaRP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7B041960-45E1-45A4-AD14-B28D9D2B3177}" type="datetime1">
              <a:rPr lang="en-US" smtClean="0"/>
              <a:t>11/27/2025</a:t>
            </a:fld>
            <a:endParaRPr/>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rPr lang="en-US"/>
              <a:t>V2V COMMUNICATION:ENHANCING SAFETY AND TRAFFIC FLOW</a:t>
            </a:r>
            <a:endParaRPr/>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JhbX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3B5AEAC0-8ED6-0F1C-98E2-7849A4AC6E2D}"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YRQAAZwoAABAAAAAmAAAACAAAAAAAAAAAAAAA"/>
              </a:ext>
            </a:extLst>
          </p:cNvSpPr>
          <p:nvPr>
            <p:ph type="title"/>
          </p:nvPr>
        </p:nvSpPr>
        <p:spPr/>
        <p:txBody>
          <a:bodyPr/>
          <a:lstStyle/>
          <a:p>
            <a:pPr>
              <a:defRPr lang="en-US"/>
            </a:pPr>
            <a:r>
              <a:rPr lang="en-US"/>
              <a:t>Click to edit Master title style</a:t>
            </a:r>
            <a:endParaRP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YRQAAACYAABAAAAAmAAAACAAAAAAAAAAAAAAA"/>
              </a:ext>
            </a:extLst>
          </p:cNvSpPr>
          <p:nvPr>
            <p:ph idx="1"/>
          </p:nvPr>
        </p:nvSpPr>
        <p:spPr/>
        <p:txBody>
          <a:bodyPr/>
          <a:lstStyle/>
          <a:p>
            <a:pPr lvl="0">
              <a:defRPr lang="en-US"/>
            </a:pPr>
            <a:r>
              <a:rPr lang="en-US"/>
              <a:t>Click to edit Master text styles</a:t>
            </a:r>
          </a:p>
          <a:p>
            <a:pPr lvl="1">
              <a:defRPr lang="en-US"/>
            </a:pPr>
            <a:r>
              <a:rPr lang="en-US"/>
              <a:t>Second level</a:t>
            </a:r>
          </a:p>
          <a:p>
            <a:pPr lvl="2">
              <a:defRPr lang="en-US"/>
            </a:pPr>
            <a:r>
              <a:rPr lang="en-US"/>
              <a:t>Third level</a:t>
            </a:r>
          </a:p>
          <a:p>
            <a:pPr lvl="3">
              <a:defRPr lang="en-US"/>
            </a:pPr>
            <a:r>
              <a:rPr lang="en-US"/>
              <a:t>Fourth level</a:t>
            </a:r>
          </a:p>
          <a:p>
            <a:pPr lvl="4">
              <a:defRPr lang="en-US"/>
            </a:pPr>
            <a:r>
              <a:rPr lang="en-US"/>
              <a:t>Fifth level</a:t>
            </a:r>
            <a:endParaRP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5B97BB4A-E2EE-4F0C-85D0-5A383832CC9C}" type="datetime1">
              <a:rPr lang="en-US" smtClean="0"/>
              <a:t>11/27/2025</a:t>
            </a:fld>
            <a:endParaRPr/>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rPr lang="en-US"/>
              <a:t>V2V COMMUNICATION:ENHANCING SAFETY AND TRAFFIC FLOW</a:t>
            </a:r>
            <a:endParaRPr/>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3B5AB30D-43D6-0F45-98E2-B510FDAC6EE0}"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EFBQUE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gUAAIUKAADORQAAERwAABAAAAAmAAAACAAAAIGAAAAAAAAA"/>
              </a:ext>
            </a:extLst>
          </p:cNvSpPr>
          <p:nvPr>
            <p:ph type="title"/>
          </p:nvPr>
        </p:nvSpPr>
        <p:spPr>
          <a:xfrm>
            <a:off x="831850" y="1710055"/>
            <a:ext cx="10515600" cy="2852420"/>
          </a:xfrm>
        </p:spPr>
        <p:txBody>
          <a:bodyPr vert="horz" wrap="square" lIns="91440" tIns="45720" rIns="91440" bIns="45720" numCol="1" spcCol="215900" anchor="b">
            <a:prstTxWarp prst="textNoShape">
              <a:avLst/>
            </a:prstTxWarp>
          </a:bodyPr>
          <a:lstStyle>
            <a:lvl1pPr>
              <a:defRPr lang="en-US" sz="60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rPr lang="en-US"/>
              <a:t>Click to edit Master title style</a:t>
            </a:r>
            <a:endParaRPr/>
          </a:p>
        </p:txBody>
      </p:sp>
      <p:sp>
        <p:nvSpPr>
          <p:cNvPr id="3" name="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0AYTo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HgUAADwcAADORQAAdiUAABAAAAAmAAAACAAAAAGAAAAAAAAA"/>
              </a:ext>
            </a:extLst>
          </p:cNvSpPr>
          <p:nvPr>
            <p:ph idx="1"/>
          </p:nvPr>
        </p:nvSpPr>
        <p:spPr>
          <a:xfrm>
            <a:off x="831850" y="4589780"/>
            <a:ext cx="10515600" cy="1499870"/>
          </a:xfrm>
        </p:spPr>
        <p:txBody>
          <a:bodyPr/>
          <a:lstStyle>
            <a:lvl1pPr marL="0" indent="0">
              <a:buNone/>
              <a:defRPr lang="en-US" sz="2400" cap="none">
                <a:solidFill>
                  <a:srgbClr val="8C8C8C"/>
                </a:solidFill>
              </a:defRPr>
            </a:lvl1pPr>
            <a:lvl2pPr marL="457200" indent="0">
              <a:buNone/>
              <a:defRPr lang="en-US" sz="2000" cap="none">
                <a:solidFill>
                  <a:srgbClr val="8C8C8C"/>
                </a:solidFill>
              </a:defRPr>
            </a:lvl2pPr>
            <a:lvl3pPr marL="914400" indent="0">
              <a:buNone/>
              <a:defRPr lang="en-US" sz="1800" cap="none">
                <a:solidFill>
                  <a:srgbClr val="8C8C8C"/>
                </a:solidFill>
              </a:defRPr>
            </a:lvl3pPr>
            <a:lvl4pPr marL="1371600" indent="0">
              <a:buNone/>
              <a:defRPr lang="en-US" sz="1600" cap="none">
                <a:solidFill>
                  <a:srgbClr val="8C8C8C"/>
                </a:solidFill>
              </a:defRPr>
            </a:lvl4pPr>
            <a:lvl5pPr marL="1828800" indent="0">
              <a:buNone/>
              <a:defRPr lang="en-US" sz="1600" cap="none">
                <a:solidFill>
                  <a:srgbClr val="8C8C8C"/>
                </a:solidFill>
              </a:defRPr>
            </a:lvl5pPr>
            <a:lvl6pPr marL="2286000" indent="0">
              <a:buNone/>
              <a:defRPr lang="en-US" sz="1600" cap="none">
                <a:solidFill>
                  <a:srgbClr val="8C8C8C"/>
                </a:solidFill>
              </a:defRPr>
            </a:lvl6pPr>
            <a:lvl7pPr marL="2743200" indent="0">
              <a:buNone/>
              <a:defRPr lang="en-US" sz="1600" cap="none">
                <a:solidFill>
                  <a:srgbClr val="8C8C8C"/>
                </a:solidFill>
              </a:defRPr>
            </a:lvl7pPr>
            <a:lvl8pPr marL="3200400" indent="0">
              <a:buNone/>
              <a:defRPr lang="en-US" sz="1600" cap="none">
                <a:solidFill>
                  <a:srgbClr val="8C8C8C"/>
                </a:solidFill>
              </a:defRPr>
            </a:lvl8pPr>
            <a:lvl9pPr marL="3657600" indent="0">
              <a:buNone/>
              <a:defRPr lang="en-US" sz="1600" cap="none">
                <a:solidFill>
                  <a:srgbClr val="8C8C8C"/>
                </a:solidFill>
              </a:defRPr>
            </a:lvl9pPr>
          </a:lstStyle>
          <a:p>
            <a:pPr lvl="0">
              <a:defRPr lang="en-US"/>
            </a:pPr>
            <a:r>
              <a:rPr lang="en-US"/>
              <a:t>Click to edit Master text styles</a:t>
            </a: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GkAcHI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7ABF890F-FE3A-4CA9-9512-3017982BAC19}" type="datetime1">
              <a:rPr lang="en-US" smtClean="0"/>
              <a:t>11/27/2025</a:t>
            </a:fld>
            <a:endParaRPr/>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rPr lang="en-US"/>
              <a:t>V2V COMMUNICATION:ENHANCING SAFETY AND TRAFFIC FLOW</a:t>
            </a:r>
            <a:endParaRPr/>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IhuEgw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3B5AE38C-C2D6-0F15-98E2-3440ADAC6E61}"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iv5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YRQAAZwoAABAAAAAmAAAACAAAAAAAAAAAAAAA"/>
              </a:ext>
            </a:extLst>
          </p:cNvSpPr>
          <p:nvPr>
            <p:ph type="title"/>
          </p:nvPr>
        </p:nvSpPr>
        <p:spPr/>
        <p:txBody>
          <a:bodyPr/>
          <a:lstStyle/>
          <a:p>
            <a:pPr>
              <a:defRPr lang="en-US"/>
            </a:pPr>
            <a:r>
              <a:rPr lang="en-US"/>
              <a:t>Click to edit Master title style</a:t>
            </a:r>
            <a:endParaRP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AIJQAAACYAABAAAAAmAAAACAAAAAEAAAAAAAAA"/>
              </a:ext>
            </a:extLst>
          </p:cNvSpPr>
          <p:nvPr>
            <p:ph idx="1"/>
          </p:nvPr>
        </p:nvSpPr>
        <p:spPr>
          <a:xfrm>
            <a:off x="838200" y="1825625"/>
            <a:ext cx="5181600" cy="4351655"/>
          </a:xfrm>
        </p:spPr>
        <p:txBody>
          <a:bodyPr/>
          <a:lstStyle/>
          <a:p>
            <a:pPr lvl="0">
              <a:defRPr lang="en-US"/>
            </a:pPr>
            <a:r>
              <a:rPr lang="en-US"/>
              <a:t>Click to edit Master text styles</a:t>
            </a:r>
          </a:p>
          <a:p>
            <a:pPr lvl="1">
              <a:defRPr lang="en-US"/>
            </a:pPr>
            <a:r>
              <a:rPr lang="en-US"/>
              <a:t>Second level</a:t>
            </a:r>
          </a:p>
          <a:p>
            <a:pPr lvl="2">
              <a:defRPr lang="en-US"/>
            </a:pPr>
            <a:r>
              <a:rPr lang="en-US"/>
              <a:t>Third level</a:t>
            </a:r>
          </a:p>
          <a:p>
            <a:pPr lvl="3">
              <a:defRPr lang="en-US"/>
            </a:pPr>
            <a:r>
              <a:rPr lang="en-US"/>
              <a:t>Fourth level</a:t>
            </a:r>
          </a:p>
          <a:p>
            <a:pPr lvl="4">
              <a:defRPr lang="en-US"/>
            </a:pPr>
            <a:r>
              <a:rPr lang="en-US"/>
              <a:t>Fifth level</a:t>
            </a:r>
            <a:endParaRPr/>
          </a:p>
        </p:txBody>
      </p:sp>
      <p:sp>
        <p:nvSpPr>
          <p:cNvPr id="4" name="Content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CUAADsLAADYRQAAACYAABAAAAAmAAAACAAAAAEAAAAAAAAA"/>
              </a:ext>
            </a:extLst>
          </p:cNvSpPr>
          <p:nvPr>
            <p:ph idx="2"/>
          </p:nvPr>
        </p:nvSpPr>
        <p:spPr>
          <a:xfrm>
            <a:off x="6172200" y="1825625"/>
            <a:ext cx="5181600" cy="4351655"/>
          </a:xfrm>
        </p:spPr>
        <p:txBody>
          <a:bodyPr/>
          <a:lstStyle/>
          <a:p>
            <a:pPr lvl="0">
              <a:defRPr lang="en-US"/>
            </a:pPr>
            <a:r>
              <a:rPr lang="en-US"/>
              <a:t>Click to edit Master text styles</a:t>
            </a:r>
          </a:p>
          <a:p>
            <a:pPr lvl="1">
              <a:defRPr lang="en-US"/>
            </a:pPr>
            <a:r>
              <a:rPr lang="en-US"/>
              <a:t>Second level</a:t>
            </a:r>
          </a:p>
          <a:p>
            <a:pPr lvl="2">
              <a:defRPr lang="en-US"/>
            </a:pPr>
            <a:r>
              <a:rPr lang="en-US"/>
              <a:t>Third level</a:t>
            </a:r>
          </a:p>
          <a:p>
            <a:pPr lvl="3">
              <a:defRPr lang="en-US"/>
            </a:pPr>
            <a:r>
              <a:rPr lang="en-US"/>
              <a:t>Fourth level</a:t>
            </a:r>
          </a:p>
          <a:p>
            <a:pPr lvl="4">
              <a:defRPr lang="en-US"/>
            </a:pPr>
            <a:r>
              <a:rPr lang="en-US"/>
              <a:t>Fifth level</a:t>
            </a:r>
            <a:endParaRPr/>
          </a:p>
        </p:txBody>
      </p:sp>
      <p:sp>
        <p:nvSpPr>
          <p:cNvPr id="5" name="Date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28C62D73-AFD1-4FC1-B182-F6B6F8B18BBA}" type="datetime1">
              <a:rPr lang="en-US" smtClean="0"/>
              <a:t>11/27/2025</a:t>
            </a:fld>
            <a:endParaRPr/>
          </a:p>
        </p:txBody>
      </p:sp>
      <p:sp>
        <p:nvSpPr>
          <p:cNvPr id="6" name="Foot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rPr lang="en-US"/>
              <a:t>V2V COMMUNICATION:ENHANCING SAFETY AND TRAFFIC FLOW</a:t>
            </a:r>
            <a:endParaRPr/>
          </a:p>
        </p:txBody>
      </p:sp>
      <p:sp>
        <p:nvSpPr>
          <p:cNvPr id="7" name="Slide Number 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3B5AE80D-43D6-0F1E-98E2-B54BA6AC6EE0}"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wUAAD8CAADbRQAAZwoAABAAAAAmAAAACAAAAAEAAAAAAAAA"/>
              </a:ext>
            </a:extLst>
          </p:cNvSpPr>
          <p:nvPr>
            <p:ph type="title"/>
          </p:nvPr>
        </p:nvSpPr>
        <p:spPr>
          <a:xfrm>
            <a:off x="840105" y="365125"/>
            <a:ext cx="10515600" cy="1325880"/>
          </a:xfrm>
        </p:spPr>
        <p:txBody>
          <a:bodyPr/>
          <a:lstStyle/>
          <a:p>
            <a:pPr>
              <a:defRPr lang="en-US"/>
            </a:pPr>
            <a:r>
              <a:rPr lang="en-US"/>
              <a:t>Click to edit Master title style</a:t>
            </a:r>
            <a:endParaRPr/>
          </a:p>
        </p:txBody>
      </p:sp>
      <p:sp>
        <p:nvSpPr>
          <p:cNvPr id="3" name="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wUAAFgKAADlJAAAaQ8AABAAAAAmAAAACAAAAIGAAAAAAAAA"/>
              </a:ext>
            </a:extLst>
          </p:cNvSpPr>
          <p:nvPr>
            <p:ph idx="1"/>
          </p:nvPr>
        </p:nvSpPr>
        <p:spPr>
          <a:xfrm>
            <a:off x="840105" y="1681480"/>
            <a:ext cx="5157470" cy="823595"/>
          </a:xfrm>
        </p:spPr>
        <p:txBody>
          <a:bodyPr vert="horz" wrap="square" lIns="91440" tIns="45720" rIns="91440" bIns="45720" numCol="1" spcCol="215900" anchor="b">
            <a:prstTxWarp prst="textNoShape">
              <a:avLst/>
            </a:prstTxWarp>
          </a:bodyPr>
          <a:lstStyle>
            <a:lvl1pPr marL="0" indent="0">
              <a:buNone/>
              <a:defRPr lang="en-US" sz="2400" b="1" cap="none"/>
            </a:lvl1pPr>
            <a:lvl2pPr marL="457200" indent="0">
              <a:buNone/>
              <a:defRPr lang="en-US" sz="2000" b="1" cap="none"/>
            </a:lvl2pPr>
            <a:lvl3pPr marL="914400" indent="0">
              <a:buNone/>
              <a:defRPr lang="en-US" sz="1800" b="1" cap="none"/>
            </a:lvl3pPr>
            <a:lvl4pPr marL="1371600" indent="0">
              <a:buNone/>
              <a:defRPr lang="en-US" sz="1600" b="1" cap="none"/>
            </a:lvl4pPr>
            <a:lvl5pPr marL="1828800" indent="0">
              <a:buNone/>
              <a:defRPr lang="en-US" sz="1600" b="1" cap="none"/>
            </a:lvl5pPr>
            <a:lvl6pPr marL="2286000" indent="0">
              <a:buNone/>
              <a:defRPr lang="en-US" sz="1600" b="1" cap="none"/>
            </a:lvl6pPr>
            <a:lvl7pPr marL="2743200" indent="0">
              <a:buNone/>
              <a:defRPr lang="en-US" sz="1600" b="1" cap="none"/>
            </a:lvl7pPr>
            <a:lvl8pPr marL="3200400" indent="0">
              <a:buNone/>
              <a:defRPr lang="en-US" sz="1600" b="1" cap="none"/>
            </a:lvl8pPr>
            <a:lvl9pPr marL="3657600" indent="0">
              <a:buNone/>
              <a:defRPr lang="en-US" sz="1600" b="1" cap="none"/>
            </a:lvl9pPr>
          </a:lstStyle>
          <a:p>
            <a:pPr lvl="0">
              <a:defRPr lang="en-US"/>
            </a:pPr>
            <a:r>
              <a:rPr lang="en-US"/>
              <a:t>Click to edit Master text styles</a:t>
            </a:r>
          </a:p>
        </p:txBody>
      </p:sp>
      <p:sp>
        <p:nvSpPr>
          <p:cNvPr id="4" name="Content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wUAAGkPAADlJAAAFCYAABAAAAAmAAAACAAAAAEAAAAAAAAA"/>
              </a:ext>
            </a:extLst>
          </p:cNvSpPr>
          <p:nvPr>
            <p:ph idx="2"/>
          </p:nvPr>
        </p:nvSpPr>
        <p:spPr>
          <a:xfrm>
            <a:off x="840105" y="2505075"/>
            <a:ext cx="5157470" cy="3684905"/>
          </a:xfrm>
        </p:spPr>
        <p:txBody>
          <a:bodyPr/>
          <a:lstStyle/>
          <a:p>
            <a:pPr lvl="0">
              <a:defRPr lang="en-US"/>
            </a:pPr>
            <a:r>
              <a:rPr lang="en-US"/>
              <a:t>Click to edit Master text styles</a:t>
            </a:r>
          </a:p>
          <a:p>
            <a:pPr lvl="1">
              <a:defRPr lang="en-US"/>
            </a:pPr>
            <a:r>
              <a:rPr lang="en-US"/>
              <a:t>Second level</a:t>
            </a:r>
          </a:p>
          <a:p>
            <a:pPr lvl="2">
              <a:defRPr lang="en-US"/>
            </a:pPr>
            <a:r>
              <a:rPr lang="en-US"/>
              <a:t>Third level</a:t>
            </a:r>
          </a:p>
          <a:p>
            <a:pPr lvl="3">
              <a:defRPr lang="en-US"/>
            </a:pPr>
            <a:r>
              <a:rPr lang="en-US"/>
              <a:t>Fourth level</a:t>
            </a:r>
          </a:p>
          <a:p>
            <a:pPr lvl="4">
              <a:defRPr lang="en-US"/>
            </a:pPr>
            <a:r>
              <a:rPr lang="en-US"/>
              <a:t>Fifth level</a:t>
            </a:r>
            <a:endParaRPr/>
          </a:p>
        </p:txBody>
      </p:sp>
      <p:sp>
        <p:nvSpPr>
          <p:cNvPr id="5" name="Text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CUAAFgKAADbRQAAaQ8AABAAAAAmAAAACAAAAIGAAAAAAAAA"/>
              </a:ext>
            </a:extLst>
          </p:cNvSpPr>
          <p:nvPr>
            <p:ph idx="3"/>
          </p:nvPr>
        </p:nvSpPr>
        <p:spPr>
          <a:xfrm>
            <a:off x="6172200" y="1681480"/>
            <a:ext cx="5183505" cy="823595"/>
          </a:xfrm>
        </p:spPr>
        <p:txBody>
          <a:bodyPr vert="horz" wrap="square" lIns="91440" tIns="45720" rIns="91440" bIns="45720" numCol="1" spcCol="215900" anchor="b">
            <a:prstTxWarp prst="textNoShape">
              <a:avLst/>
            </a:prstTxWarp>
          </a:bodyPr>
          <a:lstStyle>
            <a:lvl1pPr marL="0" indent="0">
              <a:buNone/>
              <a:defRPr lang="en-US" sz="2400" b="1" cap="none"/>
            </a:lvl1pPr>
            <a:lvl2pPr marL="457200" indent="0">
              <a:buNone/>
              <a:defRPr lang="en-US" sz="2000" b="1" cap="none"/>
            </a:lvl2pPr>
            <a:lvl3pPr marL="914400" indent="0">
              <a:buNone/>
              <a:defRPr lang="en-US" sz="1800" b="1" cap="none"/>
            </a:lvl3pPr>
            <a:lvl4pPr marL="1371600" indent="0">
              <a:buNone/>
              <a:defRPr lang="en-US" sz="1600" b="1" cap="none"/>
            </a:lvl4pPr>
            <a:lvl5pPr marL="1828800" indent="0">
              <a:buNone/>
              <a:defRPr lang="en-US" sz="1600" b="1" cap="none"/>
            </a:lvl5pPr>
            <a:lvl6pPr marL="2286000" indent="0">
              <a:buNone/>
              <a:defRPr lang="en-US" sz="1600" b="1" cap="none"/>
            </a:lvl6pPr>
            <a:lvl7pPr marL="2743200" indent="0">
              <a:buNone/>
              <a:defRPr lang="en-US" sz="1600" b="1" cap="none"/>
            </a:lvl7pPr>
            <a:lvl8pPr marL="3200400" indent="0">
              <a:buNone/>
              <a:defRPr lang="en-US" sz="1600" b="1" cap="none"/>
            </a:lvl8pPr>
            <a:lvl9pPr marL="3657600" indent="0">
              <a:buNone/>
              <a:defRPr lang="en-US" sz="1600" b="1" cap="none"/>
            </a:lvl9pPr>
          </a:lstStyle>
          <a:p>
            <a:pPr lvl="0">
              <a:defRPr lang="en-US"/>
            </a:pPr>
            <a:r>
              <a:rPr lang="en-US"/>
              <a:t>Click to edit Master text styles</a:t>
            </a:r>
          </a:p>
        </p:txBody>
      </p:sp>
      <p:sp>
        <p:nvSpPr>
          <p:cNvPr id="6" name="Content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I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CUAAGkPAADbRQAAFCYAABAAAAAmAAAACAAAAAEAAAAAAAAA"/>
              </a:ext>
            </a:extLst>
          </p:cNvSpPr>
          <p:nvPr>
            <p:ph idx="4"/>
          </p:nvPr>
        </p:nvSpPr>
        <p:spPr>
          <a:xfrm>
            <a:off x="6172200" y="2505075"/>
            <a:ext cx="5183505" cy="3684905"/>
          </a:xfrm>
        </p:spPr>
        <p:txBody>
          <a:bodyPr/>
          <a:lstStyle/>
          <a:p>
            <a:pPr lvl="0">
              <a:defRPr lang="en-US"/>
            </a:pPr>
            <a:r>
              <a:rPr lang="en-US"/>
              <a:t>Click to edit Master text styles</a:t>
            </a:r>
          </a:p>
          <a:p>
            <a:pPr lvl="1">
              <a:defRPr lang="en-US"/>
            </a:pPr>
            <a:r>
              <a:rPr lang="en-US"/>
              <a:t>Second level</a:t>
            </a:r>
          </a:p>
          <a:p>
            <a:pPr lvl="2">
              <a:defRPr lang="en-US"/>
            </a:pPr>
            <a:r>
              <a:rPr lang="en-US"/>
              <a:t>Third level</a:t>
            </a:r>
          </a:p>
          <a:p>
            <a:pPr lvl="3">
              <a:defRPr lang="en-US"/>
            </a:pPr>
            <a:r>
              <a:rPr lang="en-US"/>
              <a:t>Fourth level</a:t>
            </a:r>
          </a:p>
          <a:p>
            <a:pPr lvl="4">
              <a:defRPr lang="en-US"/>
            </a:pPr>
            <a:r>
              <a:rPr lang="en-US"/>
              <a:t>Fifth level</a:t>
            </a:r>
            <a:endParaRPr/>
          </a:p>
        </p:txBody>
      </p:sp>
      <p:sp>
        <p:nvSpPr>
          <p:cNvPr id="7" name="Date 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IiR6A4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716AF442-D78F-4304-87AF-793E7110F6A3}" type="datetime1">
              <a:rPr lang="en-US" smtClean="0"/>
              <a:t>11/27/2025</a:t>
            </a:fld>
            <a:endParaRPr/>
          </a:p>
        </p:txBody>
      </p:sp>
      <p:sp>
        <p:nvSpPr>
          <p:cNvPr id="8" name="Footer Placeholder 7"/>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ODQ5g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rPr lang="en-US"/>
              <a:t>V2V COMMUNICATION:ENHANCING SAFETY AND TRAFFIC FLOW</a:t>
            </a:r>
            <a:endParaRPr/>
          </a:p>
        </p:txBody>
      </p:sp>
      <p:sp>
        <p:nvSpPr>
          <p:cNvPr id="9" name="Slide Number Placeholder 8"/>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Pzv5Q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3B5AAD9B-D5D6-0F5B-98E2-230EE3AC6E76}"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DA0iw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YRQAAZwoAABAAAAAmAAAACAAAAAAAAAAAAAAA"/>
              </a:ext>
            </a:extLst>
          </p:cNvSpPr>
          <p:nvPr>
            <p:ph type="title"/>
          </p:nvPr>
        </p:nvSpPr>
        <p:spPr/>
        <p:txBody>
          <a:bodyPr/>
          <a:lstStyle/>
          <a:p>
            <a:pPr>
              <a:defRPr lang="en-US"/>
            </a:pPr>
            <a:r>
              <a:rPr lang="en-US"/>
              <a:t>Click to edit Master title style</a:t>
            </a:r>
            <a:endParaRPr/>
          </a:p>
        </p:txBody>
      </p:sp>
      <p:sp>
        <p:nvSpPr>
          <p:cNvPr id="3" name="Date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vEBw0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344930A5-D599-4204-A7DA-A63C42A5CAB5}" type="datetime1">
              <a:rPr lang="en-US" smtClean="0"/>
              <a:t>11/27/2025</a:t>
            </a:fld>
            <a:endParaRPr/>
          </a:p>
        </p:txBody>
      </p:sp>
      <p:sp>
        <p:nvSpPr>
          <p:cNvPr id="4" name="Foot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JgG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rPr lang="en-US"/>
              <a:t>V2V COMMUNICATION:ENHANCING SAFETY AND TRAFFIC FLOW</a:t>
            </a:r>
            <a:endParaRPr/>
          </a:p>
        </p:txBody>
      </p:sp>
      <p:sp>
        <p:nvSpPr>
          <p:cNvPr id="5" name="Slide Numb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3B5AC08D-C3D6-0F36-98E2-35638EAC6E60}"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CAF97691-985A-417B-BA57-27CEFCCFD231}" type="datetime1">
              <a:rPr lang="en-US" smtClean="0"/>
              <a:t>11/27/2025</a:t>
            </a:fld>
            <a:endParaRPr/>
          </a:p>
        </p:txBody>
      </p:sp>
      <p:sp>
        <p:nvSpPr>
          <p:cNvPr id="3" name="Footer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rPr lang="en-US"/>
              <a:t>V2V COMMUNICATION:ENHANCING SAFETY AND TRAFFIC FLOW</a:t>
            </a:r>
            <a:endParaRPr/>
          </a:p>
        </p:txBody>
      </p:sp>
      <p:sp>
        <p:nvSpPr>
          <p:cNvPr id="4" name="Slide Number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3B5A8AA3-EDD6-0F7C-98E2-1B29C4AC6E4E}"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wUAANACAABbHQAAqAwAABAAAAAmAAAACAAAAIGAAAAAAAAA"/>
              </a:ext>
            </a:extLst>
          </p:cNvSpPr>
          <p:nvPr>
            <p:ph type="title"/>
          </p:nvPr>
        </p:nvSpPr>
        <p:spPr>
          <a:xfrm>
            <a:off x="840105" y="457200"/>
            <a:ext cx="3931920" cy="1600200"/>
          </a:xfrm>
        </p:spPr>
        <p:txBody>
          <a:bodyPr vert="horz" wrap="square" lIns="91440" tIns="45720" rIns="91440" bIns="45720" numCol="1" spcCol="215900" anchor="b">
            <a:prstTxWarp prst="textNoShape">
              <a:avLst/>
            </a:prstTxWarp>
          </a:bodyPr>
          <a:lstStyle>
            <a:lvl1pPr>
              <a:defRPr lang="en-US" sz="3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rPr lang="en-US"/>
              <a:t>Click to edit Master title style</a:t>
            </a:r>
            <a:endParaRPr/>
          </a:p>
        </p:txBody>
      </p:sp>
      <p:sp>
        <p:nvSpPr>
          <p:cNvPr id="3"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4x8AABMGAADbRQAADiQAABAAAAAmAAAACAAAAAGAAAAAAAAA"/>
              </a:ext>
            </a:extLst>
          </p:cNvSpPr>
          <p:nvPr>
            <p:ph idx="1"/>
          </p:nvPr>
        </p:nvSpPr>
        <p:spPr>
          <a:xfrm>
            <a:off x="5183505" y="987425"/>
            <a:ext cx="6172200" cy="4873625"/>
          </a:xfrm>
        </p:spPr>
        <p:txBody>
          <a:bodyPr/>
          <a:lstStyle>
            <a:lvl1pPr>
              <a:defRPr lang="en-US" sz="3200" cap="none"/>
            </a:lvl1pPr>
            <a:lvl2pPr>
              <a:defRPr lang="en-US" sz="2800" cap="none"/>
            </a:lvl2pPr>
            <a:lvl3pPr>
              <a:defRPr lang="en-US" sz="2400" cap="none"/>
            </a:lvl3pPr>
            <a:lvl4pPr>
              <a:defRPr lang="en-US" sz="2000" cap="none"/>
            </a:lvl4pPr>
            <a:lvl5pPr>
              <a:defRPr lang="en-US" sz="2000" cap="none"/>
            </a:lvl5pPr>
            <a:lvl6pPr>
              <a:defRPr lang="en-US" sz="2000" cap="none"/>
            </a:lvl6pPr>
            <a:lvl7pPr>
              <a:defRPr lang="en-US" sz="2000" cap="none"/>
            </a:lvl7pPr>
            <a:lvl8pPr>
              <a:defRPr lang="en-US" sz="2000" cap="none"/>
            </a:lvl8pPr>
            <a:lvl9pPr>
              <a:defRPr lang="en-US" sz="2000" cap="none"/>
            </a:lvl9pPr>
          </a:lstStyle>
          <a:p>
            <a:pPr lvl="0">
              <a:defRPr lang="en-US"/>
            </a:pPr>
            <a:r>
              <a:rPr lang="en-US"/>
              <a:t>Click to edit Master text styles</a:t>
            </a:r>
          </a:p>
          <a:p>
            <a:pPr lvl="1">
              <a:defRPr lang="en-US"/>
            </a:pPr>
            <a:r>
              <a:rPr lang="en-US"/>
              <a:t>Second level</a:t>
            </a:r>
          </a:p>
          <a:p>
            <a:pPr lvl="2">
              <a:defRPr lang="en-US"/>
            </a:pPr>
            <a:r>
              <a:rPr lang="en-US"/>
              <a:t>Third level</a:t>
            </a:r>
          </a:p>
          <a:p>
            <a:pPr lvl="3">
              <a:defRPr lang="en-US"/>
            </a:pPr>
            <a:r>
              <a:rPr lang="en-US"/>
              <a:t>Fourth level</a:t>
            </a:r>
          </a:p>
          <a:p>
            <a:pPr lvl="4">
              <a:defRPr lang="en-US"/>
            </a:pPr>
            <a:r>
              <a:rPr lang="en-US"/>
              <a:t>Fifth level</a:t>
            </a:r>
            <a:endParaRPr/>
          </a:p>
        </p:txBody>
      </p:sp>
      <p:sp>
        <p:nvSpPr>
          <p:cNvPr id="4" name="Text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wUAAKgMAABbHQAAGyQAABAAAAAmAAAACAAAAAGAAAAAAAAA"/>
              </a:ext>
            </a:extLst>
          </p:cNvSpPr>
          <p:nvPr>
            <p:ph idx="2"/>
          </p:nvPr>
        </p:nvSpPr>
        <p:spPr>
          <a:xfrm>
            <a:off x="840105" y="2057400"/>
            <a:ext cx="3931920" cy="3811905"/>
          </a:xfrm>
        </p:spPr>
        <p:txBody>
          <a:bodyPr/>
          <a:lstStyle>
            <a:lvl1pPr marL="0" indent="0">
              <a:buNone/>
              <a:defRPr lang="en-US" sz="1600" cap="none"/>
            </a:lvl1pPr>
            <a:lvl2pPr marL="457200" indent="0">
              <a:buNone/>
              <a:defRPr lang="en-US" sz="1400" cap="none"/>
            </a:lvl2pPr>
            <a:lvl3pPr marL="914400" indent="0">
              <a:buNone/>
              <a:defRPr lang="en-US" sz="1200" cap="none"/>
            </a:lvl3pPr>
            <a:lvl4pPr marL="1371600" indent="0">
              <a:buNone/>
              <a:defRPr lang="en-US" sz="1000" cap="none"/>
            </a:lvl4pPr>
            <a:lvl5pPr marL="1828800" indent="0">
              <a:buNone/>
              <a:defRPr lang="en-US" sz="1000" cap="none"/>
            </a:lvl5pPr>
            <a:lvl6pPr marL="2286000" indent="0">
              <a:buNone/>
              <a:defRPr lang="en-US" sz="1000" cap="none"/>
            </a:lvl6pPr>
            <a:lvl7pPr marL="2743200" indent="0">
              <a:buNone/>
              <a:defRPr lang="en-US" sz="1000" cap="none"/>
            </a:lvl7pPr>
            <a:lvl8pPr marL="3200400" indent="0">
              <a:buNone/>
              <a:defRPr lang="en-US" sz="1000" cap="none"/>
            </a:lvl8pPr>
            <a:lvl9pPr marL="3657600" indent="0">
              <a:buNone/>
              <a:defRPr lang="en-US" sz="1000" cap="none"/>
            </a:lvl9pPr>
          </a:lstStyle>
          <a:p>
            <a:pPr lvl="0">
              <a:defRPr lang="en-US"/>
            </a:pPr>
            <a:r>
              <a:rPr lang="en-US"/>
              <a:t>Click to edit Master text styles</a:t>
            </a:r>
          </a:p>
        </p:txBody>
      </p:sp>
      <p:sp>
        <p:nvSpPr>
          <p:cNvPr id="5" name="Date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6E62D12E-90FC-447E-9A59-A965C5F919A7}" type="datetime1">
              <a:rPr lang="en-US" smtClean="0"/>
              <a:t>11/27/2025</a:t>
            </a:fld>
            <a:endParaRPr/>
          </a:p>
        </p:txBody>
      </p:sp>
      <p:sp>
        <p:nvSpPr>
          <p:cNvPr id="6" name="Foot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rPr lang="en-US"/>
              <a:t>V2V COMMUNICATION:ENHANCING SAFETY AND TRAFFIC FLOW</a:t>
            </a:r>
            <a:endParaRPr/>
          </a:p>
        </p:txBody>
      </p:sp>
      <p:sp>
        <p:nvSpPr>
          <p:cNvPr id="7" name="Slide Number 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3B5AEBB7-F9D6-0F1D-98E2-0F48A5AC6E5A}"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C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wUAANACAABbHQAAqAwAABAAAAAmAAAACAAAAIGAAAAAAAAA"/>
              </a:ext>
            </a:extLst>
          </p:cNvSpPr>
          <p:nvPr>
            <p:ph type="title"/>
          </p:nvPr>
        </p:nvSpPr>
        <p:spPr>
          <a:xfrm>
            <a:off x="840105" y="457200"/>
            <a:ext cx="3931920" cy="1600200"/>
          </a:xfrm>
        </p:spPr>
        <p:txBody>
          <a:bodyPr vert="horz" wrap="square" lIns="91440" tIns="45720" rIns="91440" bIns="45720" numCol="1" spcCol="215900" anchor="b">
            <a:prstTxWarp prst="textNoShape">
              <a:avLst/>
            </a:prstTxWarp>
          </a:bodyPr>
          <a:lstStyle>
            <a:lvl1pPr>
              <a:defRPr lang="en-US" sz="3200" cap="none"/>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rPr lang="en-US"/>
              <a:t>Click to edit Master title style</a:t>
            </a:r>
            <a:endParaRPr/>
          </a:p>
        </p:txBody>
      </p:sp>
      <p:sp>
        <p:nvSpPr>
          <p:cNvPr id="3" name="Picture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4x8AABMGAADbRQAADiQAABAAAAAmAAAACAAAAAGAAAAAAAAA"/>
              </a:ext>
            </a:extLst>
          </p:cNvSpPr>
          <p:nvPr>
            <p:ph type="pic" idx="1"/>
          </p:nvPr>
        </p:nvSpPr>
        <p:spPr>
          <a:xfrm>
            <a:off x="5183505" y="987425"/>
            <a:ext cx="6172200" cy="4873625"/>
          </a:xfrm>
        </p:spPr>
        <p:txBody>
          <a:bodyPr/>
          <a:lstStyle>
            <a:lvl1pPr marL="0" indent="0">
              <a:buNone/>
              <a:defRPr lang="en-US" sz="3200" cap="none"/>
            </a:lvl1pPr>
            <a:lvl2pPr marL="457200" indent="0">
              <a:buNone/>
              <a:defRPr lang="en-US" sz="2800" cap="none"/>
            </a:lvl2pPr>
            <a:lvl3pPr marL="914400" indent="0">
              <a:buNone/>
              <a:defRPr lang="en-US" sz="2400" cap="none"/>
            </a:lvl3pPr>
            <a:lvl4pPr marL="1371600" indent="0">
              <a:buNone/>
              <a:defRPr lang="en-US" sz="2000" cap="none"/>
            </a:lvl4pPr>
            <a:lvl5pPr marL="1828800" indent="0">
              <a:buNone/>
              <a:defRPr lang="en-US" sz="2000" cap="none"/>
            </a:lvl5pPr>
            <a:lvl6pPr marL="2286000" indent="0">
              <a:buNone/>
              <a:defRPr lang="en-US" sz="2000" cap="none"/>
            </a:lvl6pPr>
            <a:lvl7pPr marL="2743200" indent="0">
              <a:buNone/>
              <a:defRPr lang="en-US" sz="2000" cap="none"/>
            </a:lvl7pPr>
            <a:lvl8pPr marL="3200400" indent="0">
              <a:buNone/>
              <a:defRPr lang="en-US" sz="2000" cap="none"/>
            </a:lvl8pPr>
            <a:lvl9pPr marL="3657600" indent="0">
              <a:buNone/>
              <a:defRPr lang="en-US" sz="2000" cap="none"/>
            </a:lvl9pPr>
          </a:lstStyle>
          <a:p>
            <a:pPr>
              <a:defRPr lang="en-US"/>
            </a:pPr>
            <a:r>
              <a:rPr lang="en-US"/>
              <a:t>Click icon to add picture</a:t>
            </a:r>
            <a:endParaRPr/>
          </a:p>
        </p:txBody>
      </p:sp>
      <p:sp>
        <p:nvSpPr>
          <p:cNvPr id="4" name="Text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wUAAKgMAABbHQAAGyQAABAAAAAmAAAACAAAAAGAAAAAAAAA"/>
              </a:ext>
            </a:extLst>
          </p:cNvSpPr>
          <p:nvPr>
            <p:ph idx="2"/>
          </p:nvPr>
        </p:nvSpPr>
        <p:spPr>
          <a:xfrm>
            <a:off x="840105" y="2057400"/>
            <a:ext cx="3931920" cy="3811905"/>
          </a:xfrm>
        </p:spPr>
        <p:txBody>
          <a:bodyPr/>
          <a:lstStyle>
            <a:lvl1pPr marL="0" indent="0">
              <a:buNone/>
              <a:defRPr lang="en-US" sz="1600" cap="none"/>
            </a:lvl1pPr>
            <a:lvl2pPr marL="457200" indent="0">
              <a:buNone/>
              <a:defRPr lang="en-US" sz="1400" cap="none"/>
            </a:lvl2pPr>
            <a:lvl3pPr marL="914400" indent="0">
              <a:buNone/>
              <a:defRPr lang="en-US" sz="1200" cap="none"/>
            </a:lvl3pPr>
            <a:lvl4pPr marL="1371600" indent="0">
              <a:buNone/>
              <a:defRPr lang="en-US" sz="1000" cap="none"/>
            </a:lvl4pPr>
            <a:lvl5pPr marL="1828800" indent="0">
              <a:buNone/>
              <a:defRPr lang="en-US" sz="1000" cap="none"/>
            </a:lvl5pPr>
            <a:lvl6pPr marL="2286000" indent="0">
              <a:buNone/>
              <a:defRPr lang="en-US" sz="1000" cap="none"/>
            </a:lvl6pPr>
            <a:lvl7pPr marL="2743200" indent="0">
              <a:buNone/>
              <a:defRPr lang="en-US" sz="1000" cap="none"/>
            </a:lvl7pPr>
            <a:lvl8pPr marL="3200400" indent="0">
              <a:buNone/>
              <a:defRPr lang="en-US" sz="1000" cap="none"/>
            </a:lvl8pPr>
            <a:lvl9pPr marL="3657600" indent="0">
              <a:buNone/>
              <a:defRPr lang="en-US" sz="1000" cap="none"/>
            </a:lvl9pPr>
          </a:lstStyle>
          <a:p>
            <a:pPr lvl="0">
              <a:defRPr lang="en-US"/>
            </a:pPr>
            <a:r>
              <a:rPr lang="en-US"/>
              <a:t>Click to edit Master text styles</a:t>
            </a:r>
          </a:p>
        </p:txBody>
      </p:sp>
      <p:sp>
        <p:nvSpPr>
          <p:cNvPr id="5" name="Date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F730A83B-EEFF-491F-A02F-8D799C6B97BA}" type="datetime1">
              <a:rPr lang="en-US" smtClean="0"/>
              <a:t>11/27/2025</a:t>
            </a:fld>
            <a:endParaRPr/>
          </a:p>
        </p:txBody>
      </p:sp>
      <p:sp>
        <p:nvSpPr>
          <p:cNvPr id="6" name="Foot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rPr lang="en-US"/>
              <a:t>V2V COMMUNICATION:ENHANCING SAFETY AND TRAFFIC FLOW</a:t>
            </a:r>
            <a:endParaRPr/>
          </a:p>
        </p:txBody>
      </p:sp>
      <p:sp>
        <p:nvSpPr>
          <p:cNvPr id="7" name="Slide Number Placeholder 6"/>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3B5ABB65-2BD6-0F4D-98E2-DD18F5AC6E88}"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YRQAAZwoAABAAAAAmAAAACAAAAAAAAAAAAAAA"/>
              </a:ext>
            </a:extLst>
          </p:cNvSpPr>
          <p:nvPr>
            <p:ph type="title"/>
          </p:nvPr>
        </p:nvSpPr>
        <p:spPr/>
        <p:txBody>
          <a:bodyPr/>
          <a:lstStyle/>
          <a:p>
            <a:pPr>
              <a:defRPr lang="en-US"/>
            </a:pPr>
            <a:r>
              <a:rPr lang="en-US"/>
              <a:t>Click to edit Master title style</a:t>
            </a:r>
            <a:endParaRPr/>
          </a:p>
        </p:txBody>
      </p:sp>
      <p:sp>
        <p:nvSpPr>
          <p:cNvPr id="3" name="Vertical 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Q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YRQAAACYAABAAAAAmAAAACAAAAAIAAAAAAAAA"/>
              </a:ext>
            </a:extLst>
          </p:cNvSpPr>
          <p:nvPr>
            <p:ph idx="1"/>
          </p:nvPr>
        </p:nvSpPr>
        <p:spPr/>
        <p:txBody>
          <a:bodyPr vert="vert" wrap="square" lIns="91440" tIns="45720" rIns="91440" bIns="45720" numCol="1" spcCol="215900" anchor="t">
            <a:prstTxWarp prst="textNoShape">
              <a:avLst/>
            </a:prstTxWarp>
          </a:bodyPr>
          <a:lstStyle/>
          <a:p>
            <a:pPr lvl="0">
              <a:defRPr lang="en-US"/>
            </a:pPr>
            <a:r>
              <a:rPr lang="en-US"/>
              <a:t>Click to edit Master text styles</a:t>
            </a:r>
          </a:p>
          <a:p>
            <a:pPr lvl="1">
              <a:defRPr lang="en-US"/>
            </a:pPr>
            <a:r>
              <a:rPr lang="en-US"/>
              <a:t>Second level</a:t>
            </a:r>
          </a:p>
          <a:p>
            <a:pPr lvl="2">
              <a:defRPr lang="en-US"/>
            </a:pPr>
            <a:r>
              <a:rPr lang="en-US"/>
              <a:t>Third level</a:t>
            </a:r>
          </a:p>
          <a:p>
            <a:pPr lvl="3">
              <a:defRPr lang="en-US"/>
            </a:pPr>
            <a:r>
              <a:rPr lang="en-US"/>
              <a:t>Fourth level</a:t>
            </a:r>
          </a:p>
          <a:p>
            <a:pPr lvl="4">
              <a:defRPr lang="en-US"/>
            </a:pPr>
            <a:r>
              <a:rPr lang="en-US"/>
              <a:t>Fifth level</a:t>
            </a:r>
            <a:endParaRP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5C5253E5-0A6F-470B-B28C-02151C54F59A}" type="datetime1">
              <a:rPr lang="en-US" smtClean="0"/>
              <a:t>11/27/2025</a:t>
            </a:fld>
            <a:endParaRPr/>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rPr lang="en-US"/>
              <a:t>V2V COMMUNICATION:ENHANCING SAFETY AND TRAFFIC FLOW</a:t>
            </a:r>
            <a:endParaRPr/>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3B5AC0A6-E8D6-0F36-98E2-1E638EAC6E4B}"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Q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rDUAAD8CAADYRQAAACYAABAAAAAmAAAACAAAAAMAAAAAAAAA"/>
              </a:ext>
            </a:extLst>
          </p:cNvSpPr>
          <p:nvPr>
            <p:ph type="title"/>
          </p:nvPr>
        </p:nvSpPr>
        <p:spPr>
          <a:xfrm>
            <a:off x="8724900" y="365125"/>
            <a:ext cx="2628900" cy="5812155"/>
          </a:xfrm>
        </p:spPr>
        <p:txBody>
          <a:bodyPr vert="vert" wrap="square" lIns="91440" tIns="45720" rIns="91440" bIns="45720" numCol="1" spcCol="215900" anchor="ctr">
            <a:prstTxWarp prst="textNoShape">
              <a:avLst/>
            </a:prstTxWarp>
          </a:bodyPr>
          <a:lstStyle/>
          <a:p>
            <a:pPr>
              <a:defRPr lang="en-US"/>
            </a:pPr>
            <a:r>
              <a:rPr lang="en-US"/>
              <a:t>Click to edit Master title style</a:t>
            </a:r>
            <a:endParaRPr/>
          </a:p>
        </p:txBody>
      </p:sp>
      <p:sp>
        <p:nvSpPr>
          <p:cNvPr id="3" name="Vertical 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Q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C8NAAAACYAABAAAAAmAAAACAAAAAMAAAAAAAAA"/>
              </a:ext>
            </a:extLst>
          </p:cNvSpPr>
          <p:nvPr>
            <p:ph idx="1"/>
          </p:nvPr>
        </p:nvSpPr>
        <p:spPr>
          <a:xfrm>
            <a:off x="838200" y="365125"/>
            <a:ext cx="7734300" cy="5812155"/>
          </a:xfrm>
        </p:spPr>
        <p:txBody>
          <a:bodyPr vert="vert" wrap="square" lIns="91440" tIns="45720" rIns="91440" bIns="45720" numCol="1" spcCol="215900" anchor="t">
            <a:prstTxWarp prst="textNoShape">
              <a:avLst/>
            </a:prstTxWarp>
          </a:bodyPr>
          <a:lstStyle/>
          <a:p>
            <a:pPr lvl="0">
              <a:defRPr lang="en-US"/>
            </a:pPr>
            <a:r>
              <a:rPr lang="en-US"/>
              <a:t>Click to edit Master text styles</a:t>
            </a:r>
          </a:p>
          <a:p>
            <a:pPr lvl="1">
              <a:defRPr lang="en-US"/>
            </a:pPr>
            <a:r>
              <a:rPr lang="en-US"/>
              <a:t>Second level</a:t>
            </a:r>
          </a:p>
          <a:p>
            <a:pPr lvl="2">
              <a:defRPr lang="en-US"/>
            </a:pPr>
            <a:r>
              <a:rPr lang="en-US"/>
              <a:t>Third level</a:t>
            </a:r>
          </a:p>
          <a:p>
            <a:pPr lvl="3">
              <a:defRPr lang="en-US"/>
            </a:pPr>
            <a:r>
              <a:rPr lang="en-US"/>
              <a:t>Fourth level</a:t>
            </a:r>
          </a:p>
          <a:p>
            <a:pPr lvl="4">
              <a:defRPr lang="en-US"/>
            </a:pPr>
            <a:r>
              <a:rPr lang="en-US"/>
              <a:t>Fifth level</a:t>
            </a:r>
            <a:endParaRP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AE937746-A5BA-4050-93C7-6ED1DCC07CA0}" type="datetime1">
              <a:rPr lang="en-US" smtClean="0"/>
              <a:t>11/27/2025</a:t>
            </a:fld>
            <a:endParaRPr/>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rPr lang="en-US"/>
              <a:t>V2V COMMUNICATION:ENHANCING SAFETY AND TRAFFIC FLOW</a:t>
            </a:r>
            <a:endParaRPr/>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3B5AAC9B-D5D6-0F5A-98E2-230FE2AC6E76}" type="slidenum">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8CAADYRQAAZwoAABAAAAAmAAAACAAAAAAAAAAAAAAA"/>
              </a:ext>
            </a:extLst>
          </p:cNvSpPr>
          <p:nvPr>
            <p:ph type="title"/>
          </p:nvPr>
        </p:nvSpPr>
        <p:spPr/>
        <p:txBody>
          <a:bodyPr/>
          <a:lstStyle/>
          <a:p>
            <a:pPr>
              <a:defRPr lang="en-US"/>
            </a:pPr>
            <a:r>
              <a:rPr lang="en-US"/>
              <a:t>Click to edit Master title style</a:t>
            </a:r>
            <a:endParaRPr/>
          </a:p>
        </p:txBody>
      </p:sp>
      <p:sp>
        <p:nvSpPr>
          <p:cNvPr id="3" name="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DsLAADYRQAAACYAABAAAAAmAAAACAAAAAAAAAAAAAAA"/>
              </a:ext>
            </a:extLst>
          </p:cNvSpPr>
          <p:nvPr>
            <p:ph idx="1"/>
          </p:nvPr>
        </p:nvSpPr>
        <p:spPr/>
        <p:txBody>
          <a:bodyPr/>
          <a:lstStyle/>
          <a:p>
            <a:pPr lvl="0">
              <a:defRPr lang="en-US"/>
            </a:pPr>
            <a:r>
              <a:rPr lang="en-US"/>
              <a:t>Click to edit Master text styles</a:t>
            </a:r>
          </a:p>
          <a:p>
            <a:pPr lvl="1">
              <a:defRPr lang="en-US"/>
            </a:pPr>
            <a:r>
              <a:rPr lang="en-US"/>
              <a:t>Second level</a:t>
            </a:r>
          </a:p>
          <a:p>
            <a:pPr lvl="2">
              <a:defRPr lang="en-US"/>
            </a:pPr>
            <a:r>
              <a:rPr lang="en-US"/>
              <a:t>Third level</a:t>
            </a:r>
          </a:p>
          <a:p>
            <a:pPr lvl="3">
              <a:defRPr lang="en-US"/>
            </a:pPr>
            <a:r>
              <a:rPr lang="en-US"/>
              <a:t>Fourth level</a:t>
            </a:r>
          </a:p>
          <a:p>
            <a:pPr lvl="4">
              <a:defRPr lang="en-US"/>
            </a:pPr>
            <a:r>
              <a:rPr lang="en-US"/>
              <a:t>Fifth level</a:t>
            </a:r>
            <a:endParaRP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KAUAABonAAAIFgAAWSkAABAAAAAmAAAACAAAAAAAAAAAAAAA"/>
              </a:ext>
            </a:extLst>
          </p:cNvSpPr>
          <p:nvPr>
            <p:ph type="dt" sz="half" idx="10"/>
          </p:nvPr>
        </p:nvSpPr>
        <p:spPr/>
        <p:txBody>
          <a:bodyPr/>
          <a:lstStyle/>
          <a:p>
            <a:pPr>
              <a:defRPr lang="en-US"/>
            </a:pPr>
            <a:fld id="{6AA88FCF-B0EC-4A9B-B5CD-2A60E16E8F38}" type="datetime1">
              <a:rPr lang="en-US" smtClean="0"/>
              <a:t>11/27/2025</a:t>
            </a:fld>
            <a:endParaRPr/>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2BgAABonAAAoMgAAWSkAABAAAAAmAAAACAAAAAAAAAAAAAAA"/>
              </a:ext>
            </a:extLst>
          </p:cNvSpPr>
          <p:nvPr>
            <p:ph type="ftr" sz="quarter" idx="11"/>
          </p:nvPr>
        </p:nvSpPr>
        <p:spPr/>
        <p:txBody>
          <a:bodyPr/>
          <a:lstStyle/>
          <a:p>
            <a:pPr>
              <a:defRPr lang="en-US"/>
            </a:pPr>
            <a:r>
              <a:rPr lang="en-US"/>
              <a:t>V2V COMMUNICATION:ENHANCING SAFETY AND TRAFFIC FLOW</a:t>
            </a:r>
            <a:endParaRPr/>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W5vV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BQAAAAEAAAAAAAAAAAAAAAAAAAAAAAAAAAAAAAAAAAAAAAAAAAAAAAJ/f38AAAAAA8zMzADAwP8Af39/AAAAAAAAAAAAAAAAAAAAAAAAAAAAIQAAABgAAAAUAAAA+DQAABonAADYRQAAWSkAABAAAAAmAAAACAAAAAAAAAAAAAAA"/>
              </a:ext>
            </a:extLst>
          </p:cNvSpPr>
          <p:nvPr>
            <p:ph type="sldNum" sz="quarter" idx="12"/>
          </p:nvPr>
        </p:nvSpPr>
        <p:spPr/>
        <p:txBody>
          <a:bodyPr/>
          <a:lstStyle/>
          <a:p>
            <a:pPr>
              <a:defRPr lang="en-US"/>
            </a:pPr>
            <a:fld id="{3B5AE453-1DD6-0F12-98E2-EB47AAAC6EBE}"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8CAADYRQAAZwoAABAAAAAmAAAACAAAAL8vAAAAAAAA"/>
              </a:ext>
            </a:extLst>
          </p:cNvSpPr>
          <p:nvPr>
            <p:ph type="title"/>
          </p:nvPr>
        </p:nvSpPr>
        <p:spPr>
          <a:xfrm>
            <a:off x="838200" y="365125"/>
            <a:ext cx="10515600" cy="1325880"/>
          </a:xfrm>
          <a:prstGeom prst="rect">
            <a:avLst/>
          </a:prstGeom>
        </p:spPr>
        <p:txBody>
          <a:bodyPr vert="horz" wrap="square" lIns="91440" tIns="45720" rIns="91440" bIns="45720" numCol="1" spcCol="215900" anchor="ctr">
            <a:prstTxWarp prst="textNoShape">
              <a:avLst/>
            </a:prstTxWarp>
          </a:bodyPr>
          <a:lstStyle/>
          <a:p>
            <a:pPr>
              <a:defRPr lang="en-US"/>
            </a:pPr>
            <a:r>
              <a:rPr lang="en-US"/>
              <a:t>Click to edit Master title style</a:t>
            </a:r>
            <a:endParaRPr/>
          </a:p>
        </p:txBody>
      </p:sp>
      <p:sp>
        <p:nvSpPr>
          <p:cNvPr id="3" name="Tex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HJhbXM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DsLAADYRQAAACYAABAAAAAmAAAACAAAAD8vAAAAAAAA"/>
              </a:ext>
            </a:extLst>
          </p:cNvSpPr>
          <p:nvPr>
            <p:ph type="body" idx="1"/>
          </p:nvPr>
        </p:nvSpPr>
        <p:spPr>
          <a:xfrm>
            <a:off x="838200" y="1825625"/>
            <a:ext cx="10515600" cy="4351655"/>
          </a:xfrm>
          <a:prstGeom prst="rect">
            <a:avLst/>
          </a:prstGeom>
        </p:spPr>
        <p:txBody>
          <a:bodyPr vert="horz" wrap="square" lIns="91440" tIns="45720" rIns="91440" bIns="45720" numCol="1" spcCol="215900" anchor="t">
            <a:prstTxWarp prst="textNoShape">
              <a:avLst/>
            </a:prstTxWarp>
          </a:bodyPr>
          <a:lstStyle/>
          <a:p>
            <a:pPr lvl="0">
              <a:defRPr lang="en-US"/>
            </a:pPr>
            <a:r>
              <a:rPr lang="en-US"/>
              <a:t>Click to edit Master text styles</a:t>
            </a:r>
          </a:p>
          <a:p>
            <a:pPr lvl="1">
              <a:defRPr lang="en-US"/>
            </a:pPr>
            <a:r>
              <a:rPr lang="en-US"/>
              <a:t>Second level</a:t>
            </a:r>
          </a:p>
          <a:p>
            <a:pPr lvl="2">
              <a:defRPr lang="en-US"/>
            </a:pPr>
            <a:r>
              <a:rPr lang="en-US"/>
              <a:t>Third level</a:t>
            </a:r>
          </a:p>
          <a:p>
            <a:pPr lvl="3">
              <a:defRPr lang="en-US"/>
            </a:pPr>
            <a:r>
              <a:rPr lang="en-US"/>
              <a:t>Fourth level</a:t>
            </a:r>
          </a:p>
          <a:p>
            <a:pPr lvl="4">
              <a:defRPr lang="en-US"/>
            </a:pPr>
            <a:r>
              <a:rPr lang="en-US"/>
              <a:t>Fifth level</a:t>
            </a:r>
            <a:endParaRPr/>
          </a:p>
        </p:txBody>
      </p:sp>
      <p:sp>
        <p:nvSpPr>
          <p:cNvPr id="4" name="Date Placeholder 3"/>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KAUAABonAAAIFgAAWSkAABAAAAAmAAAACAAAAL+PAAAAAAAA"/>
              </a:ext>
            </a:extLst>
          </p:cNvSpPr>
          <p:nvPr>
            <p:ph type="dt" sz="half" idx="2"/>
          </p:nvPr>
        </p:nvSpPr>
        <p:spPr>
          <a:xfrm>
            <a:off x="838200" y="6356350"/>
            <a:ext cx="2743200" cy="365125"/>
          </a:xfrm>
          <a:prstGeom prst="rect">
            <a:avLst/>
          </a:prstGeom>
        </p:spPr>
        <p:txBody>
          <a:bodyPr vert="horz" wrap="square" lIns="91440" tIns="45720" rIns="91440" bIns="45720" numCol="1" spcCol="215900" anchor="ctr">
            <a:prstTxWarp prst="textNoShape">
              <a:avLst/>
            </a:prstTxWarp>
          </a:bodyPr>
          <a:lstStyle>
            <a:lvl1pPr algn="l">
              <a:defRPr lang="en-US" sz="1200"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1CB8476A-BD6A-47D3-A2D5-7481F91EC239}" type="datetime1">
              <a:rPr lang="en-US" smtClean="0"/>
              <a:t>11/27/2025</a:t>
            </a:fld>
            <a:endParaRPr/>
          </a:p>
        </p:txBody>
      </p:sp>
      <p:sp>
        <p:nvSpPr>
          <p:cNvPr id="5" name="Foot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2BgAABonAAAoMgAAWSkAABAAAAAmAAAACAAAAL+PAAAAAAAA"/>
              </a:ext>
            </a:extLst>
          </p:cNvSpPr>
          <p:nvPr>
            <p:ph type="ftr" sz="quarter" idx="3"/>
          </p:nvPr>
        </p:nvSpPr>
        <p:spPr>
          <a:xfrm>
            <a:off x="4038600" y="6356350"/>
            <a:ext cx="4114800" cy="365125"/>
          </a:xfrm>
          <a:prstGeom prst="rect">
            <a:avLst/>
          </a:prstGeom>
        </p:spPr>
        <p:txBody>
          <a:bodyPr vert="horz" wrap="square" lIns="91440" tIns="45720" rIns="91440" bIns="45720" numCol="1" spcCol="215900" anchor="ctr">
            <a:prstTxWarp prst="textNoShape">
              <a:avLst/>
            </a:prstTxWarp>
          </a:bodyPr>
          <a:lstStyle>
            <a:lvl1pPr algn="ctr">
              <a:defRPr lang="en-US" sz="1200"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r>
              <a:rPr lang="en-US"/>
              <a:t>V2V COMMUNICATION:ENHANCING SAFETY AND TRAFFIC FLOW</a:t>
            </a:r>
            <a:endParaRPr/>
          </a:p>
        </p:txBody>
      </p:sp>
      <p:sp>
        <p:nvSpPr>
          <p:cNvPr id="6" name="Slide Number Placeholder 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AP///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AAAAAAEAAAAAAAAAAAAAAAAAAAAAAAAAAAAAAAAAAAAAAAAAAAAAAAB/f38AAAAAA8zMzADAwP8Af39/AAAAAAAAAAAAAAAAAAAAAAAAAAAAIQAAABgAAAAUAAAA+DQAABonAADYRQAAWSkAABAAAAAmAAAACAAAAL+PAAAAAAAA"/>
              </a:ext>
            </a:extLst>
          </p:cNvSpPr>
          <p:nvPr>
            <p:ph type="sldNum" sz="quarter" idx="4"/>
          </p:nvPr>
        </p:nvSpPr>
        <p:spPr>
          <a:xfrm>
            <a:off x="8610600" y="6356350"/>
            <a:ext cx="2743200" cy="365125"/>
          </a:xfrm>
          <a:prstGeom prst="rect">
            <a:avLst/>
          </a:prstGeom>
        </p:spPr>
        <p:txBody>
          <a:bodyPr vert="horz" wrap="square" lIns="91440" tIns="45720" rIns="91440" bIns="45720" numCol="1" spcCol="215900" anchor="ctr">
            <a:prstTxWarp prst="textNoShape">
              <a:avLst/>
            </a:prstTxWarp>
          </a:bodyPr>
          <a:lstStyle>
            <a:lvl1pPr algn="r">
              <a:defRPr lang="en-US" sz="1200" cap="none">
                <a:solidFill>
                  <a:srgbClr val="8C8C8C"/>
                </a:solidFill>
              </a:defRPr>
            </a:lvl1pPr>
            <a:lvl2pPr>
              <a:defRPr lang="en-US" cap="none"/>
            </a:lvl2pPr>
            <a:lvl3pPr>
              <a:defRPr lang="en-US" cap="none"/>
            </a:lvl3pPr>
            <a:lvl4pPr>
              <a:defRPr lang="en-US" cap="none"/>
            </a:lvl4pPr>
            <a:lvl5pPr>
              <a:defRPr lang="en-US" cap="none"/>
            </a:lvl5pPr>
            <a:lvl6pPr>
              <a:defRPr lang="en-US" cap="none"/>
            </a:lvl6pPr>
            <a:lvl7pPr>
              <a:defRPr lang="en-US" cap="none"/>
            </a:lvl7pPr>
            <a:lvl8pPr>
              <a:defRPr lang="en-US" cap="none"/>
            </a:lvl8pPr>
            <a:lvl9pPr>
              <a:defRPr lang="en-US" cap="none"/>
            </a:lvl9pPr>
          </a:lstStyle>
          <a:p>
            <a:pPr>
              <a:defRPr lang="en-US"/>
            </a:pPr>
            <a:fld id="{3B5AD554-1AD6-0F23-98E2-EC769BAC6EB9}"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dt="0"/>
  <p:txStyles>
    <p:titleStyle>
      <a:lvl1pPr marL="0" marR="0" indent="0" algn="l" defTabSz="914400" eaLnBrk="1" hangingPunct="1">
        <a:lnSpc>
          <a:spcPct val="90000"/>
        </a:lnSpc>
        <a:spcBef>
          <a:spcPts val="0"/>
        </a:spcBef>
        <a:spcAft>
          <a:spcPts val="0"/>
        </a:spcAft>
        <a:buNone/>
        <a:tabLst/>
        <a:defRPr lang="en-US" sz="4400" b="0" i="0" u="none" strike="noStrike" kern="1" cap="none" spc="0" baseline="0">
          <a:solidFill>
            <a:schemeClr val="tx1"/>
          </a:solidFill>
          <a:effectLst/>
          <a:latin typeface="Calibri Light" pitchFamily="2" charset="0"/>
          <a:ea typeface="Calibri Light" pitchFamily="2" charset="0"/>
          <a:cs typeface="Calibri Light" pitchFamily="2" charset="0"/>
        </a:defRPr>
      </a:lvl1pPr>
      <a:lvl2pPr marL="457200" marR="0" indent="0" algn="l" defTabSz="914400" eaLnBrk="1" hangingPunct="1">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eaLnBrk="1" hangingPunct="1">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eaLnBrk="1" hangingPunct="1">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eaLnBrk="1" hangingPunct="1">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eaLnBrk="1" hangingPunct="1">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eaLnBrk="1" hangingPunct="1">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eaLnBrk="1" hangingPunct="1">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eaLnBrk="1" hangingPunct="1">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titleStyle>
    <p:bodyStyle>
      <a:lvl1pPr marL="228600" marR="0" indent="-228600" algn="l" defTabSz="914400" eaLnBrk="1" hangingPunct="1">
        <a:lnSpc>
          <a:spcPct val="90000"/>
        </a:lnSpc>
        <a:spcBef>
          <a:spcPts val="1000"/>
        </a:spcBef>
        <a:spcAft>
          <a:spcPts val="0"/>
        </a:spcAft>
        <a:buClrTx/>
        <a:buSzTx/>
        <a:buFont typeface="Arial" pitchFamily="2" charset="0"/>
        <a:buChar char="•"/>
        <a:tabLst/>
        <a:defRPr lang="en-US" sz="2800" b="0" i="0" u="none" strike="noStrike" kern="1" cap="none" spc="0" baseline="0">
          <a:solidFill>
            <a:schemeClr val="tx1"/>
          </a:solidFill>
          <a:effectLst/>
          <a:latin typeface="Calibri" pitchFamily="2" charset="0"/>
          <a:ea typeface="Calibri" pitchFamily="2" charset="0"/>
          <a:cs typeface="Calibri" pitchFamily="2" charset="0"/>
        </a:defRPr>
      </a:lvl1pPr>
      <a:lvl2pPr marL="685800" marR="0" indent="-228600" algn="l" defTabSz="914400" eaLnBrk="1" hangingPunct="1">
        <a:lnSpc>
          <a:spcPct val="90000"/>
        </a:lnSpc>
        <a:spcBef>
          <a:spcPts val="500"/>
        </a:spcBef>
        <a:spcAft>
          <a:spcPts val="0"/>
        </a:spcAft>
        <a:buClrTx/>
        <a:buSzTx/>
        <a:buFont typeface="Arial" pitchFamily="2" charset="0"/>
        <a:buChar char="•"/>
        <a:tabLst/>
        <a:defRPr lang="en-US" sz="2400" b="0" i="0" u="none" strike="noStrike" kern="1" cap="none" spc="0" baseline="0">
          <a:solidFill>
            <a:schemeClr val="tx1"/>
          </a:solidFill>
          <a:effectLst/>
          <a:latin typeface="Calibri" pitchFamily="2" charset="0"/>
          <a:ea typeface="Calibri" pitchFamily="2" charset="0"/>
          <a:cs typeface="Calibri" pitchFamily="2" charset="0"/>
        </a:defRPr>
      </a:lvl2pPr>
      <a:lvl3pPr marL="1143000" marR="0" indent="-228600" algn="l" defTabSz="914400" eaLnBrk="1" hangingPunct="1">
        <a:lnSpc>
          <a:spcPct val="90000"/>
        </a:lnSpc>
        <a:spcBef>
          <a:spcPts val="500"/>
        </a:spcBef>
        <a:spcAft>
          <a:spcPts val="0"/>
        </a:spcAft>
        <a:buClrTx/>
        <a:buSzTx/>
        <a:buFont typeface="Arial" pitchFamily="2" charset="0"/>
        <a:buChar char="•"/>
        <a:tabLst/>
        <a:defRPr lang="en-US" sz="2000" b="0" i="0" u="none" strike="noStrike" kern="1" cap="none" spc="0" baseline="0">
          <a:solidFill>
            <a:schemeClr val="tx1"/>
          </a:solidFill>
          <a:effectLst/>
          <a:latin typeface="Calibri" pitchFamily="2" charset="0"/>
          <a:ea typeface="Calibri" pitchFamily="2" charset="0"/>
          <a:cs typeface="Calibri" pitchFamily="2" charset="0"/>
        </a:defRPr>
      </a:lvl3pPr>
      <a:lvl4pPr marL="1600200" marR="0" indent="-228600" algn="l" defTabSz="914400" eaLnBrk="1" hangingPunct="1">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2057400" marR="0" indent="-228600" algn="l" defTabSz="914400" eaLnBrk="1" hangingPunct="1">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514600" marR="0" indent="-228600" algn="l" defTabSz="914400" eaLnBrk="1" hangingPunct="1">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971800" marR="0" indent="-228600" algn="l" defTabSz="914400" eaLnBrk="1" hangingPunct="1">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429000" marR="0" indent="-228600" algn="l" defTabSz="914400" eaLnBrk="1" hangingPunct="1">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886200" marR="0" indent="-228600" algn="l" defTabSz="914400" eaLnBrk="1" hangingPunct="1">
        <a:lnSpc>
          <a:spcPct val="90000"/>
        </a:lnSpc>
        <a:spcBef>
          <a:spcPts val="500"/>
        </a:spcBef>
        <a:spcAft>
          <a:spcPts val="0"/>
        </a:spcAft>
        <a:buClrTx/>
        <a:buSzTx/>
        <a:buFont typeface="Arial" pitchFamily="2" charset="0"/>
        <a:buChar char="•"/>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bodyStyle>
    <p:otherStyle>
      <a:lvl1pPr marL="0" marR="0" indent="0" algn="l" defTabSz="914400" eaLnBrk="1" hangingPunct="1">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1pPr>
      <a:lvl2pPr marL="457200" marR="0" indent="0" algn="l" defTabSz="914400" eaLnBrk="1" hangingPunct="1">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2pPr>
      <a:lvl3pPr marL="914400" marR="0" indent="0" algn="l" defTabSz="914400" eaLnBrk="1" hangingPunct="1">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3pPr>
      <a:lvl4pPr marL="1371600" marR="0" indent="0" algn="l" defTabSz="914400" eaLnBrk="1" hangingPunct="1">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4pPr>
      <a:lvl5pPr marL="1828800" marR="0" indent="0" algn="l" defTabSz="914400" eaLnBrk="1" hangingPunct="1">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5pPr>
      <a:lvl6pPr marL="2286000" marR="0" indent="0" algn="l" defTabSz="914400" eaLnBrk="1" hangingPunct="1">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6pPr>
      <a:lvl7pPr marL="2743200" marR="0" indent="0" algn="l" defTabSz="914400" eaLnBrk="1" hangingPunct="1">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7pPr>
      <a:lvl8pPr marL="3200400" marR="0" indent="0" algn="l" defTabSz="914400" eaLnBrk="1" hangingPunct="1">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8pPr>
      <a:lvl9pPr marL="3657600" marR="0" indent="0" algn="l" defTabSz="914400" eaLnBrk="1" hangingPunct="1">
        <a:lnSpc>
          <a:spcPct val="100000"/>
        </a:lnSpc>
        <a:spcBef>
          <a:spcPts val="0"/>
        </a:spcBef>
        <a:spcAft>
          <a:spcPts val="0"/>
        </a:spcAft>
        <a:buNone/>
        <a:tabLst/>
        <a:defRPr lang="en-US" sz="1800" b="0" i="0" u="none" strike="noStrike" kern="1" cap="none" spc="0" baseline="0">
          <a:solidFill>
            <a:schemeClr val="tx1"/>
          </a:solidFill>
          <a:effectLst/>
          <a:latin typeface="Calibri" pitchFamily="2" charset="0"/>
          <a:ea typeface="Calibri" pitchFamily="2" charset="0"/>
          <a:cs typeface="Calibri" pitchFamily="2" charset="0"/>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Content Placeholder 6"/>
          <p:cNvPicPr>
            <a:picLocks noGrp="1" noChangeAspect="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7_IWgs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Fub1QX///8BAAAAAAAAAAAAAAAAAAAAAAAAAAAAAAAAAAAAAAAAAAAAAAACf39/AOfm5gPMzMwAwMD/AH9/fwAAAAAAAAAAAAAAAAD///8AAAAAACEAAAAYAAAAFAAAACoFAAB1DAAA1kUAADknAAAQAAAAJgAAAAgAAAABgQAAAAAAAA=="/>
              </a:ext>
            </a:extLst>
          </p:cNvPicPr>
          <p:nvPr>
            <p:ph type="pic" idx="1"/>
          </p:nvPr>
        </p:nvPicPr>
        <p:blipFill>
          <a:blip r:embed="rId3"/>
          <a:stretch>
            <a:fillRect/>
          </a:stretch>
        </p:blipFill>
        <p:spPr>
          <a:xfrm>
            <a:off x="839470" y="2025015"/>
            <a:ext cx="10513060" cy="4351020"/>
          </a:xfrm>
          <a:prstGeom prst="rect">
            <a:avLst/>
          </a:prstGeom>
        </p:spPr>
      </p:pic>
      <p:sp>
        <p:nvSpPr>
          <p:cNvPr id="3" name="AutoShape 4" descr="C:\Users\EC\Desktop\cropped-cddfv-1024x112.webp"/>
          <p:cNvSpPr>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B/f38A5+bmA8zMzADAwP8Af39/AAAAAAAAAAAAAAAAAAAAAAAAAAAAIQAAABgAAAAUAAAA7AkAAEsKAACAJQAAKwwAABAAAAAmAAAACAAAAP//////////"/>
              </a:ext>
            </a:extLst>
          </p:cNvSpPr>
          <p:nvPr/>
        </p:nvSpPr>
        <p:spPr>
          <a:xfrm>
            <a:off x="1612900" y="1673225"/>
            <a:ext cx="4483100" cy="304800"/>
          </a:xfrm>
          <a:prstGeom prst="rect">
            <a:avLst/>
          </a:prstGeom>
          <a:noFill/>
          <a:ln>
            <a:noFill/>
          </a:ln>
          <a:effectLst/>
        </p:spPr>
        <p:txBody>
          <a:bodyPr vert="horz" wrap="square" lIns="91440" tIns="45720" rIns="91440" bIns="45720" numCol="1" spcCol="215900" anchor="t"/>
          <a:lstStyle/>
          <a:p>
            <a:pPr>
              <a:defRPr lang="en-US"/>
            </a:pPr>
            <a:endParaRPr>
              <a:latin typeface="Times New Roman" panose="02020603050405020304" pitchFamily="18" charset="0"/>
              <a:cs typeface="Times New Roman" panose="02020603050405020304" pitchFamily="18" charset="0"/>
            </a:endParaRPr>
          </a:p>
        </p:txBody>
      </p:sp>
      <p:sp>
        <p:nvSpPr>
          <p:cNvPr id="4" name="AutoShape 6" descr="C:\Users\EC\Desktop\cropped-cddfv-1024x112.webp"/>
          <p:cNvSpPr>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B/f38A5+bmA8zMzADAwP8Af39/AAAAAAAAAAAAAAAAAAAAAAAAAAAAIQAAABgAAAAUAAAA9QAAABz////VAgAA/QAAABAAAAAmAAAACAAAAP//////////"/>
              </a:ext>
            </a:extLst>
          </p:cNvSpPr>
          <p:nvPr/>
        </p:nvSpPr>
        <p:spPr>
          <a:xfrm>
            <a:off x="155575" y="-144780"/>
            <a:ext cx="304800" cy="305435"/>
          </a:xfrm>
          <a:prstGeom prst="rect">
            <a:avLst/>
          </a:prstGeom>
          <a:noFill/>
          <a:ln>
            <a:noFill/>
          </a:ln>
          <a:effectLst/>
        </p:spPr>
        <p:txBody>
          <a:bodyPr vert="horz" wrap="square" lIns="91440" tIns="45720" rIns="91440" bIns="45720" numCol="1" spcCol="215900" anchor="t"/>
          <a:lstStyle/>
          <a:p>
            <a:pPr>
              <a:defRPr lang="en-US"/>
            </a:pPr>
            <a:endParaRPr>
              <a:latin typeface="Times New Roman" panose="02020603050405020304" pitchFamily="18" charset="0"/>
              <a:cs typeface="Times New Roman" panose="02020603050405020304" pitchFamily="18" charset="0"/>
            </a:endParaRPr>
          </a:p>
        </p:txBody>
      </p:sp>
      <p:sp>
        <p:nvSpPr>
          <p:cNvPr id="5" name="AutoShape 8" descr="C:\Users\EC\Desktop\cropped-cddfv-1024x112.webp"/>
          <p:cNvSpPr>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B/f38A5+bmA8zMzADAwP8Af39/AAAAAAAAAAAAAAAAAAAAAAAAAAAAIQAAABgAAAAUAAAA5QEAAAwAAADFAwAA7QEAABAAAAAmAAAACAAAAP//////////"/>
              </a:ext>
            </a:extLst>
          </p:cNvSpPr>
          <p:nvPr/>
        </p:nvSpPr>
        <p:spPr>
          <a:xfrm>
            <a:off x="307975" y="7620"/>
            <a:ext cx="304800" cy="305435"/>
          </a:xfrm>
          <a:prstGeom prst="rect">
            <a:avLst/>
          </a:prstGeom>
          <a:noFill/>
          <a:ln>
            <a:noFill/>
          </a:ln>
          <a:effectLst/>
        </p:spPr>
        <p:txBody>
          <a:bodyPr vert="horz" wrap="square" lIns="91440" tIns="45720" rIns="91440" bIns="45720" numCol="1" spcCol="215900" anchor="t"/>
          <a:lstStyle/>
          <a:p>
            <a:pPr>
              <a:defRPr lang="en-US"/>
            </a:pPr>
            <a:endParaRPr>
              <a:latin typeface="Times New Roman" panose="02020603050405020304" pitchFamily="18" charset="0"/>
              <a:cs typeface="Times New Roman" panose="02020603050405020304" pitchFamily="18" charset="0"/>
            </a:endParaRPr>
          </a:p>
        </p:txBody>
      </p:sp>
      <p:sp>
        <p:nvSpPr>
          <p:cNvPr id="9" name="Slide Number Placeholder 15"/>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DQAABonAADYRQAAWSkAABAAAAAmAAAACAAAAAAAAAAAAAAA"/>
              </a:ext>
            </a:extLst>
          </p:cNvSpPr>
          <p:nvPr>
            <p:ph type="sldNum" sz="quarter" idx="12"/>
          </p:nvPr>
        </p:nvSpPr>
        <p:spPr/>
        <p:txBody>
          <a:bodyPr/>
          <a:lstStyle/>
          <a:p>
            <a:pPr>
              <a:defRPr lang="en-US"/>
            </a:pPr>
            <a:fld id="{3B5AFECE-80D6-0F08-98E2-765DB0AC6E23}" type="slidenum">
              <a:rPr>
                <a:latin typeface="Times New Roman" panose="02020603050405020304" pitchFamily="18" charset="0"/>
                <a:cs typeface="Times New Roman" panose="02020603050405020304" pitchFamily="18" charset="0"/>
              </a:rPr>
              <a:t>1</a:t>
            </a:fld>
            <a:endParaRPr>
              <a:latin typeface="Times New Roman" panose="02020603050405020304" pitchFamily="18" charset="0"/>
              <a:cs typeface="Times New Roman" panose="02020603050405020304" pitchFamily="18" charset="0"/>
            </a:endParaRPr>
          </a:p>
        </p:txBody>
      </p:sp>
      <p:sp>
        <p:nvSpPr>
          <p:cNvPr id="12" name="TextBox 3"/>
          <p:cNvSpPr>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B/f38A5+bmA8zMzADAwP8Af39/AAAAAAAAAAAAAAAAAAAAAAAAAAAAIQAAABgAAAAUAAAAaQsAAMYPAABrPAAAyhMAAAAAAAAmAAAACAAAAP//////////"/>
              </a:ext>
            </a:extLst>
          </p:cNvSpPr>
          <p:nvPr/>
        </p:nvSpPr>
        <p:spPr>
          <a:xfrm>
            <a:off x="1187609" y="561750"/>
            <a:ext cx="9816782" cy="3383730"/>
          </a:xfrm>
          <a:prstGeom prst="rect">
            <a:avLst/>
          </a:prstGeom>
          <a:noFill/>
          <a:ln>
            <a:noFill/>
          </a:ln>
          <a:effectLst/>
        </p:spPr>
        <p:txBody>
          <a:bodyPr vert="horz" wrap="square" lIns="91440" tIns="45720" rIns="91440" bIns="45720" numCol="1" spcCol="215900" anchor="t"/>
          <a:lstStyle/>
          <a:p>
            <a:pPr algn="ctr"/>
            <a:r>
              <a:rPr lang="en-IN" altLang="ko-KR" sz="5400" b="1" dirty="0">
                <a:solidFill>
                  <a:srgbClr val="0070C0"/>
                </a:solidFill>
                <a:latin typeface="Times New Roman" panose="02020603050405020304" pitchFamily="18" charset="0"/>
                <a:cs typeface="Times New Roman" panose="02020603050405020304" pitchFamily="18" charset="0"/>
              </a:rPr>
              <a:t>V2V COMMUNICATION : ENHANCING SAFETY AND TRAFFIC FLOW </a:t>
            </a:r>
            <a:endParaRPr lang="ko-KR" altLang="en-US" sz="5400" b="1" dirty="0">
              <a:solidFill>
                <a:srgbClr val="0070C0"/>
              </a:solidFill>
              <a:latin typeface="Times New Roman" panose="02020603050405020304" pitchFamily="18" charset="0"/>
              <a:cs typeface="Times New Roman" panose="02020603050405020304" pitchFamily="18" charset="0"/>
            </a:endParaRPr>
          </a:p>
          <a:p>
            <a:pPr algn="ctr">
              <a:defRPr lang="en-US"/>
            </a:pPr>
            <a:endParaRPr lang="en-IN" sz="2000" b="1" cap="none" dirty="0">
              <a:latin typeface="Times New Roman" panose="02020603050405020304" pitchFamily="18" charset="0"/>
              <a:cs typeface="Times New Roman" panose="02020603050405020304" pitchFamily="18" charset="0"/>
            </a:endParaRPr>
          </a:p>
        </p:txBody>
      </p:sp>
      <p:sp>
        <p:nvSpPr>
          <p:cNvPr id="13" name="TextBox 4"/>
          <p:cNvSpPr>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B/f38A5+bmA8zMzADAwP8Af39/AAAAAAAAAAAAAAAAAAAAAAAAAAAAIQAAABgAAAAUAAAAThYAALoMAADAMAAAAA8AABAgAAAmAAAACAAAAP//////////"/>
              </a:ext>
            </a:extLst>
          </p:cNvSpPr>
          <p:nvPr/>
        </p:nvSpPr>
        <p:spPr>
          <a:xfrm>
            <a:off x="3625850" y="2068830"/>
            <a:ext cx="4298950" cy="369570"/>
          </a:xfrm>
          <a:prstGeom prst="rect">
            <a:avLst/>
          </a:prstGeom>
          <a:noFill/>
          <a:ln>
            <a:noFill/>
          </a:ln>
          <a:effectLst/>
        </p:spPr>
        <p:txBody>
          <a:bodyPr vert="horz" wrap="square" lIns="91440" tIns="45720" rIns="91440" bIns="45720" numCol="1" spcCol="215900" anchor="t"/>
          <a:lstStyle/>
          <a:p>
            <a:pPr algn="ctr">
              <a:defRPr lang="en-US"/>
            </a:pPr>
            <a:endParaRPr lang="en-IN" b="1" cap="none"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06794" y="553543"/>
            <a:ext cx="10515600" cy="670573"/>
          </a:xfrm>
        </p:spPr>
        <p:txBody>
          <a:bodyPr>
            <a:normAutofit/>
          </a:bodyPr>
          <a:lstStyle/>
          <a:p>
            <a:r>
              <a:rPr lang="en-US" sz="2400" b="1" dirty="0">
                <a:latin typeface="Times New Roman" panose="02020603050405020304" pitchFamily="18" charset="0"/>
                <a:ea typeface="Calibri" panose="020F0502020204030204" pitchFamily="34" charset="0"/>
                <a:cs typeface="Times New Roman" panose="02020603050405020304" pitchFamily="18" charset="0"/>
              </a:rPr>
              <a:t>TABLE OF CONTENT</a:t>
            </a:r>
            <a:r>
              <a:rPr lang="en-US" sz="2400" b="1" dirty="0">
                <a:latin typeface="Times New Roman" panose="02020603050405020304" pitchFamily="18" charset="0"/>
                <a:cs typeface="Times New Roman" panose="02020603050405020304" pitchFamily="18" charset="0"/>
              </a:rPr>
              <a:t>:</a:t>
            </a:r>
          </a:p>
        </p:txBody>
      </p:sp>
      <p:graphicFrame>
        <p:nvGraphicFramePr>
          <p:cNvPr id="6" name="Content Placeholder 5">
            <a:extLst>
              <a:ext uri="{FF2B5EF4-FFF2-40B4-BE49-F238E27FC236}">
                <a16:creationId xmlns:a16="http://schemas.microsoft.com/office/drawing/2014/main" id="{D0C9228A-4254-AB0F-A842-E60B82E13C54}"/>
              </a:ext>
            </a:extLst>
          </p:cNvPr>
          <p:cNvGraphicFramePr>
            <a:graphicFrameLocks noGrp="1"/>
          </p:cNvGraphicFramePr>
          <p:nvPr>
            <p:ph idx="1"/>
            <p:extLst>
              <p:ext uri="{D42A27DB-BD31-4B8C-83A1-F6EECF244321}">
                <p14:modId xmlns:p14="http://schemas.microsoft.com/office/powerpoint/2010/main" val="4206404959"/>
              </p:ext>
            </p:extLst>
          </p:nvPr>
        </p:nvGraphicFramePr>
        <p:xfrm>
          <a:off x="1088571" y="1224118"/>
          <a:ext cx="9455604" cy="5273632"/>
        </p:xfrm>
        <a:graphic>
          <a:graphicData uri="http://schemas.openxmlformats.org/drawingml/2006/table">
            <a:tbl>
              <a:tblPr firstRow="1" bandRow="1">
                <a:tableStyleId>{5C22544A-7EE6-4342-B048-85BDC9FD1C3A}</a:tableStyleId>
              </a:tblPr>
              <a:tblGrid>
                <a:gridCol w="1494431">
                  <a:extLst>
                    <a:ext uri="{9D8B030D-6E8A-4147-A177-3AD203B41FA5}">
                      <a16:colId xmlns:a16="http://schemas.microsoft.com/office/drawing/2014/main" val="2542404980"/>
                    </a:ext>
                  </a:extLst>
                </a:gridCol>
                <a:gridCol w="7961173">
                  <a:extLst>
                    <a:ext uri="{9D8B030D-6E8A-4147-A177-3AD203B41FA5}">
                      <a16:colId xmlns:a16="http://schemas.microsoft.com/office/drawing/2014/main" val="3836289880"/>
                    </a:ext>
                  </a:extLst>
                </a:gridCol>
              </a:tblGrid>
              <a:tr h="405664">
                <a:tc>
                  <a:txBody>
                    <a:bodyPr/>
                    <a:lstStyle/>
                    <a:p>
                      <a:r>
                        <a:rPr lang="en-US" dirty="0">
                          <a:latin typeface="Times New Roman" panose="02020603050405020304" pitchFamily="18" charset="0"/>
                          <a:cs typeface="Times New Roman" panose="02020603050405020304" pitchFamily="18" charset="0"/>
                        </a:rPr>
                        <a:t>SL.NO</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TITLE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314629901"/>
                  </a:ext>
                </a:extLst>
              </a:tr>
              <a:tr h="405664">
                <a:tc>
                  <a:txBody>
                    <a:bodyPr/>
                    <a:lstStyle/>
                    <a:p>
                      <a:r>
                        <a:rPr lang="en-US" dirty="0">
                          <a:latin typeface="Times New Roman" panose="02020603050405020304" pitchFamily="18" charset="0"/>
                          <a:cs typeface="Times New Roman" panose="02020603050405020304" pitchFamily="18" charset="0"/>
                        </a:rPr>
                        <a:t>01.</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NEED STATEMENT, INTRODUCTION</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13620636"/>
                  </a:ext>
                </a:extLst>
              </a:tr>
              <a:tr h="405664">
                <a:tc>
                  <a:txBody>
                    <a:bodyPr/>
                    <a:lstStyle/>
                    <a:p>
                      <a:r>
                        <a:rPr lang="en-US" dirty="0">
                          <a:latin typeface="Times New Roman" panose="02020603050405020304" pitchFamily="18" charset="0"/>
                          <a:cs typeface="Times New Roman" panose="02020603050405020304" pitchFamily="18" charset="0"/>
                        </a:rPr>
                        <a:t>02.</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LITERATURE SURVEY</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112650577"/>
                  </a:ext>
                </a:extLst>
              </a:tr>
              <a:tr h="405664">
                <a:tc>
                  <a:txBody>
                    <a:bodyPr/>
                    <a:lstStyle/>
                    <a:p>
                      <a:r>
                        <a:rPr lang="en-US" dirty="0">
                          <a:latin typeface="Times New Roman" panose="02020603050405020304" pitchFamily="18" charset="0"/>
                          <a:cs typeface="Times New Roman" panose="02020603050405020304" pitchFamily="18" charset="0"/>
                        </a:rPr>
                        <a:t>03.</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PROBLEM DEFINITION,OBJECTIVES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93813210"/>
                  </a:ext>
                </a:extLst>
              </a:tr>
              <a:tr h="405664">
                <a:tc>
                  <a:txBody>
                    <a:bodyPr/>
                    <a:lstStyle/>
                    <a:p>
                      <a:r>
                        <a:rPr lang="en-US" dirty="0">
                          <a:latin typeface="Times New Roman" panose="02020603050405020304" pitchFamily="18" charset="0"/>
                          <a:cs typeface="Times New Roman" panose="02020603050405020304" pitchFamily="18" charset="0"/>
                        </a:rPr>
                        <a:t>04.</a:t>
                      </a:r>
                      <a:endParaRPr lang="en-IN"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dirty="0">
                          <a:latin typeface="Times New Roman" panose="02020603050405020304" pitchFamily="18" charset="0"/>
                          <a:cs typeface="Times New Roman" panose="02020603050405020304" pitchFamily="18" charset="0"/>
                        </a:rPr>
                        <a:t>PROJECT</a:t>
                      </a:r>
                      <a:r>
                        <a:rPr lang="en-US" baseline="0" dirty="0">
                          <a:latin typeface="Times New Roman" panose="02020603050405020304" pitchFamily="18" charset="0"/>
                          <a:cs typeface="Times New Roman" panose="02020603050405020304" pitchFamily="18" charset="0"/>
                        </a:rPr>
                        <a:t> PLANNING</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81381857"/>
                  </a:ext>
                </a:extLst>
              </a:tr>
              <a:tr h="405664">
                <a:tc>
                  <a:txBody>
                    <a:bodyPr/>
                    <a:lstStyle/>
                    <a:p>
                      <a:r>
                        <a:rPr lang="en-US" dirty="0">
                          <a:latin typeface="Times New Roman" panose="02020603050405020304" pitchFamily="18" charset="0"/>
                          <a:cs typeface="Times New Roman" panose="02020603050405020304" pitchFamily="18" charset="0"/>
                        </a:rPr>
                        <a:t>05.</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FLOW CHART,BLOCK DIAGRAM</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0625793"/>
                  </a:ext>
                </a:extLst>
              </a:tr>
              <a:tr h="405664">
                <a:tc>
                  <a:txBody>
                    <a:bodyPr/>
                    <a:lstStyle/>
                    <a:p>
                      <a:r>
                        <a:rPr lang="en-US" dirty="0">
                          <a:latin typeface="Times New Roman" panose="02020603050405020304" pitchFamily="18" charset="0"/>
                          <a:cs typeface="Times New Roman" panose="02020603050405020304" pitchFamily="18" charset="0"/>
                        </a:rPr>
                        <a:t>06.</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SOFTWARE TOOLS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787666052"/>
                  </a:ext>
                </a:extLst>
              </a:tr>
              <a:tr h="405664">
                <a:tc>
                  <a:txBody>
                    <a:bodyPr/>
                    <a:lstStyle/>
                    <a:p>
                      <a:r>
                        <a:rPr lang="en-IN" dirty="0">
                          <a:latin typeface="Times New Roman" panose="02020603050405020304" pitchFamily="18" charset="0"/>
                          <a:cs typeface="Times New Roman" panose="02020603050405020304" pitchFamily="18" charset="0"/>
                        </a:rPr>
                        <a:t>07.</a:t>
                      </a:r>
                    </a:p>
                  </a:txBody>
                  <a:tcPr/>
                </a:tc>
                <a:tc>
                  <a:txBody>
                    <a:bodyPr/>
                    <a:lstStyle/>
                    <a:p>
                      <a:r>
                        <a:rPr lang="en-IN" dirty="0">
                          <a:latin typeface="Times New Roman" panose="02020603050405020304" pitchFamily="18" charset="0"/>
                          <a:cs typeface="Times New Roman" panose="02020603050405020304" pitchFamily="18" charset="0"/>
                        </a:rPr>
                        <a:t>HARDWARE SPECIFICATIONS</a:t>
                      </a:r>
                    </a:p>
                  </a:txBody>
                  <a:tcPr/>
                </a:tc>
                <a:extLst>
                  <a:ext uri="{0D108BD9-81ED-4DB2-BD59-A6C34878D82A}">
                    <a16:rowId xmlns:a16="http://schemas.microsoft.com/office/drawing/2014/main" val="10007"/>
                  </a:ext>
                </a:extLst>
              </a:tr>
              <a:tr h="405664">
                <a:tc>
                  <a:txBody>
                    <a:bodyPr/>
                    <a:lstStyle/>
                    <a:p>
                      <a:r>
                        <a:rPr lang="en-IN" dirty="0">
                          <a:latin typeface="Times New Roman" panose="02020603050405020304" pitchFamily="18" charset="0"/>
                          <a:cs typeface="Times New Roman" panose="02020603050405020304" pitchFamily="18" charset="0"/>
                        </a:rPr>
                        <a:t>08.</a:t>
                      </a:r>
                    </a:p>
                  </a:txBody>
                  <a:tcPr/>
                </a:tc>
                <a:tc>
                  <a:txBody>
                    <a:bodyPr/>
                    <a:lstStyle/>
                    <a:p>
                      <a:r>
                        <a:rPr lang="en-IN" dirty="0">
                          <a:latin typeface="Times New Roman" panose="02020603050405020304" pitchFamily="18" charset="0"/>
                          <a:cs typeface="Times New Roman" panose="02020603050405020304" pitchFamily="18" charset="0"/>
                        </a:rPr>
                        <a:t>OPTIMIZATION</a:t>
                      </a:r>
                    </a:p>
                  </a:txBody>
                  <a:tcPr/>
                </a:tc>
                <a:extLst>
                  <a:ext uri="{0D108BD9-81ED-4DB2-BD59-A6C34878D82A}">
                    <a16:rowId xmlns:a16="http://schemas.microsoft.com/office/drawing/2014/main" val="10008"/>
                  </a:ext>
                </a:extLst>
              </a:tr>
              <a:tr h="405664">
                <a:tc>
                  <a:txBody>
                    <a:bodyPr/>
                    <a:lstStyle/>
                    <a:p>
                      <a:r>
                        <a:rPr lang="en-IN" dirty="0">
                          <a:latin typeface="Times New Roman" panose="02020603050405020304" pitchFamily="18" charset="0"/>
                          <a:cs typeface="Times New Roman" panose="02020603050405020304" pitchFamily="18" charset="0"/>
                        </a:rPr>
                        <a:t>09.</a:t>
                      </a:r>
                    </a:p>
                  </a:txBody>
                  <a:tcPr/>
                </a:tc>
                <a:tc>
                  <a:txBody>
                    <a:bodyPr/>
                    <a:lstStyle/>
                    <a:p>
                      <a:r>
                        <a:rPr lang="en-IN" dirty="0">
                          <a:latin typeface="Times New Roman" panose="02020603050405020304" pitchFamily="18" charset="0"/>
                          <a:cs typeface="Times New Roman" panose="02020603050405020304" pitchFamily="18" charset="0"/>
                        </a:rPr>
                        <a:t>REUSLTS</a:t>
                      </a:r>
                    </a:p>
                  </a:txBody>
                  <a:tcPr/>
                </a:tc>
                <a:extLst>
                  <a:ext uri="{0D108BD9-81ED-4DB2-BD59-A6C34878D82A}">
                    <a16:rowId xmlns:a16="http://schemas.microsoft.com/office/drawing/2014/main" val="10009"/>
                  </a:ext>
                </a:extLst>
              </a:tr>
              <a:tr h="405664">
                <a:tc>
                  <a:txBody>
                    <a:bodyPr/>
                    <a:lstStyle/>
                    <a:p>
                      <a:r>
                        <a:rPr lang="en-US" dirty="0">
                          <a:latin typeface="Times New Roman" panose="02020603050405020304" pitchFamily="18" charset="0"/>
                          <a:cs typeface="Times New Roman" panose="02020603050405020304" pitchFamily="18" charset="0"/>
                        </a:rPr>
                        <a:t>10.</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APPLICATIONS AND FUTURE SCOPE</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089587163"/>
                  </a:ext>
                </a:extLst>
              </a:tr>
              <a:tr h="405664">
                <a:tc>
                  <a:txBody>
                    <a:bodyPr/>
                    <a:lstStyle/>
                    <a:p>
                      <a:r>
                        <a:rPr lang="en-IN" dirty="0">
                          <a:latin typeface="Times New Roman" panose="02020603050405020304" pitchFamily="18" charset="0"/>
                          <a:cs typeface="Times New Roman" panose="02020603050405020304" pitchFamily="18" charset="0"/>
                        </a:rPr>
                        <a:t>11.</a:t>
                      </a:r>
                    </a:p>
                  </a:txBody>
                  <a:tcPr/>
                </a:tc>
                <a:tc>
                  <a:txBody>
                    <a:bodyPr/>
                    <a:lstStyle/>
                    <a:p>
                      <a:r>
                        <a:rPr lang="en-IN" dirty="0">
                          <a:latin typeface="Times New Roman" panose="02020603050405020304" pitchFamily="18" charset="0"/>
                          <a:cs typeface="Times New Roman" panose="02020603050405020304" pitchFamily="18" charset="0"/>
                        </a:rPr>
                        <a:t>CONCLUSION</a:t>
                      </a:r>
                    </a:p>
                  </a:txBody>
                  <a:tcPr/>
                </a:tc>
                <a:extLst>
                  <a:ext uri="{0D108BD9-81ED-4DB2-BD59-A6C34878D82A}">
                    <a16:rowId xmlns:a16="http://schemas.microsoft.com/office/drawing/2014/main" val="10010"/>
                  </a:ext>
                </a:extLst>
              </a:tr>
              <a:tr h="405664">
                <a:tc>
                  <a:txBody>
                    <a:bodyPr/>
                    <a:lstStyle/>
                    <a:p>
                      <a:r>
                        <a:rPr lang="en-US" dirty="0">
                          <a:latin typeface="Times New Roman" panose="02020603050405020304" pitchFamily="18" charset="0"/>
                          <a:cs typeface="Times New Roman" panose="02020603050405020304" pitchFamily="18" charset="0"/>
                        </a:rPr>
                        <a:t>12.</a:t>
                      </a:r>
                      <a:endParaRPr lang="en-IN" dirty="0">
                        <a:latin typeface="Times New Roman" panose="02020603050405020304" pitchFamily="18" charset="0"/>
                        <a:cs typeface="Times New Roman" panose="02020603050405020304" pitchFamily="18" charset="0"/>
                      </a:endParaRPr>
                    </a:p>
                  </a:txBody>
                  <a:tcPr/>
                </a:tc>
                <a:tc>
                  <a:txBody>
                    <a:bodyPr/>
                    <a:lstStyle/>
                    <a:p>
                      <a:r>
                        <a:rPr lang="en-US" dirty="0">
                          <a:latin typeface="Times New Roman" panose="02020603050405020304" pitchFamily="18" charset="0"/>
                          <a:cs typeface="Times New Roman" panose="02020603050405020304" pitchFamily="18" charset="0"/>
                        </a:rPr>
                        <a:t>REFERENCES</a:t>
                      </a:r>
                      <a:endParaRPr lang="en-IN"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537526939"/>
                  </a:ext>
                </a:extLst>
              </a:tr>
            </a:tbl>
          </a:graphicData>
        </a:graphic>
      </p:graphicFrame>
      <p:sp>
        <p:nvSpPr>
          <p:cNvPr id="5" name="Slide Number Placeholder 4"/>
          <p:cNvSpPr>
            <a:spLocks noGrp="1"/>
          </p:cNvSpPr>
          <p:nvPr>
            <p:ph type="sldNum" sz="quarter" idx="12"/>
          </p:nvPr>
        </p:nvSpPr>
        <p:spPr/>
        <p:txBody>
          <a:bodyPr/>
          <a:lstStyle/>
          <a:p>
            <a:fld id="{14664CE2-A199-492D-95BF-8BD1FF457610}" type="slidenum">
              <a:rPr lang="en-US" smtClean="0">
                <a:latin typeface="Times New Roman" panose="02020603050405020304" pitchFamily="18" charset="0"/>
                <a:cs typeface="Times New Roman" panose="02020603050405020304" pitchFamily="18" charset="0"/>
              </a:rPr>
              <a:t>2</a:t>
            </a:fld>
            <a:endParaRPr lang="en-US">
              <a:latin typeface="Times New Roman" panose="02020603050405020304" pitchFamily="18" charset="0"/>
              <a:cs typeface="Times New Roman" panose="02020603050405020304" pitchFamily="18" charset="0"/>
            </a:endParaRPr>
          </a:p>
        </p:txBody>
      </p:sp>
      <p:sp>
        <p:nvSpPr>
          <p:cNvPr id="7" name="Footer Placeholder 3">
            <a:extLst>
              <a:ext uri="{FF2B5EF4-FFF2-40B4-BE49-F238E27FC236}">
                <a16:creationId xmlns:a16="http://schemas.microsoft.com/office/drawing/2014/main" id="{FE049B06-964C-1EAE-37DF-36316A8B5DAF}"/>
              </a:ext>
            </a:extLst>
          </p:cNvPr>
          <p:cNvSpPr>
            <a:spLocks noGrp="1"/>
          </p:cNvSpPr>
          <p:nvPr>
            <p:ph type="ftr" sz="quarter" idx="11"/>
          </p:nvPr>
        </p:nvSpPr>
        <p:spPr>
          <a:xfrm>
            <a:off x="4038600"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spTree>
    <p:extLst>
      <p:ext uri="{BB962C8B-B14F-4D97-AF65-F5344CB8AC3E}">
        <p14:creationId xmlns:p14="http://schemas.microsoft.com/office/powerpoint/2010/main" val="385857610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2"/>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AwUAAGIGAADYRQAA2RIAABAAAAAmAAAACAAAAAEgAAAAAAAA"/>
              </a:ext>
            </a:extLst>
          </p:cNvSpPr>
          <p:nvPr>
            <p:ph type="body" idx="1"/>
          </p:nvPr>
        </p:nvSpPr>
        <p:spPr>
          <a:xfrm>
            <a:off x="551180" y="1166664"/>
            <a:ext cx="10777526" cy="1229134"/>
          </a:xfrm>
        </p:spPr>
        <p:txBody>
          <a:bodyPr vert="horz" wrap="square" lIns="91440" tIns="45720" rIns="91440" bIns="45720" numCol="1" spcCol="215900" anchor="t">
            <a:prstTxWarp prst="textNoShape">
              <a:avLst/>
            </a:prstTxWarp>
          </a:bodyPr>
          <a:lstStyle/>
          <a:p>
            <a:pPr algn="just">
              <a:spcBef>
                <a:spcPts val="0"/>
              </a:spcBef>
              <a:buNone/>
              <a:defRPr lang="en-US"/>
            </a:pPr>
            <a:r>
              <a:rPr lang="en-US" sz="2000" dirty="0">
                <a:latin typeface="Times New Roman" panose="02020603050405020304" pitchFamily="18" charset="0"/>
                <a:cs typeface="Times New Roman" panose="02020603050405020304" pitchFamily="18" charset="0"/>
              </a:rPr>
              <a:t>    As traffic congestion grows, the lack of real-time communication between vehicles leads to delayed responses, increased accidents, and inefficient traffic flow. This growing challenge highlights the need for better ways to address road safety and improve traffic management.</a:t>
            </a:r>
            <a:r>
              <a:rPr lang="en-US" sz="2000" cap="none" dirty="0">
                <a:latin typeface="Times New Roman" panose="02020603050405020304" pitchFamily="18" charset="0"/>
                <a:cs typeface="Times New Roman" panose="02020603050405020304" pitchFamily="18" charset="0"/>
              </a:rPr>
              <a:t> </a:t>
            </a:r>
            <a:endParaRPr lang="en-US" sz="2000" dirty="0">
              <a:latin typeface="Times New Roman" panose="02020603050405020304" pitchFamily="18" charset="0"/>
              <a:cs typeface="Times New Roman" panose="02020603050405020304" pitchFamily="18" charset="0"/>
            </a:endParaRPr>
          </a:p>
          <a:p>
            <a:pPr algn="just">
              <a:buNone/>
              <a:defRPr lang="en-US"/>
            </a:pPr>
            <a:r>
              <a:rPr lang="en-US" sz="2000" b="1" cap="none" dirty="0">
                <a:latin typeface="Times New Roman" panose="02020603050405020304" pitchFamily="18" charset="0"/>
                <a:cs typeface="Times New Roman" panose="02020603050405020304" pitchFamily="18" charset="0"/>
              </a:rPr>
              <a:t> </a:t>
            </a:r>
            <a:r>
              <a:rPr lang="en-US" sz="2000" cap="none" dirty="0">
                <a:latin typeface="Times New Roman" panose="02020603050405020304" pitchFamily="18" charset="0"/>
                <a:cs typeface="Times New Roman" panose="02020603050405020304" pitchFamily="18" charset="0"/>
              </a:rPr>
              <a:t> </a:t>
            </a:r>
          </a:p>
        </p:txBody>
      </p:sp>
      <p:sp>
        <p:nvSpPr>
          <p:cNvPr id="4" name="Slide Number Placeholder 4"/>
          <p:cNvSpPr>
            <a:spLocks noGrp="1" noChangeArrowheads="1"/>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A0AAAAAkAAAAEgAAACQAAAASAAAAAAAAAAB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F8AY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J/f38A5+bmA8zMzADAwP8Af39/AAAAAAAAAAAAAAAAAAAAAAAAAAAAIQAAABgAAAAUAAAA+DQAABonAADYRQAAWSkAABAAAAAmAAAACAAAAAAAAAAAAAAA"/>
              </a:ext>
            </a:extLst>
          </p:cNvSpPr>
          <p:nvPr>
            <p:ph type="sldNum" sz="quarter" idx="12"/>
          </p:nvPr>
        </p:nvSpPr>
        <p:spPr/>
        <p:txBody>
          <a:bodyPr/>
          <a:lstStyle/>
          <a:p>
            <a:pPr>
              <a:defRPr lang="en-US"/>
            </a:pPr>
            <a:fld id="{3B5AE36E-20D6-0F15-98E2-D640ADAC6E83}" type="slidenum">
              <a:rPr>
                <a:latin typeface="Times New Roman" panose="02020603050405020304" pitchFamily="18" charset="0"/>
                <a:cs typeface="Times New Roman" panose="02020603050405020304" pitchFamily="18" charset="0"/>
              </a:rPr>
              <a:t>3</a:t>
            </a:fld>
            <a:endParaRPr>
              <a:latin typeface="Times New Roman" panose="02020603050405020304" pitchFamily="18" charset="0"/>
              <a:cs typeface="Times New Roman" panose="02020603050405020304" pitchFamily="18" charset="0"/>
            </a:endParaRPr>
          </a:p>
        </p:txBody>
      </p:sp>
      <p:sp>
        <p:nvSpPr>
          <p:cNvPr id="5" name="TextBox 7"/>
          <p:cNvSpPr>
            <a:extLst>
              <a:ext uri="smNativeData">
                <pr:smNativeData xmlns="smNativeData" xmlns:pr="smNativeData" xmlns:p15="http://schemas.microsoft.com/office/powerpoint/2012/main" xmlns:p14="http://schemas.microsoft.com/office/powerpoint/2010/main" xmlns:mc="http://schemas.openxmlformats.org/markup-compatibility/2006" val="SMDATA_15_IWgsZxMAAAAlAAAAZAAAAE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BcAAAAUAAAAAAAAAAAAAAD/fwAA/38AAAAAAAAJAAAABAAAAAAAAAAeAAAAaAAAAAAAAAAAAAAAAAAAAAAAAAAAAAAAECcAABAnAAAAAAAAAAAAAAAAAAAAAAAAAAAAAAAAAAAAAAAAAAAAABQAAAAAAAAAwMD/AAAAAABkAAAAMgAAAAAAAABkAAAAAAAAAH9/fwAKAAAAIgAAABgAAAAAAAAAAAAAAAAAAAAAAAAAAAAAAAAAAAAkAAAAJAAAAAAAAAAHAAAAAAAAAAAAAAAAAAAAAAAAAAAAAAAAAAAAf39/ACUAAABYAAAAAAAAAAAAAAAAAAAAAAAAAAAAAAAAAAAAAAAAAAAAAAAAAAAAAAAAAAAAAAA/AAAAAAAAAKCGAQAAAAAAAAAAAAAAAAAMAAAAAQAAAAAAAAAAAAAAAAAAAB8AAABUAAAAW5vVBf///wEAAAAAAAAAAAAAAAAAAAAAAAAAAAAAAAAAAAAAAAAAAAAAAAB/f38A5+bmA8zMzADAwP8Af39/AAAAAAAAAAAAAAAAAAAAAAAAAAAAIQAAABgAAAAUAAAAZAMAAMkCAABkLgAAuQYAAAAgAAAmAAAACAAAAP//////////"/>
              </a:ext>
            </a:extLst>
          </p:cNvSpPr>
          <p:nvPr/>
        </p:nvSpPr>
        <p:spPr>
          <a:xfrm>
            <a:off x="551180" y="318074"/>
            <a:ext cx="6990080" cy="640080"/>
          </a:xfrm>
          <a:prstGeom prst="rect">
            <a:avLst/>
          </a:prstGeom>
          <a:noFill/>
          <a:ln>
            <a:noFill/>
          </a:ln>
          <a:effectLst/>
        </p:spPr>
        <p:txBody>
          <a:bodyPr vert="horz" wrap="square" lIns="91440" tIns="45720" rIns="91440" bIns="45720" numCol="1" spcCol="215900" anchor="t"/>
          <a:lstStyle/>
          <a:p>
            <a:pPr>
              <a:defRPr lang="en-US" cap="none">
                <a:latin typeface="Times New Roman" pitchFamily="1" charset="0"/>
                <a:ea typeface="Times New Roman" pitchFamily="1" charset="0"/>
                <a:cs typeface="Times New Roman" pitchFamily="1" charset="0"/>
              </a:defRPr>
            </a:pPr>
            <a:r>
              <a:rPr lang="en-US" sz="2400" b="1" dirty="0">
                <a:latin typeface="Times New Roman" panose="02020603050405020304" pitchFamily="18" charset="0"/>
                <a:ea typeface="Calibri" panose="020F0502020204030204" pitchFamily="34" charset="0"/>
                <a:cs typeface="Times New Roman" panose="02020603050405020304" pitchFamily="18" charset="0"/>
              </a:rPr>
              <a:t>NEED STATEMENT</a:t>
            </a:r>
            <a:r>
              <a:rPr lang="en-US" sz="2400" b="1" cap="none" dirty="0">
                <a:latin typeface="Times New Roman" panose="02020603050405020304" pitchFamily="18" charset="0"/>
                <a:ea typeface="Calibri" panose="020F0502020204030204" pitchFamily="34" charset="0"/>
                <a:cs typeface="Times New Roman" panose="02020603050405020304" pitchFamily="18" charset="0"/>
              </a:rPr>
              <a:t>:</a:t>
            </a:r>
          </a:p>
        </p:txBody>
      </p:sp>
      <p:sp>
        <p:nvSpPr>
          <p:cNvPr id="6" name="TextBox 5">
            <a:extLst>
              <a:ext uri="{FF2B5EF4-FFF2-40B4-BE49-F238E27FC236}">
                <a16:creationId xmlns:a16="http://schemas.microsoft.com/office/drawing/2014/main" id="{19AF961B-43C1-EE8E-607B-B80F7AD7D2CE}"/>
              </a:ext>
            </a:extLst>
          </p:cNvPr>
          <p:cNvSpPr txBox="1"/>
          <p:nvPr/>
        </p:nvSpPr>
        <p:spPr>
          <a:xfrm>
            <a:off x="551180" y="2469929"/>
            <a:ext cx="3401961" cy="461665"/>
          </a:xfrm>
          <a:prstGeom prst="rect">
            <a:avLst/>
          </a:prstGeom>
          <a:noFill/>
        </p:spPr>
        <p:txBody>
          <a:bodyPr wrap="square" rtlCol="0">
            <a:spAutoFit/>
          </a:bodyPr>
          <a:lstStyle/>
          <a:p>
            <a:r>
              <a:rPr lang="en-US" sz="2400" b="1" dirty="0">
                <a:latin typeface="Times New Roman" panose="02020603050405020304" pitchFamily="18" charset="0"/>
                <a:ea typeface="Calibri" panose="020F0502020204030204" pitchFamily="34" charset="0"/>
                <a:cs typeface="Times New Roman" panose="02020603050405020304" pitchFamily="18" charset="0"/>
              </a:rPr>
              <a:t>INTRODUCTION</a:t>
            </a:r>
            <a:r>
              <a:rPr lang="en-US" sz="2400" b="1" dirty="0">
                <a:latin typeface="Times New Roman" panose="02020603050405020304" pitchFamily="18" charset="0"/>
                <a:cs typeface="Times New Roman" panose="02020603050405020304" pitchFamily="18" charset="0"/>
              </a:rPr>
              <a:t>:</a:t>
            </a:r>
            <a:endParaRPr lang="en-IN" sz="2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9CD64CBE-1804-0336-AD2F-E448930A2801}"/>
              </a:ext>
            </a:extLst>
          </p:cNvPr>
          <p:cNvSpPr txBox="1"/>
          <p:nvPr/>
        </p:nvSpPr>
        <p:spPr>
          <a:xfrm>
            <a:off x="677659" y="3238128"/>
            <a:ext cx="6470394" cy="2954655"/>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342900" marR="0" lvl="0" indent="-342900" algn="just" defTabSz="914400" rtl="0" eaLnBrk="0" fontAlgn="base" latinLnBrk="0" hangingPunct="0">
              <a:lnSpc>
                <a:spcPct val="100000"/>
              </a:lnSpc>
              <a:spcBef>
                <a:spcPct val="0"/>
              </a:spcBef>
              <a:spcAft>
                <a:spcPts val="180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Traffic congestion and safety challenges are straining traditional systems. </a:t>
            </a:r>
          </a:p>
          <a:p>
            <a:pPr marL="342900" marR="0" lvl="0" indent="-342900" algn="just" defTabSz="914400" rtl="0" eaLnBrk="0" fontAlgn="base" latinLnBrk="0" hangingPunct="0">
              <a:lnSpc>
                <a:spcPct val="100000"/>
              </a:lnSpc>
              <a:spcBef>
                <a:spcPct val="0"/>
              </a:spcBef>
              <a:spcAft>
                <a:spcPts val="180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V2V communication allows vehicles to share real-time data. </a:t>
            </a:r>
          </a:p>
          <a:p>
            <a:pPr marL="342900" marR="0" lvl="0" indent="-342900" algn="just" defTabSz="914400" rtl="0" eaLnBrk="0" fontAlgn="base" latinLnBrk="0" hangingPunct="0">
              <a:lnSpc>
                <a:spcPct val="100000"/>
              </a:lnSpc>
              <a:spcBef>
                <a:spcPct val="0"/>
              </a:spcBef>
              <a:spcAft>
                <a:spcPts val="180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improves road safety and traffic efficiency. </a:t>
            </a:r>
          </a:p>
          <a:p>
            <a:pPr marL="342900" marR="0" lvl="0" indent="-342900" algn="just" defTabSz="914400" rtl="0" eaLnBrk="0" fontAlgn="base" latinLnBrk="0" hangingPunct="0">
              <a:lnSpc>
                <a:spcPct val="100000"/>
              </a:lnSpc>
              <a:spcBef>
                <a:spcPct val="0"/>
              </a:spcBef>
              <a:spcAft>
                <a:spcPts val="1800"/>
              </a:spcAft>
              <a:buClrTx/>
              <a:buSzTx/>
              <a:buFont typeface="+mj-lt"/>
              <a:buAutoNum type="arabicPeriod"/>
              <a:tabLst/>
            </a:pPr>
            <a:r>
              <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V2V is vital for the future of smart and safe transportation. </a:t>
            </a:r>
          </a:p>
          <a:p>
            <a:endParaRPr lang="en-IN" dirty="0">
              <a:latin typeface="Times New Roman" panose="02020603050405020304" pitchFamily="18" charset="0"/>
              <a:cs typeface="Times New Roman" panose="02020603050405020304" pitchFamily="18" charset="0"/>
            </a:endParaRPr>
          </a:p>
        </p:txBody>
      </p:sp>
      <p:pic>
        <p:nvPicPr>
          <p:cNvPr id="13" name="Picture 12">
            <a:extLst>
              <a:ext uri="{FF2B5EF4-FFF2-40B4-BE49-F238E27FC236}">
                <a16:creationId xmlns:a16="http://schemas.microsoft.com/office/drawing/2014/main" id="{A8A9FD24-A62C-DA81-306B-175CC5F25E3E}"/>
              </a:ext>
            </a:extLst>
          </p:cNvPr>
          <p:cNvPicPr>
            <a:picLocks noChangeAspect="1"/>
          </p:cNvPicPr>
          <p:nvPr/>
        </p:nvPicPr>
        <p:blipFill>
          <a:blip r:embed="rId2">
            <a:extLst>
              <a:ext uri="{28A0092B-C50C-407E-A947-70E740481C1C}">
                <a14:useLocalDpi xmlns:a14="http://schemas.microsoft.com/office/drawing/2010/main" val="0"/>
              </a:ext>
            </a:extLst>
          </a:blip>
          <a:srcRect t="40167"/>
          <a:stretch/>
        </p:blipFill>
        <p:spPr>
          <a:xfrm>
            <a:off x="7344698" y="3146323"/>
            <a:ext cx="4467612" cy="3128243"/>
          </a:xfrm>
          <a:prstGeom prst="rect">
            <a:avLst/>
          </a:prstGeom>
        </p:spPr>
      </p:pic>
      <p:sp>
        <p:nvSpPr>
          <p:cNvPr id="7" name="Footer Placeholder 3">
            <a:extLst>
              <a:ext uri="{FF2B5EF4-FFF2-40B4-BE49-F238E27FC236}">
                <a16:creationId xmlns:a16="http://schemas.microsoft.com/office/drawing/2014/main" id="{0CC4A490-EBFB-EF69-026C-C15C99BDE7F8}"/>
              </a:ext>
            </a:extLst>
          </p:cNvPr>
          <p:cNvSpPr>
            <a:spLocks noGrp="1"/>
          </p:cNvSpPr>
          <p:nvPr>
            <p:ph type="ftr" sz="quarter" idx="11"/>
          </p:nvPr>
        </p:nvSpPr>
        <p:spPr>
          <a:xfrm>
            <a:off x="4038600"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D1AA636-2F82-B6D9-E879-1995648F7954}"/>
              </a:ext>
            </a:extLst>
          </p:cNvPr>
          <p:cNvSpPr>
            <a:spLocks noGrp="1"/>
          </p:cNvSpPr>
          <p:nvPr>
            <p:ph type="sldNum" sz="quarter" idx="12"/>
          </p:nvPr>
        </p:nvSpPr>
        <p:spPr>
          <a:xfrm>
            <a:off x="8610600" y="6356350"/>
            <a:ext cx="2724052" cy="365125"/>
          </a:xfrm>
        </p:spPr>
        <p:txBody>
          <a:bodyPr/>
          <a:lstStyle/>
          <a:p>
            <a:fld id="{14664CE2-A199-492D-95BF-8BD1FF457610}" type="slidenum">
              <a:rPr lang="en-US" smtClean="0">
                <a:latin typeface="Times New Roman" panose="02020603050405020304" pitchFamily="18" charset="0"/>
                <a:cs typeface="Times New Roman" panose="02020603050405020304" pitchFamily="18" charset="0"/>
              </a:rPr>
              <a:t>4</a:t>
            </a:fld>
            <a:endParaRPr lang="en-US">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187DE83B-9211-A2CE-E1EE-C77E3DCEF185}"/>
              </a:ext>
            </a:extLst>
          </p:cNvPr>
          <p:cNvGraphicFramePr>
            <a:graphicFrameLocks noGrp="1"/>
          </p:cNvGraphicFramePr>
          <p:nvPr>
            <p:extLst>
              <p:ext uri="{D42A27DB-BD31-4B8C-83A1-F6EECF244321}">
                <p14:modId xmlns:p14="http://schemas.microsoft.com/office/powerpoint/2010/main" val="82737925"/>
              </p:ext>
            </p:extLst>
          </p:nvPr>
        </p:nvGraphicFramePr>
        <p:xfrm>
          <a:off x="164841" y="580877"/>
          <a:ext cx="11779519" cy="6161412"/>
        </p:xfrm>
        <a:graphic>
          <a:graphicData uri="http://schemas.openxmlformats.org/drawingml/2006/table">
            <a:tbl>
              <a:tblPr firstRow="1" bandRow="1">
                <a:tableStyleId>{3B4B98B0-60AC-42C2-AFA5-B58CD77FA1E5}</a:tableStyleId>
              </a:tblPr>
              <a:tblGrid>
                <a:gridCol w="1594846">
                  <a:extLst>
                    <a:ext uri="{9D8B030D-6E8A-4147-A177-3AD203B41FA5}">
                      <a16:colId xmlns:a16="http://schemas.microsoft.com/office/drawing/2014/main" val="1133730344"/>
                    </a:ext>
                  </a:extLst>
                </a:gridCol>
                <a:gridCol w="687745">
                  <a:extLst>
                    <a:ext uri="{9D8B030D-6E8A-4147-A177-3AD203B41FA5}">
                      <a16:colId xmlns:a16="http://schemas.microsoft.com/office/drawing/2014/main" val="4066863294"/>
                    </a:ext>
                  </a:extLst>
                </a:gridCol>
                <a:gridCol w="1284461">
                  <a:extLst>
                    <a:ext uri="{9D8B030D-6E8A-4147-A177-3AD203B41FA5}">
                      <a16:colId xmlns:a16="http://schemas.microsoft.com/office/drawing/2014/main" val="3292425899"/>
                    </a:ext>
                  </a:extLst>
                </a:gridCol>
                <a:gridCol w="4233244">
                  <a:extLst>
                    <a:ext uri="{9D8B030D-6E8A-4147-A177-3AD203B41FA5}">
                      <a16:colId xmlns:a16="http://schemas.microsoft.com/office/drawing/2014/main" val="2910156043"/>
                    </a:ext>
                  </a:extLst>
                </a:gridCol>
                <a:gridCol w="3979223">
                  <a:extLst>
                    <a:ext uri="{9D8B030D-6E8A-4147-A177-3AD203B41FA5}">
                      <a16:colId xmlns:a16="http://schemas.microsoft.com/office/drawing/2014/main" val="3795550958"/>
                    </a:ext>
                  </a:extLst>
                </a:gridCol>
              </a:tblGrid>
              <a:tr h="267685">
                <a:tc>
                  <a:txBody>
                    <a:bodyPr/>
                    <a:lstStyle/>
                    <a:p>
                      <a:pPr algn="ctr"/>
                      <a:r>
                        <a:rPr lang="en-US" sz="1400" b="1" dirty="0">
                          <a:latin typeface="Times New Roman" panose="02020603050405020304" pitchFamily="18" charset="0"/>
                          <a:cs typeface="Times New Roman" panose="02020603050405020304" pitchFamily="18" charset="0"/>
                        </a:rPr>
                        <a:t>TITLE</a:t>
                      </a:r>
                      <a:endParaRPr lang="en-IN" sz="1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Times New Roman" panose="02020603050405020304" pitchFamily="18" charset="0"/>
                          <a:cs typeface="Times New Roman" panose="02020603050405020304" pitchFamily="18" charset="0"/>
                        </a:rPr>
                        <a:t>YEAR</a:t>
                      </a:r>
                      <a:endParaRPr lang="en-IN" sz="1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1" dirty="0">
                          <a:latin typeface="Times New Roman" panose="02020603050405020304" pitchFamily="18" charset="0"/>
                          <a:cs typeface="Times New Roman" panose="02020603050405020304" pitchFamily="18" charset="0"/>
                        </a:rPr>
                        <a:t>AUTHORS</a:t>
                      </a:r>
                      <a:endParaRPr lang="en-IN" sz="14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lnSpc>
                          <a:spcPct val="115000"/>
                        </a:lnSpc>
                        <a:spcAft>
                          <a:spcPts val="1000"/>
                        </a:spcAft>
                      </a:pPr>
                      <a:r>
                        <a:rPr lang="en-US" sz="1400" b="1" dirty="0">
                          <a:effectLst/>
                          <a:latin typeface="Times New Roman" panose="02020603050405020304" pitchFamily="18" charset="0"/>
                          <a:ea typeface="Calibri" panose="020F0502020204030204" pitchFamily="34" charset="0"/>
                          <a:cs typeface="Times New Roman" panose="02020603050405020304" pitchFamily="18" charset="0"/>
                        </a:rPr>
                        <a:t>LIMITATIONS</a:t>
                      </a:r>
                      <a:endParaRPr lang="en-IN" sz="14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870742731"/>
                  </a:ext>
                </a:extLst>
              </a:tr>
              <a:tr h="1754826">
                <a:tc>
                  <a:txBody>
                    <a:bodyPr/>
                    <a:lstStyle/>
                    <a:p>
                      <a:pPr marL="0" marR="0" lvl="0" indent="0" algn="l" defTabSz="914400" eaLnBrk="1" fontAlgn="auto" latinLnBrk="0" hangingPunct="1">
                        <a:lnSpc>
                          <a:spcPct val="100000"/>
                        </a:lnSpc>
                        <a:spcBef>
                          <a:spcPts val="0"/>
                        </a:spcBef>
                        <a:spcAft>
                          <a:spcPts val="0"/>
                        </a:spcAft>
                        <a:buClrTx/>
                        <a:buSzTx/>
                        <a:buFontTx/>
                        <a:buNone/>
                        <a:tabLst/>
                        <a:defRPr/>
                      </a:pPr>
                      <a:r>
                        <a:rPr lang="en-US" sz="1400" b="0" dirty="0"/>
                        <a:t>Simulation-Based V2V and Base Station Communication</a:t>
                      </a:r>
                    </a:p>
                    <a:p>
                      <a:endParaRPr lang="en-IN"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b="0" dirty="0">
                          <a:latin typeface="Times New Roman" panose="02020603050405020304" pitchFamily="18" charset="0"/>
                          <a:cs typeface="Times New Roman" panose="02020603050405020304" pitchFamily="18" charset="0"/>
                        </a:rPr>
                        <a:t>2024</a:t>
                      </a:r>
                      <a:endParaRPr lang="en-IN"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r>
                        <a:rPr lang="en-IN" sz="1400" b="0" dirty="0">
                          <a:latin typeface="Times New Roman" panose="02020603050405020304" pitchFamily="18" charset="0"/>
                          <a:cs typeface="Times New Roman" panose="02020603050405020304" pitchFamily="18" charset="0"/>
                        </a:rPr>
                        <a:t>Rashid Ali, Dil Nawaz </a:t>
                      </a:r>
                      <a:r>
                        <a:rPr lang="en-IN" sz="1400" b="0" dirty="0" err="1">
                          <a:latin typeface="Times New Roman" panose="02020603050405020304" pitchFamily="18" charset="0"/>
                          <a:cs typeface="Times New Roman" panose="02020603050405020304" pitchFamily="18" charset="0"/>
                        </a:rPr>
                        <a:t>Hakro</a:t>
                      </a:r>
                      <a:r>
                        <a:rPr lang="en-IN" sz="1400" b="0" dirty="0">
                          <a:latin typeface="Times New Roman" panose="02020603050405020304" pitchFamily="18" charset="0"/>
                          <a:cs typeface="Times New Roman" panose="02020603050405020304" pitchFamily="18" charset="0"/>
                        </a:rPr>
                        <a:t> , M. Rizwan Tanweer, Amjad Ali Kamboh</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400" dirty="0"/>
                        <a:t>Simulated road scenarios (square, triangle, straight) using MATLAB 2017</a:t>
                      </a:r>
                    </a:p>
                    <a:p>
                      <a:pPr marL="285750" indent="-285750" algn="just">
                        <a:buFont typeface="Arial" panose="020B0604020202020204" pitchFamily="34" charset="0"/>
                        <a:buChar char="•"/>
                      </a:pPr>
                      <a:r>
                        <a:rPr lang="en-US" sz="1400" dirty="0"/>
                        <a:t>Used DSRC with Massive MIMO for V2V communication.</a:t>
                      </a:r>
                    </a:p>
                    <a:p>
                      <a:pPr marL="285750" indent="-285750" algn="just">
                        <a:buFont typeface="Arial" panose="020B0604020202020204" pitchFamily="34" charset="0"/>
                        <a:buChar char="•"/>
                      </a:pPr>
                      <a:r>
                        <a:rPr lang="en-US" sz="1400" dirty="0"/>
                        <a:t> GSM towers monitored real-time vehicle data like speed and location.</a:t>
                      </a:r>
                      <a:endParaRPr lang="en-IN" sz="1400" dirty="0"/>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400" dirty="0"/>
                        <a:t>GSM towers have limited coverage, leading to potential communication gaps.</a:t>
                      </a:r>
                    </a:p>
                    <a:p>
                      <a:pPr marL="285750" indent="-285750" algn="just">
                        <a:buFont typeface="Arial" panose="020B0604020202020204" pitchFamily="34" charset="0"/>
                        <a:buChar char="•"/>
                      </a:pPr>
                      <a:r>
                        <a:rPr lang="en-US" sz="1400" dirty="0"/>
                        <a:t>Simulation-based, lacking real-world validation.</a:t>
                      </a:r>
                    </a:p>
                    <a:p>
                      <a:pPr marL="285750" indent="-285750" algn="just">
                        <a:buFont typeface="Arial" panose="020B0604020202020204" pitchFamily="34" charset="0"/>
                        <a:buChar char="•"/>
                      </a:pPr>
                      <a:r>
                        <a:rPr lang="en-US" sz="1400" dirty="0"/>
                        <a:t>Scalability issues with increasing traffic and infrastructure demands.</a:t>
                      </a:r>
                      <a:endParaRPr lang="en-IN" sz="1400" dirty="0"/>
                    </a:p>
                    <a:p>
                      <a:pPr marL="0" indent="0" algn="l">
                        <a:lnSpc>
                          <a:spcPct val="115000"/>
                        </a:lnSpc>
                        <a:spcAft>
                          <a:spcPts val="1000"/>
                        </a:spcAft>
                        <a:buFont typeface="Arial" panose="020B0604020202020204" pitchFamily="34" charset="0"/>
                        <a:buNone/>
                      </a:pP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16727783"/>
                  </a:ext>
                </a:extLst>
              </a:tr>
              <a:tr h="1754826">
                <a:tc>
                  <a:txBody>
                    <a:bodyPr/>
                    <a:lstStyle/>
                    <a:p>
                      <a:pPr algn="just"/>
                      <a:endParaRPr lang="en-US" sz="1400" b="0" dirty="0"/>
                    </a:p>
                    <a:p>
                      <a:pPr algn="just"/>
                      <a:r>
                        <a:rPr lang="en-US" sz="1400" b="0" dirty="0"/>
                        <a:t>Agent-Based Scheduling Scheme for IEEE 802.11p</a:t>
                      </a:r>
                      <a:endParaRPr lang="en-IN" sz="1400" b="0" dirty="0"/>
                    </a:p>
                    <a:p>
                      <a:endParaRPr lang="en-IN"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Times New Roman" panose="02020603050405020304" pitchFamily="18" charset="0"/>
                          <a:cs typeface="Times New Roman" panose="02020603050405020304" pitchFamily="18" charset="0"/>
                        </a:rPr>
                        <a:t>2020</a:t>
                      </a:r>
                      <a:endParaRPr lang="en-IN"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0" dirty="0">
                          <a:latin typeface="Times New Roman" panose="02020603050405020304" pitchFamily="18" charset="0"/>
                          <a:cs typeface="Times New Roman" panose="02020603050405020304" pitchFamily="18" charset="0"/>
                        </a:rPr>
                        <a:t>Shiann-Tsong Sheu, Yen-Chieh Cheng, Ping-Jung Hsieh, and Jung-Shyr Wu</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400" dirty="0"/>
                        <a:t>ABS scheme divides SCH into Contention (C-SCH) and Service (S-SCH) channels.</a:t>
                      </a:r>
                    </a:p>
                    <a:p>
                      <a:pPr marL="285750" indent="-285750" algn="just">
                        <a:buFont typeface="Arial" panose="020B0604020202020204" pitchFamily="34" charset="0"/>
                        <a:buChar char="•"/>
                      </a:pPr>
                      <a:r>
                        <a:rPr lang="en-US" sz="1400" dirty="0"/>
                        <a:t>Location-Based Backoff (LBB) elects the closest OBU(On Board-Unit) as the Agent to minimize collisions.</a:t>
                      </a:r>
                    </a:p>
                    <a:p>
                      <a:pPr marL="285750" indent="-285750" algn="just">
                        <a:buFont typeface="Arial" panose="020B0604020202020204" pitchFamily="34" charset="0"/>
                        <a:buChar char="•"/>
                      </a:pPr>
                      <a:r>
                        <a:rPr lang="en-US" sz="1400" dirty="0"/>
                        <a:t> Agent schedules OBUs for contention-free communication.</a:t>
                      </a:r>
                      <a:endParaRPr lang="en-IN" sz="1400" dirty="0"/>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lgn="just">
                        <a:buFont typeface="Arial" panose="020B0604020202020204" pitchFamily="34" charset="0"/>
                        <a:buChar char="•"/>
                      </a:pPr>
                      <a:r>
                        <a:rPr lang="en-US" sz="1400" dirty="0"/>
                        <a:t>Reliance on accurate Agent selection; errors may disrupt the system.</a:t>
                      </a:r>
                    </a:p>
                    <a:p>
                      <a:pPr marL="285750" indent="-285750" algn="just">
                        <a:buFont typeface="Arial" panose="020B0604020202020204" pitchFamily="34" charset="0"/>
                        <a:buChar char="•"/>
                      </a:pPr>
                      <a:r>
                        <a:rPr lang="en-US" sz="1400" dirty="0"/>
                        <a:t> Extra control frames introduce overhead, reducing efficiency.</a:t>
                      </a:r>
                    </a:p>
                    <a:p>
                      <a:pPr marL="285750" indent="-285750" algn="just">
                        <a:buFont typeface="Arial" panose="020B0604020202020204" pitchFamily="34" charset="0"/>
                        <a:buChar char="•"/>
                      </a:pPr>
                      <a:r>
                        <a:rPr lang="en-US" sz="1400" dirty="0"/>
                        <a:t> Dependency on precise GPS data, which may suffer from inaccuracies.</a:t>
                      </a:r>
                      <a:endParaRPr lang="en-IN" sz="1400" dirty="0"/>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816335983"/>
                  </a:ext>
                </a:extLst>
              </a:tr>
              <a:tr h="1998136">
                <a:tc>
                  <a:txBody>
                    <a:bodyPr/>
                    <a:lstStyle/>
                    <a:p>
                      <a:pPr algn="l">
                        <a:lnSpc>
                          <a:spcPct val="115000"/>
                        </a:lnSpc>
                        <a:spcAft>
                          <a:spcPts val="1000"/>
                        </a:spcAft>
                      </a:pPr>
                      <a:r>
                        <a:rPr lang="en-US" sz="1400" dirty="0"/>
                        <a:t>Real-time V2V Communication Device for Enhanced Road Safety </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b="0" dirty="0">
                          <a:latin typeface="Times New Roman" panose="02020603050405020304" pitchFamily="18" charset="0"/>
                          <a:cs typeface="Times New Roman" panose="02020603050405020304" pitchFamily="18" charset="0"/>
                        </a:rPr>
                        <a:t>2021</a:t>
                      </a:r>
                      <a:endParaRPr lang="en-IN" sz="14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15000"/>
                        </a:lnSpc>
                        <a:spcAft>
                          <a:spcPts val="1000"/>
                        </a:spcAft>
                      </a:pPr>
                      <a:r>
                        <a:rPr lang="en-IN" sz="1400" dirty="0" err="1"/>
                        <a:t>Velugula</a:t>
                      </a:r>
                      <a:r>
                        <a:rPr lang="en-IN" sz="1400" dirty="0"/>
                        <a:t> Charan Pallav, Samarth S, Srijith C Shetty, Pappa M, </a:t>
                      </a:r>
                      <a:r>
                        <a:rPr lang="en-IN" sz="1400" dirty="0" err="1"/>
                        <a:t>Sabrish</a:t>
                      </a:r>
                      <a:r>
                        <a:rPr lang="en-IN" sz="1400" dirty="0"/>
                        <a:t> B, and Sridevi S.</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400" b="1" dirty="0"/>
                        <a:t>Data Collection and Transmission:</a:t>
                      </a:r>
                      <a:r>
                        <a:rPr lang="en-IN" sz="1400" dirty="0"/>
                        <a:t> Acquire GPS data via NEO-6M module, process it with Arduino Uno, and transmit through nRF24L01 transceivers.</a:t>
                      </a:r>
                    </a:p>
                    <a:p>
                      <a:r>
                        <a:rPr lang="en-IN" sz="1400" b="1" dirty="0"/>
                        <a:t>Wireless Communication:</a:t>
                      </a:r>
                      <a:r>
                        <a:rPr lang="en-IN" sz="1400" dirty="0"/>
                        <a:t> Ensure peer-to-peer data exchange among vehicles using reliable encoded packets.</a:t>
                      </a:r>
                    </a:p>
                    <a:p>
                      <a:r>
                        <a:rPr lang="en-IN" sz="1400" b="1" dirty="0"/>
                        <a:t>Hazard Detection and Alerts:</a:t>
                      </a:r>
                      <a:r>
                        <a:rPr lang="en-IN" sz="1400" dirty="0"/>
                        <a:t> </a:t>
                      </a:r>
                      <a:r>
                        <a:rPr lang="en-IN" sz="1400" dirty="0" err="1"/>
                        <a:t>Analyze</a:t>
                      </a:r>
                      <a:r>
                        <a:rPr lang="en-IN" sz="1400" dirty="0"/>
                        <a:t> received data for proximity and speed risks, triggering real-time visual/audio alerts.</a:t>
                      </a:r>
                    </a:p>
                    <a:p>
                      <a:r>
                        <a:rPr lang="en-IN" sz="1400" b="1" dirty="0"/>
                        <a:t>Map Integration:</a:t>
                      </a:r>
                      <a:r>
                        <a:rPr lang="en-IN" sz="1400" dirty="0"/>
                        <a:t> Display real-time vehicle data and alerts dynamically on a web-based map using Leaflet.js</a:t>
                      </a:r>
                      <a:endParaRPr lang="en-IN" sz="14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400" dirty="0"/>
                        <a:t>Limited range of communication (up to 100 meters).</a:t>
                      </a:r>
                    </a:p>
                    <a:p>
                      <a:r>
                        <a:rPr lang="en-US" sz="1400" dirty="0"/>
                        <a:t>Performance affected by interference in urban areas.</a:t>
                      </a:r>
                    </a:p>
                    <a:p>
                      <a:r>
                        <a:rPr lang="en-US" sz="1400" dirty="0"/>
                        <a:t>GPS accuracy issues near tall buildings.</a:t>
                      </a:r>
                    </a:p>
                    <a:p>
                      <a:r>
                        <a:rPr lang="en-US" sz="1400" dirty="0"/>
                        <a:t>Latency in hazard detection, especially in urban settings.</a:t>
                      </a: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 name="TextBox 1">
            <a:extLst>
              <a:ext uri="{FF2B5EF4-FFF2-40B4-BE49-F238E27FC236}">
                <a16:creationId xmlns:a16="http://schemas.microsoft.com/office/drawing/2014/main" id="{754921E1-6A35-B0BE-1E53-7D10AF801F35}"/>
              </a:ext>
            </a:extLst>
          </p:cNvPr>
          <p:cNvSpPr txBox="1"/>
          <p:nvPr/>
        </p:nvSpPr>
        <p:spPr>
          <a:xfrm>
            <a:off x="164842" y="0"/>
            <a:ext cx="501675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LITERATURE SURVEY:</a:t>
            </a:r>
            <a:endParaRPr lang="en-IN" sz="2400" b="1" dirty="0">
              <a:latin typeface="Times New Roman" panose="02020603050405020304" pitchFamily="18" charset="0"/>
              <a:cs typeface="Times New Roman" panose="02020603050405020304" pitchFamily="18" charset="0"/>
            </a:endParaRPr>
          </a:p>
        </p:txBody>
      </p:sp>
      <p:sp>
        <p:nvSpPr>
          <p:cNvPr id="6" name="Footer Placeholder 3">
            <a:extLst>
              <a:ext uri="{FF2B5EF4-FFF2-40B4-BE49-F238E27FC236}">
                <a16:creationId xmlns:a16="http://schemas.microsoft.com/office/drawing/2014/main" id="{E1E755E6-4293-FB42-364B-FC4B42000AE6}"/>
              </a:ext>
            </a:extLst>
          </p:cNvPr>
          <p:cNvSpPr>
            <a:spLocks noGrp="1"/>
          </p:cNvSpPr>
          <p:nvPr>
            <p:ph type="ftr" sz="quarter" idx="11"/>
          </p:nvPr>
        </p:nvSpPr>
        <p:spPr>
          <a:xfrm>
            <a:off x="3810000" y="6380726"/>
            <a:ext cx="4540087" cy="365125"/>
          </a:xfrm>
        </p:spPr>
        <p:txBody>
          <a:bodyPr/>
          <a:lstStyle/>
          <a:p>
            <a:r>
              <a:rPr lang="en-US" dirty="0">
                <a:latin typeface="Times New Roman" panose="02020603050405020304" pitchFamily="18" charset="0"/>
                <a:cs typeface="Times New Roman" panose="02020603050405020304" pitchFamily="18" charset="0"/>
              </a:rPr>
              <a:t>V2V COMMUNICATION:ENHANCING SAFETY AND TRAFFIC FLOW</a:t>
            </a:r>
          </a:p>
        </p:txBody>
      </p:sp>
    </p:spTree>
    <p:extLst>
      <p:ext uri="{BB962C8B-B14F-4D97-AF65-F5344CB8AC3E}">
        <p14:creationId xmlns:p14="http://schemas.microsoft.com/office/powerpoint/2010/main" val="124821349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5C6D2DE-494B-DAE9-E2A5-F83509E5217E}"/>
              </a:ext>
            </a:extLst>
          </p:cNvPr>
          <p:cNvSpPr>
            <a:spLocks noGrp="1"/>
          </p:cNvSpPr>
          <p:nvPr>
            <p:ph type="dt" sz="half" idx="10"/>
          </p:nvPr>
        </p:nvSpPr>
        <p:spPr/>
        <p:txBody>
          <a:bodyPr/>
          <a:lstStyle/>
          <a:p>
            <a:pPr>
              <a:defRPr lang="en-US"/>
            </a:pPr>
            <a:fld id="{3B5ABF8C-C2D6-0F49-98E2-341CF1AC6E61}" type="datetime1">
              <a:rPr lang="en-IN" smtClean="0">
                <a:latin typeface="Times New Roman" panose="02020603050405020304" pitchFamily="18" charset="0"/>
                <a:cs typeface="Times New Roman" panose="02020603050405020304" pitchFamily="18" charset="0"/>
              </a:rPr>
              <a:t>27-11-2025</a:t>
            </a:fld>
            <a:endParaRPr lang="en-IN">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9B96CAD4-DFD0-44AF-ED13-4B28ACBE7A28}"/>
              </a:ext>
            </a:extLst>
          </p:cNvPr>
          <p:cNvSpPr>
            <a:spLocks noGrp="1"/>
          </p:cNvSpPr>
          <p:nvPr>
            <p:ph type="sldNum" sz="quarter" idx="12"/>
          </p:nvPr>
        </p:nvSpPr>
        <p:spPr/>
        <p:txBody>
          <a:bodyPr/>
          <a:lstStyle/>
          <a:p>
            <a:pPr>
              <a:defRPr lang="en-US"/>
            </a:pPr>
            <a:fld id="{3B5A8AA3-EDD6-0F7C-98E2-1B29C4AC6E4E}" type="slidenum">
              <a:rPr lang="en-IN" smtClean="0">
                <a:latin typeface="Times New Roman" panose="02020603050405020304" pitchFamily="18" charset="0"/>
                <a:cs typeface="Times New Roman" panose="02020603050405020304" pitchFamily="18" charset="0"/>
              </a:rPr>
              <a:t>5</a:t>
            </a:fld>
            <a:endParaRPr lang="en-IN">
              <a:latin typeface="Times New Roman" panose="02020603050405020304" pitchFamily="18" charset="0"/>
              <a:cs typeface="Times New Roman" panose="02020603050405020304" pitchFamily="18" charset="0"/>
            </a:endParaRPr>
          </a:p>
        </p:txBody>
      </p:sp>
      <p:graphicFrame>
        <p:nvGraphicFramePr>
          <p:cNvPr id="7" name="Table 6">
            <a:extLst>
              <a:ext uri="{FF2B5EF4-FFF2-40B4-BE49-F238E27FC236}">
                <a16:creationId xmlns:a16="http://schemas.microsoft.com/office/drawing/2014/main" id="{BDFA4F17-2970-11DF-A4E0-A46C9F7BF0E4}"/>
              </a:ext>
            </a:extLst>
          </p:cNvPr>
          <p:cNvGraphicFramePr>
            <a:graphicFrameLocks noGrp="1"/>
          </p:cNvGraphicFramePr>
          <p:nvPr>
            <p:extLst>
              <p:ext uri="{D42A27DB-BD31-4B8C-83A1-F6EECF244321}">
                <p14:modId xmlns:p14="http://schemas.microsoft.com/office/powerpoint/2010/main" val="2876820482"/>
              </p:ext>
            </p:extLst>
          </p:nvPr>
        </p:nvGraphicFramePr>
        <p:xfrm>
          <a:off x="400062" y="98320"/>
          <a:ext cx="11391875" cy="6573728"/>
        </p:xfrm>
        <a:graphic>
          <a:graphicData uri="http://schemas.openxmlformats.org/drawingml/2006/table">
            <a:tbl>
              <a:tblPr firstRow="1" bandRow="1">
                <a:tableStyleId>{3B4B98B0-60AC-42C2-AFA5-B58CD77FA1E5}</a:tableStyleId>
              </a:tblPr>
              <a:tblGrid>
                <a:gridCol w="1553368">
                  <a:extLst>
                    <a:ext uri="{9D8B030D-6E8A-4147-A177-3AD203B41FA5}">
                      <a16:colId xmlns:a16="http://schemas.microsoft.com/office/drawing/2014/main" val="3755864134"/>
                    </a:ext>
                  </a:extLst>
                </a:gridCol>
                <a:gridCol w="735805">
                  <a:extLst>
                    <a:ext uri="{9D8B030D-6E8A-4147-A177-3AD203B41FA5}">
                      <a16:colId xmlns:a16="http://schemas.microsoft.com/office/drawing/2014/main" val="505930447"/>
                    </a:ext>
                  </a:extLst>
                </a:gridCol>
                <a:gridCol w="1304734">
                  <a:extLst>
                    <a:ext uri="{9D8B030D-6E8A-4147-A177-3AD203B41FA5}">
                      <a16:colId xmlns:a16="http://schemas.microsoft.com/office/drawing/2014/main" val="1422135474"/>
                    </a:ext>
                  </a:extLst>
                </a:gridCol>
                <a:gridCol w="4348664">
                  <a:extLst>
                    <a:ext uri="{9D8B030D-6E8A-4147-A177-3AD203B41FA5}">
                      <a16:colId xmlns:a16="http://schemas.microsoft.com/office/drawing/2014/main" val="704005008"/>
                    </a:ext>
                  </a:extLst>
                </a:gridCol>
                <a:gridCol w="3449304">
                  <a:extLst>
                    <a:ext uri="{9D8B030D-6E8A-4147-A177-3AD203B41FA5}">
                      <a16:colId xmlns:a16="http://schemas.microsoft.com/office/drawing/2014/main" val="3373673120"/>
                    </a:ext>
                  </a:extLst>
                </a:gridCol>
              </a:tblGrid>
              <a:tr h="355808">
                <a:tc>
                  <a:txBody>
                    <a:bodyPr/>
                    <a:lstStyle/>
                    <a:p>
                      <a:pPr algn="l">
                        <a:lnSpc>
                          <a:spcPct val="115000"/>
                        </a:lnSpc>
                        <a:spcAft>
                          <a:spcPts val="1000"/>
                        </a:spcAft>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TITLE</a:t>
                      </a:r>
                      <a:endParaRPr lang="en-IN" sz="12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latin typeface="Times New Roman" panose="02020603050405020304" pitchFamily="18" charset="0"/>
                          <a:cs typeface="Times New Roman" panose="02020603050405020304" pitchFamily="18" charset="0"/>
                        </a:rPr>
                        <a:t>YEAR</a:t>
                      </a:r>
                      <a:endParaRPr lang="en-IN" sz="1200" b="1"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15000"/>
                        </a:lnSpc>
                        <a:spcAft>
                          <a:spcPts val="1000"/>
                        </a:spcAft>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AUTHORS</a:t>
                      </a:r>
                      <a:endParaRPr lang="en-IN" sz="12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indent="-171450" algn="l">
                        <a:lnSpc>
                          <a:spcPct val="115000"/>
                        </a:lnSpc>
                        <a:spcAft>
                          <a:spcPts val="1000"/>
                        </a:spcAft>
                        <a:buFont typeface="Arial" panose="020B0604020202020204" pitchFamily="34" charset="0"/>
                        <a:buChar char="•"/>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METHODOLOGY</a:t>
                      </a:r>
                      <a:endParaRPr lang="en-IN" sz="12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lgn="l">
                        <a:lnSpc>
                          <a:spcPct val="115000"/>
                        </a:lnSpc>
                        <a:spcAft>
                          <a:spcPts val="1000"/>
                        </a:spcAft>
                        <a:buFont typeface="Arial" panose="020B0604020202020204" pitchFamily="34" charset="0"/>
                        <a:buNone/>
                      </a:pPr>
                      <a:r>
                        <a:rPr lang="en-US" sz="1200" b="1" dirty="0">
                          <a:effectLst/>
                          <a:latin typeface="Times New Roman" panose="02020603050405020304" pitchFamily="18" charset="0"/>
                          <a:ea typeface="Calibri" panose="020F0502020204030204" pitchFamily="34" charset="0"/>
                          <a:cs typeface="Times New Roman" panose="02020603050405020304" pitchFamily="18" charset="0"/>
                        </a:rPr>
                        <a:t>LIMITATIONS</a:t>
                      </a:r>
                      <a:endParaRPr lang="en-IN" sz="12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97145568"/>
                  </a:ext>
                </a:extLst>
              </a:tr>
              <a:tr h="2064595">
                <a:tc>
                  <a:txBody>
                    <a:bodyPr/>
                    <a:lstStyle/>
                    <a:p>
                      <a:pPr algn="l">
                        <a:lnSpc>
                          <a:spcPct val="115000"/>
                        </a:lnSpc>
                        <a:spcAft>
                          <a:spcPts val="1000"/>
                        </a:spcAft>
                      </a:pPr>
                      <a:r>
                        <a:rPr lang="en-US" sz="1200" dirty="0">
                          <a:latin typeface="Times New Roman" panose="02020603050405020304" pitchFamily="18" charset="0"/>
                          <a:cs typeface="Times New Roman" panose="02020603050405020304" pitchFamily="18" charset="0"/>
                        </a:rPr>
                        <a:t>On Field Performance Analysis of IEEE 802.11p and WAVE Protocol Stack for V2V &amp; V2I Communication </a:t>
                      </a:r>
                      <a:endParaRPr lang="en-IN" sz="12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b="0" kern="1200" dirty="0">
                          <a:solidFill>
                            <a:schemeClr val="tx1"/>
                          </a:solidFill>
                          <a:effectLst/>
                          <a:latin typeface="Times New Roman" panose="02020603050405020304" pitchFamily="18" charset="0"/>
                          <a:ea typeface="+mn-ea"/>
                          <a:cs typeface="Times New Roman" panose="02020603050405020304" pitchFamily="18" charset="0"/>
                        </a:rPr>
                        <a:t>2019</a:t>
                      </a:r>
                      <a:endParaRPr lang="en-IN" sz="1200" b="0" dirty="0">
                        <a:latin typeface="Times New Roman" panose="02020603050405020304" pitchFamily="18" charset="0"/>
                        <a:cs typeface="Times New Roman" panose="02020603050405020304" pitchFamily="18" charset="0"/>
                      </a:endParaRPr>
                    </a:p>
                    <a:p>
                      <a:endParaRPr lang="en-IN" sz="12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a:latin typeface="Times New Roman" panose="02020603050405020304" pitchFamily="18" charset="0"/>
                          <a:cs typeface="Times New Roman" panose="02020603050405020304" pitchFamily="18" charset="0"/>
                        </a:rPr>
                        <a:t>Vivek N, S.V. Srikanth, Saurabh P, T.P. Vamsi, and Raju K.</a:t>
                      </a:r>
                      <a:r>
                        <a:rPr lang="en-US" sz="1200" b="0" kern="1200" dirty="0">
                          <a:solidFill>
                            <a:schemeClr val="tx1"/>
                          </a:solidFill>
                          <a:effectLst/>
                          <a:latin typeface="Times New Roman" panose="02020603050405020304" pitchFamily="18" charset="0"/>
                          <a:ea typeface="+mn-ea"/>
                          <a:cs typeface="Times New Roman" panose="02020603050405020304" pitchFamily="18" charset="0"/>
                        </a:rPr>
                        <a:t>.</a:t>
                      </a:r>
                      <a:endParaRPr lang="en-IN" sz="12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latin typeface="Times New Roman" panose="02020603050405020304" pitchFamily="18" charset="0"/>
                          <a:cs typeface="Times New Roman" panose="02020603050405020304" pitchFamily="18" charset="0"/>
                        </a:rPr>
                        <a:t>Conduct field tests for V2V and V2I communication using DSRC-enabled hardware.</a:t>
                      </a:r>
                    </a:p>
                    <a:p>
                      <a:r>
                        <a:rPr lang="en-US" sz="1200" dirty="0">
                          <a:latin typeface="Times New Roman" panose="02020603050405020304" pitchFamily="18" charset="0"/>
                          <a:cs typeface="Times New Roman" panose="02020603050405020304" pitchFamily="18" charset="0"/>
                        </a:rPr>
                        <a:t>Measure parameters like delay, jitter, and packet loss under various conditions.</a:t>
                      </a:r>
                    </a:p>
                    <a:p>
                      <a:r>
                        <a:rPr lang="en-US" sz="1200" dirty="0">
                          <a:latin typeface="Times New Roman" panose="02020603050405020304" pitchFamily="18" charset="0"/>
                          <a:cs typeface="Times New Roman" panose="02020603050405020304" pitchFamily="18" charset="0"/>
                        </a:rPr>
                        <a:t>Analyze performance impacts of distance, channel load, and interference.</a:t>
                      </a:r>
                    </a:p>
                    <a:p>
                      <a:r>
                        <a:rPr lang="en-US" sz="1200" dirty="0">
                          <a:latin typeface="Times New Roman" panose="02020603050405020304" pitchFamily="18" charset="0"/>
                          <a:cs typeface="Times New Roman" panose="02020603050405020304" pitchFamily="18" charset="0"/>
                        </a:rPr>
                        <a:t>Evaluate real-world feasibility for vehicular safety and ITS applications.</a:t>
                      </a: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latin typeface="Times New Roman" panose="02020603050405020304" pitchFamily="18" charset="0"/>
                          <a:cs typeface="Times New Roman" panose="02020603050405020304" pitchFamily="18" charset="0"/>
                        </a:rPr>
                        <a:t>Packet Loss:</a:t>
                      </a:r>
                      <a:r>
                        <a:rPr lang="en-US" sz="1200" dirty="0">
                          <a:latin typeface="Times New Roman" panose="02020603050405020304" pitchFamily="18" charset="0"/>
                          <a:cs typeface="Times New Roman" panose="02020603050405020304" pitchFamily="18" charset="0"/>
                        </a:rPr>
                        <a:t> Increased distance between units and environmental factors lead to high packet loss, especially beyond 200 meters.</a:t>
                      </a:r>
                    </a:p>
                    <a:p>
                      <a:r>
                        <a:rPr lang="en-US" sz="1200" b="1" dirty="0">
                          <a:latin typeface="Times New Roman" panose="02020603050405020304" pitchFamily="18" charset="0"/>
                          <a:cs typeface="Times New Roman" panose="02020603050405020304" pitchFamily="18" charset="0"/>
                        </a:rPr>
                        <a:t>Cross-Channel Interference:</a:t>
                      </a:r>
                      <a:r>
                        <a:rPr lang="en-US" sz="1200" dirty="0">
                          <a:latin typeface="Times New Roman" panose="02020603050405020304" pitchFamily="18" charset="0"/>
                          <a:cs typeface="Times New Roman" panose="02020603050405020304" pitchFamily="18" charset="0"/>
                        </a:rPr>
                        <a:t> Adjacent channel traffic significantly impacts communication reliability, causing higher packet error rates.</a:t>
                      </a:r>
                    </a:p>
                    <a:p>
                      <a:r>
                        <a:rPr lang="en-US" sz="1200" b="1" dirty="0">
                          <a:latin typeface="Times New Roman" panose="02020603050405020304" pitchFamily="18" charset="0"/>
                          <a:cs typeface="Times New Roman" panose="02020603050405020304" pitchFamily="18" charset="0"/>
                        </a:rPr>
                        <a:t>Line of Sight Dependency:</a:t>
                      </a:r>
                      <a:r>
                        <a:rPr lang="en-US" sz="1200" dirty="0">
                          <a:latin typeface="Times New Roman" panose="02020603050405020304" pitchFamily="18" charset="0"/>
                          <a:cs typeface="Times New Roman" panose="02020603050405020304" pitchFamily="18" charset="0"/>
                        </a:rPr>
                        <a:t> Communication performance is greatly affected by the absence of direct Line of Sight (LOS).</a:t>
                      </a:r>
                    </a:p>
                    <a:p>
                      <a:r>
                        <a:rPr lang="en-US" sz="1200" b="1" dirty="0">
                          <a:latin typeface="Times New Roman" panose="02020603050405020304" pitchFamily="18" charset="0"/>
                          <a:cs typeface="Times New Roman" panose="02020603050405020304" pitchFamily="18" charset="0"/>
                        </a:rPr>
                        <a:t>Environmental Sensitivity:</a:t>
                      </a:r>
                      <a:r>
                        <a:rPr lang="en-US" sz="1200" dirty="0">
                          <a:latin typeface="Times New Roman" panose="02020603050405020304" pitchFamily="18" charset="0"/>
                          <a:cs typeface="Times New Roman" panose="02020603050405020304" pitchFamily="18" charset="0"/>
                        </a:rPr>
                        <a:t> Real-world environmental conditions, such as dips in the road and physical obstructions, degrade signal quality.</a:t>
                      </a: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69771356"/>
                  </a:ext>
                </a:extLst>
              </a:tr>
              <a:tr h="2408694">
                <a:tc>
                  <a:txBody>
                    <a:bodyPr/>
                    <a:lstStyle/>
                    <a:p>
                      <a:pPr algn="l">
                        <a:lnSpc>
                          <a:spcPct val="115000"/>
                        </a:lnSpc>
                        <a:spcAft>
                          <a:spcPts val="1000"/>
                        </a:spcAft>
                      </a:pPr>
                      <a:r>
                        <a:rPr lang="en-US" sz="1200" dirty="0">
                          <a:latin typeface="Times New Roman" panose="02020603050405020304" pitchFamily="18" charset="0"/>
                          <a:cs typeface="Times New Roman" panose="02020603050405020304" pitchFamily="18" charset="0"/>
                        </a:rPr>
                        <a:t>Development of V2V Communication </a:t>
                      </a:r>
                      <a:endParaRPr lang="en-IN" sz="12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dirty="0">
                          <a:latin typeface="Times New Roman" panose="02020603050405020304" pitchFamily="18" charset="0"/>
                          <a:cs typeface="Times New Roman" panose="02020603050405020304" pitchFamily="18" charset="0"/>
                        </a:rPr>
                        <a:t>2022</a:t>
                      </a:r>
                      <a:endParaRPr lang="en-IN" sz="12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lnSpc>
                          <a:spcPct val="115000"/>
                        </a:lnSpc>
                        <a:spcAft>
                          <a:spcPts val="1000"/>
                        </a:spcAft>
                      </a:pPr>
                      <a:r>
                        <a:rPr lang="en-IN" sz="1200" dirty="0">
                          <a:latin typeface="Times New Roman" panose="02020603050405020304" pitchFamily="18" charset="0"/>
                          <a:cs typeface="Times New Roman" panose="02020603050405020304" pitchFamily="18" charset="0"/>
                        </a:rPr>
                        <a:t>Soundari D V , Varshini G, Santhosh Vimal R , Vijayalakshmi G , Sarankumar. S , Selva Kumar D </a:t>
                      </a:r>
                      <a:endParaRPr lang="en-IN" sz="12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latin typeface="Times New Roman" panose="02020603050405020304" pitchFamily="18" charset="0"/>
                          <a:cs typeface="Times New Roman" panose="02020603050405020304" pitchFamily="18" charset="0"/>
                        </a:rPr>
                        <a:t>Li-Fi Technology</a:t>
                      </a:r>
                      <a:r>
                        <a:rPr lang="en-US" sz="1200" dirty="0">
                          <a:latin typeface="Times New Roman" panose="02020603050405020304" pitchFamily="18" charset="0"/>
                          <a:cs typeface="Times New Roman" panose="02020603050405020304" pitchFamily="18" charset="0"/>
                        </a:rPr>
                        <a:t> offers high-speed data transfer (&gt;1 Gbps) using visible light, providing a faster, safer, and eco-friendly alternative to Wi-Fi.</a:t>
                      </a:r>
                    </a:p>
                    <a:p>
                      <a:r>
                        <a:rPr lang="en-US" sz="1200" b="1" dirty="0">
                          <a:latin typeface="Times New Roman" panose="02020603050405020304" pitchFamily="18" charset="0"/>
                          <a:cs typeface="Times New Roman" panose="02020603050405020304" pitchFamily="18" charset="0"/>
                        </a:rPr>
                        <a:t>V2V Communication with Li-Fi</a:t>
                      </a:r>
                      <a:r>
                        <a:rPr lang="en-US" sz="1200" dirty="0">
                          <a:latin typeface="Times New Roman" panose="02020603050405020304" pitchFamily="18" charset="0"/>
                          <a:cs typeface="Times New Roman" panose="02020603050405020304" pitchFamily="18" charset="0"/>
                        </a:rPr>
                        <a:t> improves road safety by enabling vehicles to exchange data such as speed, direction, and distance.</a:t>
                      </a:r>
                    </a:p>
                    <a:p>
                      <a:r>
                        <a:rPr lang="en-US" sz="1200" b="1" dirty="0">
                          <a:latin typeface="Times New Roman" panose="02020603050405020304" pitchFamily="18" charset="0"/>
                          <a:cs typeface="Times New Roman" panose="02020603050405020304" pitchFamily="18" charset="0"/>
                        </a:rPr>
                        <a:t>Smart Highway Systems</a:t>
                      </a:r>
                      <a:r>
                        <a:rPr lang="en-US" sz="1200" dirty="0">
                          <a:latin typeface="Times New Roman" panose="02020603050405020304" pitchFamily="18" charset="0"/>
                          <a:cs typeface="Times New Roman" panose="02020603050405020304" pitchFamily="18" charset="0"/>
                        </a:rPr>
                        <a:t> use microcontrollers (like Atmega328) and LEDs to transmit road data, which is displayed via LCDs at the receiver end.</a:t>
                      </a:r>
                    </a:p>
                    <a:p>
                      <a:r>
                        <a:rPr lang="en-US" sz="1200" b="1" dirty="0">
                          <a:latin typeface="Times New Roman" panose="02020603050405020304" pitchFamily="18" charset="0"/>
                          <a:cs typeface="Times New Roman" panose="02020603050405020304" pitchFamily="18" charset="0"/>
                        </a:rPr>
                        <a:t>Indoor Li-Fi Communication</a:t>
                      </a:r>
                      <a:r>
                        <a:rPr lang="en-US" sz="1200" dirty="0">
                          <a:latin typeface="Times New Roman" panose="02020603050405020304" pitchFamily="18" charset="0"/>
                          <a:cs typeface="Times New Roman" panose="02020603050405020304" pitchFamily="18" charset="0"/>
                        </a:rPr>
                        <a:t> enables data transfer from camera hubs to users using special roof structures and Li-Fi handsets.</a:t>
                      </a:r>
                    </a:p>
                    <a:p>
                      <a:r>
                        <a:rPr lang="en-US" sz="1200" b="1" dirty="0">
                          <a:latin typeface="Times New Roman" panose="02020603050405020304" pitchFamily="18" charset="0"/>
                          <a:cs typeface="Times New Roman" panose="02020603050405020304" pitchFamily="18" charset="0"/>
                        </a:rPr>
                        <a:t>Lattice Grid Concept</a:t>
                      </a:r>
                      <a:r>
                        <a:rPr lang="en-US" sz="1200" dirty="0">
                          <a:latin typeface="Times New Roman" panose="02020603050405020304" pitchFamily="18" charset="0"/>
                          <a:cs typeface="Times New Roman" panose="02020603050405020304" pitchFamily="18" charset="0"/>
                        </a:rPr>
                        <a:t> proposes a vehicle network where LEDs and photodiodes facilitate real-time communication, requiring clear line-of-sight.</a:t>
                      </a: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285750"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Line-of-Sight Dependency</a:t>
                      </a:r>
                      <a:endParaRPr lang="en-US"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Limited Range</a:t>
                      </a:r>
                      <a:endParaRPr lang="en-US"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Environmental Sensitivity</a:t>
                      </a:r>
                      <a:endParaRPr lang="en-US"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Low Penetration Capability</a:t>
                      </a:r>
                      <a:endParaRPr lang="en-US"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Receiver Alignment Requirement</a:t>
                      </a:r>
                      <a:endParaRPr lang="en-US"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Limited Data Reception During Motion</a:t>
                      </a:r>
                      <a:endParaRPr lang="en-US"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Dependency on External Light Source</a:t>
                      </a:r>
                      <a:endParaRPr lang="en-US" sz="1400"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sz="1400" b="1" dirty="0">
                          <a:latin typeface="Times New Roman" panose="02020603050405020304" pitchFamily="18" charset="0"/>
                          <a:cs typeface="Times New Roman" panose="02020603050405020304" pitchFamily="18" charset="0"/>
                        </a:rPr>
                        <a:t>Lack of Standardization and Scalability</a:t>
                      </a:r>
                      <a:endParaRPr lang="en-US" sz="1400" dirty="0">
                        <a:latin typeface="Times New Roman" panose="02020603050405020304" pitchFamily="18" charset="0"/>
                        <a:cs typeface="Times New Roman" panose="02020603050405020304" pitchFamily="18" charset="0"/>
                      </a:endParaRP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376397">
                <a:tc>
                  <a:txBody>
                    <a:bodyPr/>
                    <a:lstStyle/>
                    <a:p>
                      <a:pPr algn="l">
                        <a:lnSpc>
                          <a:spcPct val="115000"/>
                        </a:lnSpc>
                        <a:spcAft>
                          <a:spcPts val="1000"/>
                        </a:spcAft>
                      </a:pPr>
                      <a:r>
                        <a:rPr lang="en-US" sz="1200" dirty="0">
                          <a:latin typeface="Times New Roman" panose="02020603050405020304" pitchFamily="18" charset="0"/>
                          <a:cs typeface="Times New Roman" panose="02020603050405020304" pitchFamily="18" charset="0"/>
                        </a:rPr>
                        <a:t>An Accurate Vehicle-to-Vehicle Instant Alert System Using Directional Antennas</a:t>
                      </a:r>
                      <a:endParaRPr lang="en-IN" sz="1200" b="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0" dirty="0">
                          <a:latin typeface="Times New Roman" panose="02020603050405020304" pitchFamily="18" charset="0"/>
                          <a:cs typeface="Times New Roman" panose="02020603050405020304" pitchFamily="18" charset="0"/>
                        </a:rPr>
                        <a:t>2021</a:t>
                      </a:r>
                      <a:endParaRPr lang="en-IN" sz="12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1200" dirty="0">
                          <a:latin typeface="Times New Roman" panose="02020603050405020304" pitchFamily="18" charset="0"/>
                          <a:cs typeface="Times New Roman" panose="02020603050405020304" pitchFamily="18" charset="0"/>
                        </a:rPr>
                        <a:t>Chia-Yu Lin , Fu-Ming Kang , Po-Min Hsu , Chiao Tung Jen-Jee Chen ,Yu-Chee Tseng</a:t>
                      </a:r>
                      <a:endParaRPr lang="en-IN" sz="1200" b="0" dirty="0">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latin typeface="Times New Roman" panose="02020603050405020304" pitchFamily="18" charset="0"/>
                          <a:cs typeface="Times New Roman" panose="02020603050405020304" pitchFamily="18" charset="0"/>
                        </a:rPr>
                        <a:t>Vehicle Detection &amp; Localization (VID Module)</a:t>
                      </a:r>
                      <a:r>
                        <a:rPr lang="en-US" sz="1200" dirty="0">
                          <a:latin typeface="Times New Roman" panose="02020603050405020304" pitchFamily="18" charset="0"/>
                          <a:cs typeface="Times New Roman" panose="02020603050405020304" pitchFamily="18" charset="0"/>
                        </a:rPr>
                        <a:t>:</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Combines CAM messages (speed, GPS) and camera-based object detection to accurately identify and localize surrounding vehicles relative to the host vehicle.</a:t>
                      </a:r>
                    </a:p>
                    <a:p>
                      <a:r>
                        <a:rPr lang="en-US" sz="1200" b="1" dirty="0">
                          <a:latin typeface="Times New Roman" panose="02020603050405020304" pitchFamily="18" charset="0"/>
                          <a:cs typeface="Times New Roman" panose="02020603050405020304" pitchFamily="18" charset="0"/>
                        </a:rPr>
                        <a:t>Dangerous Event Prediction (VSA Module)</a:t>
                      </a:r>
                      <a:r>
                        <a:rPr lang="en-US" sz="1200" dirty="0">
                          <a:latin typeface="Times New Roman" panose="02020603050405020304" pitchFamily="18" charset="0"/>
                          <a:cs typeface="Times New Roman" panose="02020603050405020304" pitchFamily="18" charset="0"/>
                        </a:rPr>
                        <a:t>:</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Predicts future trajectories of nearby vehicles and the host vehicle; if a potential collision is detected, it generates a Decentralized Environmental Notification Message (DENM).</a:t>
                      </a: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latin typeface="Times New Roman" panose="02020603050405020304" pitchFamily="18" charset="0"/>
                          <a:cs typeface="Times New Roman" panose="02020603050405020304" pitchFamily="18" charset="0"/>
                        </a:rPr>
                        <a:t>Dependence on Accurate Sensor Data</a:t>
                      </a:r>
                      <a:r>
                        <a:rPr lang="en-US" sz="1200" dirty="0">
                          <a:latin typeface="Times New Roman" panose="02020603050405020304" pitchFamily="18" charset="0"/>
                          <a:cs typeface="Times New Roman" panose="02020603050405020304" pitchFamily="18" charset="0"/>
                        </a:rPr>
                        <a:t>:</a:t>
                      </a:r>
                      <a:br>
                        <a:rPr lang="en-US" sz="1200" dirty="0">
                          <a:latin typeface="Times New Roman" panose="02020603050405020304" pitchFamily="18" charset="0"/>
                          <a:cs typeface="Times New Roman" panose="02020603050405020304" pitchFamily="18" charset="0"/>
                        </a:rPr>
                      </a:br>
                      <a:r>
                        <a:rPr lang="en-US" sz="1200" dirty="0">
                          <a:latin typeface="Times New Roman" panose="02020603050405020304" pitchFamily="18" charset="0"/>
                          <a:cs typeface="Times New Roman" panose="02020603050405020304" pitchFamily="18" charset="0"/>
                        </a:rPr>
                        <a:t>The system's performance heavily relies on accurate camera detections and GPS information; any error in sensing or localization may lead to false alerts or missed collision predictions.</a:t>
                      </a:r>
                    </a:p>
                    <a:p>
                      <a:r>
                        <a:rPr lang="en-US" sz="1200" b="1" dirty="0">
                          <a:latin typeface="Times New Roman" panose="02020603050405020304" pitchFamily="18" charset="0"/>
                          <a:cs typeface="Times New Roman" panose="02020603050405020304" pitchFamily="18" charset="0"/>
                        </a:rPr>
                        <a:t>Directional Antenna Constraints</a:t>
                      </a:r>
                      <a:br>
                        <a:rPr lang="en-US" sz="1200" dirty="0">
                          <a:latin typeface="Times New Roman" panose="02020603050405020304" pitchFamily="18" charset="0"/>
                          <a:cs typeface="Times New Roman" panose="02020603050405020304" pitchFamily="18" charset="0"/>
                        </a:rPr>
                      </a:br>
                      <a:endParaRPr lang="en-US" sz="1200" dirty="0">
                        <a:latin typeface="Times New Roman" panose="02020603050405020304" pitchFamily="18" charset="0"/>
                        <a:cs typeface="Times New Roman" panose="02020603050405020304" pitchFamily="18" charset="0"/>
                      </a:endParaRPr>
                    </a:p>
                  </a:txBody>
                  <a:tcPr marL="114300" marR="11430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8033056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5BA1B53E-964E-478E-6DB7-E2296B561CCF}"/>
              </a:ext>
            </a:extLst>
          </p:cNvPr>
          <p:cNvSpPr>
            <a:spLocks noGrp="1"/>
          </p:cNvSpPr>
          <p:nvPr>
            <p:ph type="sldNum" sz="quarter" idx="12"/>
          </p:nvPr>
        </p:nvSpPr>
        <p:spPr/>
        <p:txBody>
          <a:bodyPr/>
          <a:lstStyle/>
          <a:p>
            <a:pPr>
              <a:defRPr lang="en-US"/>
            </a:pPr>
            <a:fld id="{3B5A8AA3-EDD6-0F7C-98E2-1B29C4AC6E4E}" type="slidenum">
              <a:rPr lang="en-IN" smtClean="0">
                <a:latin typeface="Times New Roman" panose="02020603050405020304" pitchFamily="18" charset="0"/>
                <a:cs typeface="Times New Roman" panose="02020603050405020304" pitchFamily="18" charset="0"/>
              </a:rPr>
              <a:t>6</a:t>
            </a:fld>
            <a:endParaRPr lang="en-IN">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314A8C79-38A0-B7A8-D82B-D649DCC3BDDB}"/>
              </a:ext>
            </a:extLst>
          </p:cNvPr>
          <p:cNvSpPr txBox="1"/>
          <p:nvPr/>
        </p:nvSpPr>
        <p:spPr>
          <a:xfrm>
            <a:off x="422787" y="563851"/>
            <a:ext cx="466049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PROBLEM DEFINITION</a:t>
            </a:r>
            <a:r>
              <a:rPr lang="en-US" sz="2400" dirty="0">
                <a:latin typeface="Times New Roman" panose="02020603050405020304" pitchFamily="18" charset="0"/>
                <a:cs typeface="Times New Roman" panose="02020603050405020304" pitchFamily="18" charset="0"/>
              </a:rPr>
              <a:t>:</a:t>
            </a:r>
            <a:endParaRPr lang="en-IN" sz="2400"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10959FC0-558F-7F73-4560-53F208BAABCD}"/>
              </a:ext>
            </a:extLst>
          </p:cNvPr>
          <p:cNvSpPr txBox="1"/>
          <p:nvPr/>
        </p:nvSpPr>
        <p:spPr>
          <a:xfrm>
            <a:off x="550607" y="1328637"/>
            <a:ext cx="11110452" cy="400110"/>
          </a:xfrm>
          <a:prstGeom prst="rect">
            <a:avLst/>
          </a:prstGeom>
          <a:noFill/>
        </p:spPr>
        <p:txBody>
          <a:bodyPr wrap="square" rtlCol="0">
            <a:spAutoFit/>
          </a:bodyPr>
          <a:lstStyle/>
          <a:p>
            <a:r>
              <a:rPr lang="en-US" sz="2000" cap="none" dirty="0">
                <a:latin typeface="Times New Roman" panose="02020603050405020304" pitchFamily="18" charset="0"/>
                <a:cs typeface="Times New Roman" panose="02020603050405020304" pitchFamily="18" charset="0"/>
              </a:rPr>
              <a:t>Design and </a:t>
            </a:r>
            <a:r>
              <a:rPr lang="en-US" sz="2000" dirty="0">
                <a:latin typeface="Times New Roman" panose="02020603050405020304" pitchFamily="18" charset="0"/>
                <a:cs typeface="Times New Roman" panose="02020603050405020304" pitchFamily="18" charset="0"/>
              </a:rPr>
              <a:t>demonstrate the V2V communication system using wireless protocol</a:t>
            </a:r>
            <a:r>
              <a:rPr lang="en-US" sz="1800" cap="none"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7" name="TextBox 6">
            <a:extLst>
              <a:ext uri="{FF2B5EF4-FFF2-40B4-BE49-F238E27FC236}">
                <a16:creationId xmlns:a16="http://schemas.microsoft.com/office/drawing/2014/main" id="{10E926A9-5994-2A75-C617-EF061C179447}"/>
              </a:ext>
            </a:extLst>
          </p:cNvPr>
          <p:cNvSpPr txBox="1"/>
          <p:nvPr/>
        </p:nvSpPr>
        <p:spPr>
          <a:xfrm>
            <a:off x="530942" y="2231923"/>
            <a:ext cx="3637935"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OBJECTIVES:</a:t>
            </a:r>
            <a:endParaRPr lang="en-IN" sz="2400" b="1"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8D1CC8B5-8BF9-9A3A-6EF7-6C8537E57729}"/>
              </a:ext>
            </a:extLst>
          </p:cNvPr>
          <p:cNvSpPr txBox="1"/>
          <p:nvPr/>
        </p:nvSpPr>
        <p:spPr>
          <a:xfrm>
            <a:off x="530942" y="2812026"/>
            <a:ext cx="7148052" cy="281461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V2V communication.</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Exchange real-time data.</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Wireless communication.</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Minimize the risk of accidents.</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Optimize traffic flow.</a:t>
            </a:r>
          </a:p>
          <a:p>
            <a:pPr marL="285750" indent="-285750">
              <a:lnSpc>
                <a:spcPct val="150000"/>
              </a:lnSpc>
              <a:buFont typeface="Arial" panose="020B0604020202020204" pitchFamily="34" charset="0"/>
              <a:buChar char="•"/>
            </a:pPr>
            <a:r>
              <a:rPr lang="en-US" sz="2000" dirty="0">
                <a:latin typeface="Times New Roman" panose="02020603050405020304" pitchFamily="18" charset="0"/>
                <a:cs typeface="Times New Roman" panose="02020603050405020304" pitchFamily="18" charset="0"/>
              </a:rPr>
              <a:t>Smarter , more connected transportation system</a:t>
            </a:r>
            <a:endParaRPr lang="en-IN" sz="2000" dirty="0">
              <a:latin typeface="Times New Roman" panose="02020603050405020304" pitchFamily="18" charset="0"/>
              <a:cs typeface="Times New Roman" panose="02020603050405020304" pitchFamily="18" charset="0"/>
            </a:endParaRPr>
          </a:p>
        </p:txBody>
      </p:sp>
      <p:sp>
        <p:nvSpPr>
          <p:cNvPr id="5" name="Footer Placeholder 3">
            <a:extLst>
              <a:ext uri="{FF2B5EF4-FFF2-40B4-BE49-F238E27FC236}">
                <a16:creationId xmlns:a16="http://schemas.microsoft.com/office/drawing/2014/main" id="{A0E841B9-AFBA-DC7C-C249-FDCAE9AC7408}"/>
              </a:ext>
            </a:extLst>
          </p:cNvPr>
          <p:cNvSpPr>
            <a:spLocks noGrp="1"/>
          </p:cNvSpPr>
          <p:nvPr>
            <p:ph type="ftr" sz="quarter" idx="11"/>
          </p:nvPr>
        </p:nvSpPr>
        <p:spPr>
          <a:xfrm>
            <a:off x="4038600" y="6356350"/>
            <a:ext cx="4572000" cy="365125"/>
          </a:xfrm>
        </p:spPr>
        <p:txBody>
          <a:bodyPr/>
          <a:lstStyle/>
          <a:p>
            <a:r>
              <a:rPr lang="en-US" dirty="0">
                <a:latin typeface="Times New Roman" panose="02020603050405020304" pitchFamily="18" charset="0"/>
                <a:cs typeface="Times New Roman" panose="02020603050405020304" pitchFamily="18" charset="0"/>
              </a:rPr>
              <a:t>V2V COMMUNICATION:ENHANCING SAFETY AND TRAFFIC FLOW</a:t>
            </a:r>
          </a:p>
        </p:txBody>
      </p:sp>
      <p:pic>
        <p:nvPicPr>
          <p:cNvPr id="8" name="Picture 7">
            <a:extLst>
              <a:ext uri="{FF2B5EF4-FFF2-40B4-BE49-F238E27FC236}">
                <a16:creationId xmlns:a16="http://schemas.microsoft.com/office/drawing/2014/main" id="{05C0194F-DD4F-7EE3-F12D-B66F2A8EEE05}"/>
              </a:ext>
            </a:extLst>
          </p:cNvPr>
          <p:cNvPicPr>
            <a:picLocks noChangeAspect="1"/>
          </p:cNvPicPr>
          <p:nvPr/>
        </p:nvPicPr>
        <p:blipFill>
          <a:blip r:embed="rId2"/>
          <a:srcRect b="18488"/>
          <a:stretch/>
        </p:blipFill>
        <p:spPr>
          <a:xfrm>
            <a:off x="6324600" y="2231923"/>
            <a:ext cx="5142270" cy="3362633"/>
          </a:xfrm>
          <a:prstGeom prst="rect">
            <a:avLst/>
          </a:prstGeom>
        </p:spPr>
      </p:pic>
    </p:spTree>
    <p:extLst>
      <p:ext uri="{BB962C8B-B14F-4D97-AF65-F5344CB8AC3E}">
        <p14:creationId xmlns:p14="http://schemas.microsoft.com/office/powerpoint/2010/main" val="283651042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7842E90B-DC29-9AB4-9C9F-421D812D25E9}"/>
              </a:ext>
            </a:extLst>
          </p:cNvPr>
          <p:cNvSpPr>
            <a:spLocks noGrp="1"/>
          </p:cNvSpPr>
          <p:nvPr>
            <p:ph type="dt" sz="half" idx="10"/>
          </p:nvPr>
        </p:nvSpPr>
        <p:spPr/>
        <p:txBody>
          <a:bodyPr/>
          <a:lstStyle/>
          <a:p>
            <a:fld id="{9F4F7A14-B6BD-468F-ABF5-420F3179DF81}" type="datetime1">
              <a:rPr lang="en-IN" smtClean="0">
                <a:latin typeface="Times New Roman" panose="02020603050405020304" pitchFamily="18" charset="0"/>
                <a:cs typeface="Times New Roman" panose="02020603050405020304" pitchFamily="18" charset="0"/>
              </a:rPr>
              <a:t>27-11-2025</a:t>
            </a:fld>
            <a:endParaRPr lang="en-IN">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DA6D5978-C4BD-31B1-0F3B-EE1335A1E530}"/>
              </a:ext>
            </a:extLst>
          </p:cNvPr>
          <p:cNvSpPr>
            <a:spLocks noGrp="1"/>
          </p:cNvSpPr>
          <p:nvPr>
            <p:ph type="sldNum" sz="quarter" idx="12"/>
          </p:nvPr>
        </p:nvSpPr>
        <p:spPr/>
        <p:txBody>
          <a:bodyPr/>
          <a:lstStyle/>
          <a:p>
            <a:fld id="{C7C5D7E8-EE27-4204-8EF9-D5E90A448860}" type="slidenum">
              <a:rPr lang="en-IN" smtClean="0">
                <a:latin typeface="Times New Roman" panose="02020603050405020304" pitchFamily="18" charset="0"/>
                <a:cs typeface="Times New Roman" panose="02020603050405020304" pitchFamily="18" charset="0"/>
              </a:rPr>
              <a:t>7</a:t>
            </a:fld>
            <a:endParaRPr lang="en-IN">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39119749-A2D4-4287-FE25-A56967F1B354}"/>
              </a:ext>
            </a:extLst>
          </p:cNvPr>
          <p:cNvSpPr txBox="1"/>
          <p:nvPr/>
        </p:nvSpPr>
        <p:spPr>
          <a:xfrm>
            <a:off x="513184" y="345233"/>
            <a:ext cx="7091265"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PROJECT PLANNING</a:t>
            </a:r>
            <a:endParaRPr lang="en-IN" sz="2400" dirty="0">
              <a:latin typeface="Times New Roman" panose="02020603050405020304" pitchFamily="18" charset="0"/>
              <a:cs typeface="Times New Roman" panose="02020603050405020304" pitchFamily="18" charset="0"/>
            </a:endParaRPr>
          </a:p>
        </p:txBody>
      </p:sp>
      <p:sp>
        <p:nvSpPr>
          <p:cNvPr id="3" name="Footer Placeholder 3">
            <a:extLst>
              <a:ext uri="{FF2B5EF4-FFF2-40B4-BE49-F238E27FC236}">
                <a16:creationId xmlns:a16="http://schemas.microsoft.com/office/drawing/2014/main" id="{6888A017-E6EA-70F9-317D-021B14C7EFFA}"/>
              </a:ext>
            </a:extLst>
          </p:cNvPr>
          <p:cNvSpPr>
            <a:spLocks noGrp="1"/>
          </p:cNvSpPr>
          <p:nvPr>
            <p:ph type="ftr" sz="quarter" idx="11"/>
          </p:nvPr>
        </p:nvSpPr>
        <p:spPr>
          <a:xfrm>
            <a:off x="4038600"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graphicFrame>
        <p:nvGraphicFramePr>
          <p:cNvPr id="6" name="Chart 5">
            <a:extLst>
              <a:ext uri="{FF2B5EF4-FFF2-40B4-BE49-F238E27FC236}">
                <a16:creationId xmlns:a16="http://schemas.microsoft.com/office/drawing/2014/main" id="{40DAA2CE-76AA-3569-015A-585CD47EFA7E}"/>
              </a:ext>
            </a:extLst>
          </p:cNvPr>
          <p:cNvGraphicFramePr/>
          <p:nvPr>
            <p:extLst>
              <p:ext uri="{D42A27DB-BD31-4B8C-83A1-F6EECF244321}">
                <p14:modId xmlns:p14="http://schemas.microsoft.com/office/powerpoint/2010/main" val="4060886782"/>
              </p:ext>
            </p:extLst>
          </p:nvPr>
        </p:nvGraphicFramePr>
        <p:xfrm>
          <a:off x="513184" y="930008"/>
          <a:ext cx="10390790" cy="5313476"/>
        </p:xfrm>
        <a:graphic>
          <a:graphicData uri="http://schemas.openxmlformats.org/drawingml/2006/chart">
            <c:chart xmlns:c="http://schemas.openxmlformats.org/drawingml/2006/chart" xmlns:r="http://schemas.openxmlformats.org/officeDocument/2006/relationships" r:id="rId2"/>
          </a:graphicData>
        </a:graphic>
      </p:graphicFrame>
    </p:spTree>
    <p:extLst>
      <p:ext uri="{BB962C8B-B14F-4D97-AF65-F5344CB8AC3E}">
        <p14:creationId xmlns:p14="http://schemas.microsoft.com/office/powerpoint/2010/main" val="82403827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DA437F-3FFC-B145-5849-D13672DF33B4}"/>
              </a:ext>
            </a:extLst>
          </p:cNvPr>
          <p:cNvSpPr>
            <a:spLocks noGrp="1"/>
          </p:cNvSpPr>
          <p:nvPr>
            <p:ph type="title"/>
          </p:nvPr>
        </p:nvSpPr>
        <p:spPr>
          <a:xfrm>
            <a:off x="269233" y="128355"/>
            <a:ext cx="7364099" cy="906916"/>
          </a:xfrm>
        </p:spPr>
        <p:txBody>
          <a:bodyPr>
            <a:normAutofit/>
          </a:bodyPr>
          <a:lstStyle/>
          <a:p>
            <a:pPr algn="ctr"/>
            <a:r>
              <a:rPr lang="en-US" sz="2400" b="1" dirty="0">
                <a:latin typeface="Times New Roman" panose="02020603050405020304" pitchFamily="18" charset="0"/>
                <a:cs typeface="Times New Roman" panose="02020603050405020304" pitchFamily="18" charset="0"/>
              </a:rPr>
              <a:t>WORK BREAKDOWN STRUCTURE</a:t>
            </a:r>
            <a:endParaRPr lang="en-IN" sz="2400" b="1"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4A79E7AC-96AD-FE5D-458B-43D160F3FBCC}"/>
              </a:ext>
            </a:extLst>
          </p:cNvPr>
          <p:cNvSpPr>
            <a:spLocks noGrp="1"/>
          </p:cNvSpPr>
          <p:nvPr>
            <p:ph type="dt" sz="half" idx="10"/>
          </p:nvPr>
        </p:nvSpPr>
        <p:spPr>
          <a:xfrm>
            <a:off x="651387" y="6356350"/>
            <a:ext cx="2743200" cy="365125"/>
          </a:xfrm>
        </p:spPr>
        <p:txBody>
          <a:bodyPr/>
          <a:lstStyle/>
          <a:p>
            <a:fld id="{9F4F7A14-B6BD-468F-ABF5-420F3179DF81}" type="datetime1">
              <a:rPr lang="en-IN" smtClean="0">
                <a:latin typeface="Times New Roman" panose="02020603050405020304" pitchFamily="18" charset="0"/>
                <a:cs typeface="Times New Roman" panose="02020603050405020304" pitchFamily="18" charset="0"/>
              </a:rPr>
              <a:t>27-11-2025</a:t>
            </a:fld>
            <a:endParaRPr lang="en-IN">
              <a:latin typeface="Times New Roman" panose="02020603050405020304" pitchFamily="18" charset="0"/>
              <a:cs typeface="Times New Roman" panose="02020603050405020304" pitchFamily="18" charset="0"/>
            </a:endParaRPr>
          </a:p>
        </p:txBody>
      </p:sp>
      <p:sp>
        <p:nvSpPr>
          <p:cNvPr id="5" name="Slide Number Placeholder 4">
            <a:extLst>
              <a:ext uri="{FF2B5EF4-FFF2-40B4-BE49-F238E27FC236}">
                <a16:creationId xmlns:a16="http://schemas.microsoft.com/office/drawing/2014/main" id="{E772FFA9-CC16-78EC-423B-E6A0E2BC281E}"/>
              </a:ext>
            </a:extLst>
          </p:cNvPr>
          <p:cNvSpPr>
            <a:spLocks noGrp="1"/>
          </p:cNvSpPr>
          <p:nvPr>
            <p:ph type="sldNum" sz="quarter" idx="12"/>
          </p:nvPr>
        </p:nvSpPr>
        <p:spPr>
          <a:xfrm>
            <a:off x="8423787" y="6356350"/>
            <a:ext cx="2743200" cy="365125"/>
          </a:xfrm>
        </p:spPr>
        <p:txBody>
          <a:bodyPr/>
          <a:lstStyle/>
          <a:p>
            <a:fld id="{C7C5D7E8-EE27-4204-8EF9-D5E90A448860}" type="slidenum">
              <a:rPr lang="en-IN" smtClean="0">
                <a:latin typeface="Times New Roman" panose="02020603050405020304" pitchFamily="18" charset="0"/>
                <a:cs typeface="Times New Roman" panose="02020603050405020304" pitchFamily="18" charset="0"/>
              </a:rPr>
              <a:t>8</a:t>
            </a:fld>
            <a:endParaRPr lang="en-IN">
              <a:latin typeface="Times New Roman" panose="02020603050405020304" pitchFamily="18" charset="0"/>
              <a:cs typeface="Times New Roman" panose="02020603050405020304" pitchFamily="18" charset="0"/>
            </a:endParaRPr>
          </a:p>
        </p:txBody>
      </p:sp>
      <p:sp>
        <p:nvSpPr>
          <p:cNvPr id="7" name="Rounded Rectangle 9">
            <a:extLst>
              <a:ext uri="{FF2B5EF4-FFF2-40B4-BE49-F238E27FC236}">
                <a16:creationId xmlns:a16="http://schemas.microsoft.com/office/drawing/2014/main" id="{71BF8548-8645-6CF1-C2B5-0450586D7861}"/>
              </a:ext>
            </a:extLst>
          </p:cNvPr>
          <p:cNvSpPr/>
          <p:nvPr/>
        </p:nvSpPr>
        <p:spPr>
          <a:xfrm>
            <a:off x="3383384" y="950643"/>
            <a:ext cx="4679577" cy="685800"/>
          </a:xfrm>
          <a:prstGeom prst="roundRect">
            <a:avLst/>
          </a:prstGeom>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SMART DRIVING ASSISTANT</a:t>
            </a:r>
          </a:p>
        </p:txBody>
      </p:sp>
      <p:sp>
        <p:nvSpPr>
          <p:cNvPr id="9" name="Rounded Rectangle 10">
            <a:extLst>
              <a:ext uri="{FF2B5EF4-FFF2-40B4-BE49-F238E27FC236}">
                <a16:creationId xmlns:a16="http://schemas.microsoft.com/office/drawing/2014/main" id="{D905D6D8-51A0-8DDE-048B-2D627964B2A3}"/>
              </a:ext>
            </a:extLst>
          </p:cNvPr>
          <p:cNvSpPr/>
          <p:nvPr/>
        </p:nvSpPr>
        <p:spPr>
          <a:xfrm>
            <a:off x="463860" y="2418287"/>
            <a:ext cx="1788459" cy="699246"/>
          </a:xfrm>
          <a:prstGeom prst="round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Project Initiation</a:t>
            </a:r>
          </a:p>
        </p:txBody>
      </p:sp>
      <p:sp>
        <p:nvSpPr>
          <p:cNvPr id="10" name="Rounded Rectangle 12">
            <a:extLst>
              <a:ext uri="{FF2B5EF4-FFF2-40B4-BE49-F238E27FC236}">
                <a16:creationId xmlns:a16="http://schemas.microsoft.com/office/drawing/2014/main" id="{ACFF3432-104D-EFAD-D4BB-FDAD51E5843A}"/>
              </a:ext>
            </a:extLst>
          </p:cNvPr>
          <p:cNvSpPr/>
          <p:nvPr/>
        </p:nvSpPr>
        <p:spPr>
          <a:xfrm>
            <a:off x="2566084" y="2418287"/>
            <a:ext cx="1851209" cy="699246"/>
          </a:xfrm>
          <a:prstGeom prst="round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Planning and Analysis</a:t>
            </a:r>
          </a:p>
        </p:txBody>
      </p:sp>
      <p:sp>
        <p:nvSpPr>
          <p:cNvPr id="11" name="Rounded Rectangle 13">
            <a:extLst>
              <a:ext uri="{FF2B5EF4-FFF2-40B4-BE49-F238E27FC236}">
                <a16:creationId xmlns:a16="http://schemas.microsoft.com/office/drawing/2014/main" id="{C9FFB3B3-6B62-0C5B-40DA-55ED2B0F897D}"/>
              </a:ext>
            </a:extLst>
          </p:cNvPr>
          <p:cNvSpPr/>
          <p:nvPr/>
        </p:nvSpPr>
        <p:spPr>
          <a:xfrm>
            <a:off x="4714626" y="2418286"/>
            <a:ext cx="2245659" cy="699247"/>
          </a:xfrm>
          <a:prstGeom prst="round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Development and Implementation</a:t>
            </a:r>
          </a:p>
        </p:txBody>
      </p:sp>
      <p:sp>
        <p:nvSpPr>
          <p:cNvPr id="12" name="Rounded Rectangle 16">
            <a:extLst>
              <a:ext uri="{FF2B5EF4-FFF2-40B4-BE49-F238E27FC236}">
                <a16:creationId xmlns:a16="http://schemas.microsoft.com/office/drawing/2014/main" id="{C33A3FAC-AC18-55B8-91D2-672E65F6FA99}"/>
              </a:ext>
            </a:extLst>
          </p:cNvPr>
          <p:cNvSpPr/>
          <p:nvPr/>
        </p:nvSpPr>
        <p:spPr>
          <a:xfrm>
            <a:off x="7286001" y="2418287"/>
            <a:ext cx="1999130" cy="699246"/>
          </a:xfrm>
          <a:prstGeom prst="round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Monitoring and</a:t>
            </a:r>
          </a:p>
          <a:p>
            <a:pPr algn="ctr"/>
            <a:r>
              <a:rPr lang="en-US" b="1" dirty="0">
                <a:latin typeface="Times New Roman" panose="02020603050405020304" pitchFamily="18" charset="0"/>
                <a:cs typeface="Times New Roman" panose="02020603050405020304" pitchFamily="18" charset="0"/>
              </a:rPr>
              <a:t>optimization  </a:t>
            </a:r>
          </a:p>
        </p:txBody>
      </p:sp>
      <p:sp>
        <p:nvSpPr>
          <p:cNvPr id="14" name="Rounded Rectangle 17">
            <a:extLst>
              <a:ext uri="{FF2B5EF4-FFF2-40B4-BE49-F238E27FC236}">
                <a16:creationId xmlns:a16="http://schemas.microsoft.com/office/drawing/2014/main" id="{6F673263-16FA-CE48-5A1F-3A98DE6B9BD7}"/>
              </a:ext>
            </a:extLst>
          </p:cNvPr>
          <p:cNvSpPr/>
          <p:nvPr/>
        </p:nvSpPr>
        <p:spPr>
          <a:xfrm>
            <a:off x="9800602" y="2418287"/>
            <a:ext cx="1918447" cy="699246"/>
          </a:xfrm>
          <a:prstGeom prst="round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Times New Roman" panose="02020603050405020304" pitchFamily="18" charset="0"/>
                <a:cs typeface="Times New Roman" panose="02020603050405020304" pitchFamily="18" charset="0"/>
              </a:rPr>
              <a:t>Project Closure</a:t>
            </a:r>
          </a:p>
        </p:txBody>
      </p:sp>
      <p:sp>
        <p:nvSpPr>
          <p:cNvPr id="15" name="Rounded Rectangle 18">
            <a:extLst>
              <a:ext uri="{FF2B5EF4-FFF2-40B4-BE49-F238E27FC236}">
                <a16:creationId xmlns:a16="http://schemas.microsoft.com/office/drawing/2014/main" id="{6CC370B2-62EC-0895-488B-124FF2C7DCA1}"/>
              </a:ext>
            </a:extLst>
          </p:cNvPr>
          <p:cNvSpPr/>
          <p:nvPr/>
        </p:nvSpPr>
        <p:spPr>
          <a:xfrm>
            <a:off x="670049" y="3413369"/>
            <a:ext cx="1434353" cy="5513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Define project scope</a:t>
            </a:r>
          </a:p>
        </p:txBody>
      </p:sp>
      <p:sp>
        <p:nvSpPr>
          <p:cNvPr id="16" name="Rounded Rectangle 19">
            <a:extLst>
              <a:ext uri="{FF2B5EF4-FFF2-40B4-BE49-F238E27FC236}">
                <a16:creationId xmlns:a16="http://schemas.microsoft.com/office/drawing/2014/main" id="{9845A0C9-52A4-EA64-421A-FAA1245EB59B}"/>
              </a:ext>
            </a:extLst>
          </p:cNvPr>
          <p:cNvSpPr/>
          <p:nvPr/>
        </p:nvSpPr>
        <p:spPr>
          <a:xfrm>
            <a:off x="640912" y="4300874"/>
            <a:ext cx="1434353" cy="5513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Project plan</a:t>
            </a:r>
          </a:p>
        </p:txBody>
      </p:sp>
      <p:sp>
        <p:nvSpPr>
          <p:cNvPr id="17" name="Rounded Rectangle 20">
            <a:extLst>
              <a:ext uri="{FF2B5EF4-FFF2-40B4-BE49-F238E27FC236}">
                <a16:creationId xmlns:a16="http://schemas.microsoft.com/office/drawing/2014/main" id="{EC158BE3-7F95-5DB7-44ED-1A3D4189D278}"/>
              </a:ext>
            </a:extLst>
          </p:cNvPr>
          <p:cNvSpPr/>
          <p:nvPr/>
        </p:nvSpPr>
        <p:spPr>
          <a:xfrm>
            <a:off x="640912" y="5107701"/>
            <a:ext cx="1434353" cy="5513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Risk Management</a:t>
            </a:r>
          </a:p>
        </p:txBody>
      </p:sp>
      <p:sp>
        <p:nvSpPr>
          <p:cNvPr id="18" name="Rounded Rectangle 21">
            <a:extLst>
              <a:ext uri="{FF2B5EF4-FFF2-40B4-BE49-F238E27FC236}">
                <a16:creationId xmlns:a16="http://schemas.microsoft.com/office/drawing/2014/main" id="{7BF31D39-3304-F23F-1CF4-BE5D941BF92C}"/>
              </a:ext>
            </a:extLst>
          </p:cNvPr>
          <p:cNvSpPr/>
          <p:nvPr/>
        </p:nvSpPr>
        <p:spPr>
          <a:xfrm>
            <a:off x="2784216" y="3426816"/>
            <a:ext cx="1434353" cy="537883"/>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System Design</a:t>
            </a:r>
          </a:p>
        </p:txBody>
      </p:sp>
      <p:sp>
        <p:nvSpPr>
          <p:cNvPr id="19" name="Rounded Rectangle 22">
            <a:extLst>
              <a:ext uri="{FF2B5EF4-FFF2-40B4-BE49-F238E27FC236}">
                <a16:creationId xmlns:a16="http://schemas.microsoft.com/office/drawing/2014/main" id="{539443A0-171B-E231-3175-A58BA5D540C2}"/>
              </a:ext>
            </a:extLst>
          </p:cNvPr>
          <p:cNvSpPr/>
          <p:nvPr/>
        </p:nvSpPr>
        <p:spPr>
          <a:xfrm>
            <a:off x="2774511" y="4200024"/>
            <a:ext cx="1434353" cy="5513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Information gathering</a:t>
            </a:r>
          </a:p>
        </p:txBody>
      </p:sp>
      <p:sp>
        <p:nvSpPr>
          <p:cNvPr id="20" name="Rounded Rectangle 23">
            <a:extLst>
              <a:ext uri="{FF2B5EF4-FFF2-40B4-BE49-F238E27FC236}">
                <a16:creationId xmlns:a16="http://schemas.microsoft.com/office/drawing/2014/main" id="{DAFB6499-ABD7-28C3-8C8F-F863A9D617EE}"/>
              </a:ext>
            </a:extLst>
          </p:cNvPr>
          <p:cNvSpPr/>
          <p:nvPr/>
        </p:nvSpPr>
        <p:spPr>
          <a:xfrm>
            <a:off x="2774511" y="5067360"/>
            <a:ext cx="1434353" cy="5513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Cost estimation</a:t>
            </a:r>
          </a:p>
        </p:txBody>
      </p:sp>
      <p:sp>
        <p:nvSpPr>
          <p:cNvPr id="21" name="Rounded Rectangle 24">
            <a:extLst>
              <a:ext uri="{FF2B5EF4-FFF2-40B4-BE49-F238E27FC236}">
                <a16:creationId xmlns:a16="http://schemas.microsoft.com/office/drawing/2014/main" id="{9CF06BBF-47BC-7946-D810-0D564C3BCDDA}"/>
              </a:ext>
            </a:extLst>
          </p:cNvPr>
          <p:cNvSpPr/>
          <p:nvPr/>
        </p:nvSpPr>
        <p:spPr>
          <a:xfrm>
            <a:off x="2774510" y="5934696"/>
            <a:ext cx="1434353" cy="5513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Technical Analysis</a:t>
            </a:r>
          </a:p>
        </p:txBody>
      </p:sp>
      <p:sp>
        <p:nvSpPr>
          <p:cNvPr id="22" name="Rounded Rectangle 25">
            <a:extLst>
              <a:ext uri="{FF2B5EF4-FFF2-40B4-BE49-F238E27FC236}">
                <a16:creationId xmlns:a16="http://schemas.microsoft.com/office/drawing/2014/main" id="{9DCCB080-F2C8-2010-ED61-CFA84234ECB6}"/>
              </a:ext>
            </a:extLst>
          </p:cNvPr>
          <p:cNvSpPr/>
          <p:nvPr/>
        </p:nvSpPr>
        <p:spPr>
          <a:xfrm>
            <a:off x="5134468" y="3438578"/>
            <a:ext cx="1434353" cy="55133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Sensor Integration</a:t>
            </a:r>
          </a:p>
        </p:txBody>
      </p:sp>
      <p:sp>
        <p:nvSpPr>
          <p:cNvPr id="23" name="Rounded Rectangle 26">
            <a:extLst>
              <a:ext uri="{FF2B5EF4-FFF2-40B4-BE49-F238E27FC236}">
                <a16:creationId xmlns:a16="http://schemas.microsoft.com/office/drawing/2014/main" id="{3E27C907-3A68-4BA5-F39D-CB7AC884FE0E}"/>
              </a:ext>
            </a:extLst>
          </p:cNvPr>
          <p:cNvSpPr/>
          <p:nvPr/>
        </p:nvSpPr>
        <p:spPr>
          <a:xfrm>
            <a:off x="5134470" y="4200024"/>
            <a:ext cx="1434353" cy="551330"/>
          </a:xfrm>
          <a:prstGeom prst="round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Actuator Integration</a:t>
            </a:r>
          </a:p>
        </p:txBody>
      </p:sp>
      <p:sp>
        <p:nvSpPr>
          <p:cNvPr id="24" name="Rounded Rectangle 27">
            <a:extLst>
              <a:ext uri="{FF2B5EF4-FFF2-40B4-BE49-F238E27FC236}">
                <a16:creationId xmlns:a16="http://schemas.microsoft.com/office/drawing/2014/main" id="{DD1EEBEB-4D8D-287D-B673-D9D85B409CB4}"/>
              </a:ext>
            </a:extLst>
          </p:cNvPr>
          <p:cNvSpPr/>
          <p:nvPr/>
        </p:nvSpPr>
        <p:spPr>
          <a:xfrm>
            <a:off x="5150528" y="4981464"/>
            <a:ext cx="1434353" cy="5513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Code Setup</a:t>
            </a:r>
          </a:p>
        </p:txBody>
      </p:sp>
      <p:sp>
        <p:nvSpPr>
          <p:cNvPr id="25" name="Rounded Rectangle 28">
            <a:extLst>
              <a:ext uri="{FF2B5EF4-FFF2-40B4-BE49-F238E27FC236}">
                <a16:creationId xmlns:a16="http://schemas.microsoft.com/office/drawing/2014/main" id="{153C1774-E4FE-09AE-CF95-6388E10BD162}"/>
              </a:ext>
            </a:extLst>
          </p:cNvPr>
          <p:cNvSpPr/>
          <p:nvPr/>
        </p:nvSpPr>
        <p:spPr>
          <a:xfrm>
            <a:off x="5150529" y="5740297"/>
            <a:ext cx="1434352" cy="763488"/>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System Testing &amp; debugging</a:t>
            </a:r>
          </a:p>
        </p:txBody>
      </p:sp>
      <p:sp>
        <p:nvSpPr>
          <p:cNvPr id="26" name="Rounded Rectangle 29">
            <a:extLst>
              <a:ext uri="{FF2B5EF4-FFF2-40B4-BE49-F238E27FC236}">
                <a16:creationId xmlns:a16="http://schemas.microsoft.com/office/drawing/2014/main" id="{6636BE91-FAD5-EF6D-C398-6CB424EF404E}"/>
              </a:ext>
            </a:extLst>
          </p:cNvPr>
          <p:cNvSpPr/>
          <p:nvPr/>
        </p:nvSpPr>
        <p:spPr>
          <a:xfrm>
            <a:off x="7568389" y="3426816"/>
            <a:ext cx="1434353" cy="5513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Data analysis and reporting</a:t>
            </a:r>
          </a:p>
        </p:txBody>
      </p:sp>
      <p:sp>
        <p:nvSpPr>
          <p:cNvPr id="27" name="Rounded Rectangle 30">
            <a:extLst>
              <a:ext uri="{FF2B5EF4-FFF2-40B4-BE49-F238E27FC236}">
                <a16:creationId xmlns:a16="http://schemas.microsoft.com/office/drawing/2014/main" id="{D5C1C71D-8254-4355-020B-6522354CB554}"/>
              </a:ext>
            </a:extLst>
          </p:cNvPr>
          <p:cNvSpPr/>
          <p:nvPr/>
        </p:nvSpPr>
        <p:spPr>
          <a:xfrm>
            <a:off x="7568388" y="4200024"/>
            <a:ext cx="1434353" cy="5513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Optimization</a:t>
            </a:r>
          </a:p>
        </p:txBody>
      </p:sp>
      <p:sp>
        <p:nvSpPr>
          <p:cNvPr id="28" name="Rounded Rectangle 31">
            <a:extLst>
              <a:ext uri="{FF2B5EF4-FFF2-40B4-BE49-F238E27FC236}">
                <a16:creationId xmlns:a16="http://schemas.microsoft.com/office/drawing/2014/main" id="{64090F96-D06F-D93C-FDBB-DF2E6B86141E}"/>
              </a:ext>
            </a:extLst>
          </p:cNvPr>
          <p:cNvSpPr/>
          <p:nvPr/>
        </p:nvSpPr>
        <p:spPr>
          <a:xfrm>
            <a:off x="7568387" y="5060637"/>
            <a:ext cx="1434353" cy="5513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Testing</a:t>
            </a:r>
          </a:p>
        </p:txBody>
      </p:sp>
      <p:sp>
        <p:nvSpPr>
          <p:cNvPr id="29" name="Rounded Rectangle 32">
            <a:extLst>
              <a:ext uri="{FF2B5EF4-FFF2-40B4-BE49-F238E27FC236}">
                <a16:creationId xmlns:a16="http://schemas.microsoft.com/office/drawing/2014/main" id="{C74C541A-DC35-194E-6C3C-2ADCC009EA40}"/>
              </a:ext>
            </a:extLst>
          </p:cNvPr>
          <p:cNvSpPr/>
          <p:nvPr/>
        </p:nvSpPr>
        <p:spPr>
          <a:xfrm>
            <a:off x="9921624" y="3352857"/>
            <a:ext cx="1676401" cy="5513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Documentation</a:t>
            </a:r>
          </a:p>
        </p:txBody>
      </p:sp>
      <p:sp>
        <p:nvSpPr>
          <p:cNvPr id="30" name="Rounded Rectangle 33">
            <a:extLst>
              <a:ext uri="{FF2B5EF4-FFF2-40B4-BE49-F238E27FC236}">
                <a16:creationId xmlns:a16="http://schemas.microsoft.com/office/drawing/2014/main" id="{7D480E72-694C-2796-00DF-C8A6363D482E}"/>
              </a:ext>
            </a:extLst>
          </p:cNvPr>
          <p:cNvSpPr/>
          <p:nvPr/>
        </p:nvSpPr>
        <p:spPr>
          <a:xfrm>
            <a:off x="10042647" y="4254560"/>
            <a:ext cx="1459005" cy="597643"/>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Final testing</a:t>
            </a:r>
          </a:p>
        </p:txBody>
      </p:sp>
      <p:sp>
        <p:nvSpPr>
          <p:cNvPr id="31" name="Rounded Rectangle 34">
            <a:extLst>
              <a:ext uri="{FF2B5EF4-FFF2-40B4-BE49-F238E27FC236}">
                <a16:creationId xmlns:a16="http://schemas.microsoft.com/office/drawing/2014/main" id="{2220CA85-EBA9-80A9-ED9A-297D1402FC7C}"/>
              </a:ext>
            </a:extLst>
          </p:cNvPr>
          <p:cNvSpPr/>
          <p:nvPr/>
        </p:nvSpPr>
        <p:spPr>
          <a:xfrm>
            <a:off x="10067299" y="5107701"/>
            <a:ext cx="1434353" cy="551330"/>
          </a:xfrm>
          <a:prstGeom prst="roundRect">
            <a:avLst/>
          </a:prstGeom>
          <a:solidFill>
            <a:schemeClr val="accent5">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tx1"/>
                </a:solidFill>
                <a:latin typeface="Times New Roman" panose="02020603050405020304" pitchFamily="18" charset="0"/>
                <a:cs typeface="Times New Roman" panose="02020603050405020304" pitchFamily="18" charset="0"/>
              </a:rPr>
              <a:t>Project review</a:t>
            </a:r>
          </a:p>
        </p:txBody>
      </p:sp>
      <p:cxnSp>
        <p:nvCxnSpPr>
          <p:cNvPr id="37" name="Straight Arrow Connector 36">
            <a:extLst>
              <a:ext uri="{FF2B5EF4-FFF2-40B4-BE49-F238E27FC236}">
                <a16:creationId xmlns:a16="http://schemas.microsoft.com/office/drawing/2014/main" id="{0F5098FB-5026-2B79-08DF-4506DE9DA799}"/>
              </a:ext>
            </a:extLst>
          </p:cNvPr>
          <p:cNvCxnSpPr>
            <a:stCxn id="9" idx="2"/>
          </p:cNvCxnSpPr>
          <p:nvPr/>
        </p:nvCxnSpPr>
        <p:spPr>
          <a:xfrm>
            <a:off x="1358090" y="3117533"/>
            <a:ext cx="0" cy="336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8" name="Straight Arrow Connector 37">
            <a:extLst>
              <a:ext uri="{FF2B5EF4-FFF2-40B4-BE49-F238E27FC236}">
                <a16:creationId xmlns:a16="http://schemas.microsoft.com/office/drawing/2014/main" id="{E8F12603-4B0D-A94F-D801-71E02E5C1979}"/>
              </a:ext>
            </a:extLst>
          </p:cNvPr>
          <p:cNvCxnSpPr>
            <a:stCxn id="15" idx="2"/>
          </p:cNvCxnSpPr>
          <p:nvPr/>
        </p:nvCxnSpPr>
        <p:spPr>
          <a:xfrm flipH="1">
            <a:off x="1387224" y="3964699"/>
            <a:ext cx="2" cy="33617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39" name="Straight Arrow Connector 38">
            <a:extLst>
              <a:ext uri="{FF2B5EF4-FFF2-40B4-BE49-F238E27FC236}">
                <a16:creationId xmlns:a16="http://schemas.microsoft.com/office/drawing/2014/main" id="{4D8CB01D-CE8E-D6E6-9F74-812C6A382D31}"/>
              </a:ext>
            </a:extLst>
          </p:cNvPr>
          <p:cNvCxnSpPr>
            <a:stCxn id="16" idx="2"/>
            <a:endCxn id="17" idx="0"/>
          </p:cNvCxnSpPr>
          <p:nvPr/>
        </p:nvCxnSpPr>
        <p:spPr>
          <a:xfrm>
            <a:off x="1358089" y="4852204"/>
            <a:ext cx="0" cy="255497"/>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0" name="Straight Arrow Connector 39">
            <a:extLst>
              <a:ext uri="{FF2B5EF4-FFF2-40B4-BE49-F238E27FC236}">
                <a16:creationId xmlns:a16="http://schemas.microsoft.com/office/drawing/2014/main" id="{91E8FD59-BB8D-59AC-C82C-6B8B6B1921FD}"/>
              </a:ext>
            </a:extLst>
          </p:cNvPr>
          <p:cNvCxnSpPr>
            <a:stCxn id="10" idx="2"/>
            <a:endCxn id="18" idx="0"/>
          </p:cNvCxnSpPr>
          <p:nvPr/>
        </p:nvCxnSpPr>
        <p:spPr>
          <a:xfrm>
            <a:off x="3491689" y="3117533"/>
            <a:ext cx="9704" cy="309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9D58A5AA-C4C5-DAC7-50A5-3E0EEECA392C}"/>
              </a:ext>
            </a:extLst>
          </p:cNvPr>
          <p:cNvCxnSpPr>
            <a:stCxn id="18" idx="2"/>
            <a:endCxn id="19" idx="0"/>
          </p:cNvCxnSpPr>
          <p:nvPr/>
        </p:nvCxnSpPr>
        <p:spPr>
          <a:xfrm flipH="1">
            <a:off x="3491688" y="3964699"/>
            <a:ext cx="9705" cy="235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2" name="Straight Arrow Connector 41">
            <a:extLst>
              <a:ext uri="{FF2B5EF4-FFF2-40B4-BE49-F238E27FC236}">
                <a16:creationId xmlns:a16="http://schemas.microsoft.com/office/drawing/2014/main" id="{4830C3B2-42A8-DC7E-7FDF-81EA9F077EC3}"/>
              </a:ext>
            </a:extLst>
          </p:cNvPr>
          <p:cNvCxnSpPr>
            <a:stCxn id="19" idx="2"/>
            <a:endCxn id="20" idx="0"/>
          </p:cNvCxnSpPr>
          <p:nvPr/>
        </p:nvCxnSpPr>
        <p:spPr>
          <a:xfrm>
            <a:off x="3491688" y="4751354"/>
            <a:ext cx="0" cy="316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3" name="Straight Arrow Connector 42">
            <a:extLst>
              <a:ext uri="{FF2B5EF4-FFF2-40B4-BE49-F238E27FC236}">
                <a16:creationId xmlns:a16="http://schemas.microsoft.com/office/drawing/2014/main" id="{E2ED9D50-896D-A45C-3D99-4BF5725A32D9}"/>
              </a:ext>
            </a:extLst>
          </p:cNvPr>
          <p:cNvCxnSpPr>
            <a:cxnSpLocks/>
            <a:stCxn id="20" idx="2"/>
            <a:endCxn id="21" idx="0"/>
          </p:cNvCxnSpPr>
          <p:nvPr/>
        </p:nvCxnSpPr>
        <p:spPr>
          <a:xfrm flipH="1">
            <a:off x="3491687" y="5618690"/>
            <a:ext cx="1" cy="31600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5" name="Straight Arrow Connector 44">
            <a:extLst>
              <a:ext uri="{FF2B5EF4-FFF2-40B4-BE49-F238E27FC236}">
                <a16:creationId xmlns:a16="http://schemas.microsoft.com/office/drawing/2014/main" id="{F2A97F78-A387-143D-5E84-72FEC07549A1}"/>
              </a:ext>
            </a:extLst>
          </p:cNvPr>
          <p:cNvCxnSpPr>
            <a:cxnSpLocks/>
          </p:cNvCxnSpPr>
          <p:nvPr/>
        </p:nvCxnSpPr>
        <p:spPr>
          <a:xfrm>
            <a:off x="5778553" y="3127235"/>
            <a:ext cx="14189" cy="32104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a:extLst>
              <a:ext uri="{FF2B5EF4-FFF2-40B4-BE49-F238E27FC236}">
                <a16:creationId xmlns:a16="http://schemas.microsoft.com/office/drawing/2014/main" id="{4835568F-1B53-8901-732F-A6AFD58C5C72}"/>
              </a:ext>
            </a:extLst>
          </p:cNvPr>
          <p:cNvCxnSpPr>
            <a:stCxn id="22" idx="2"/>
            <a:endCxn id="23" idx="0"/>
          </p:cNvCxnSpPr>
          <p:nvPr/>
        </p:nvCxnSpPr>
        <p:spPr>
          <a:xfrm>
            <a:off x="5851645" y="3989908"/>
            <a:ext cx="2" cy="210116"/>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7" name="Straight Arrow Connector 46">
            <a:extLst>
              <a:ext uri="{FF2B5EF4-FFF2-40B4-BE49-F238E27FC236}">
                <a16:creationId xmlns:a16="http://schemas.microsoft.com/office/drawing/2014/main" id="{A805AA38-4F56-DB01-FCCA-7FEB0BC6952A}"/>
              </a:ext>
            </a:extLst>
          </p:cNvPr>
          <p:cNvCxnSpPr>
            <a:endCxn id="24" idx="0"/>
          </p:cNvCxnSpPr>
          <p:nvPr/>
        </p:nvCxnSpPr>
        <p:spPr>
          <a:xfrm>
            <a:off x="5867703" y="4773961"/>
            <a:ext cx="2" cy="2075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D4AA880B-0F7A-8E3A-FF07-572D4FA9D2EB}"/>
              </a:ext>
            </a:extLst>
          </p:cNvPr>
          <p:cNvCxnSpPr>
            <a:cxnSpLocks/>
            <a:stCxn id="24" idx="2"/>
            <a:endCxn id="25" idx="0"/>
          </p:cNvCxnSpPr>
          <p:nvPr/>
        </p:nvCxnSpPr>
        <p:spPr>
          <a:xfrm>
            <a:off x="5867705" y="5532794"/>
            <a:ext cx="0" cy="20750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92DB275C-0543-0C27-0AC7-1DF39E52850E}"/>
              </a:ext>
            </a:extLst>
          </p:cNvPr>
          <p:cNvCxnSpPr>
            <a:stCxn id="12" idx="2"/>
            <a:endCxn id="26" idx="0"/>
          </p:cNvCxnSpPr>
          <p:nvPr/>
        </p:nvCxnSpPr>
        <p:spPr>
          <a:xfrm>
            <a:off x="8285566" y="3117533"/>
            <a:ext cx="0" cy="309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F8CF6FD4-B3E2-19D2-7CF8-851A2E427A25}"/>
              </a:ext>
            </a:extLst>
          </p:cNvPr>
          <p:cNvCxnSpPr>
            <a:stCxn id="26" idx="2"/>
            <a:endCxn id="27" idx="0"/>
          </p:cNvCxnSpPr>
          <p:nvPr/>
        </p:nvCxnSpPr>
        <p:spPr>
          <a:xfrm flipH="1">
            <a:off x="8285565" y="3978146"/>
            <a:ext cx="1" cy="22187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A9AABEB0-A8D6-998F-67F0-0C99D18E2A5A}"/>
              </a:ext>
            </a:extLst>
          </p:cNvPr>
          <p:cNvCxnSpPr>
            <a:stCxn id="27" idx="2"/>
            <a:endCxn id="28" idx="0"/>
          </p:cNvCxnSpPr>
          <p:nvPr/>
        </p:nvCxnSpPr>
        <p:spPr>
          <a:xfrm flipH="1">
            <a:off x="8285564" y="4751354"/>
            <a:ext cx="1" cy="30928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DEA03CF8-E203-1403-4443-DF4FA31F1E8C}"/>
              </a:ext>
            </a:extLst>
          </p:cNvPr>
          <p:cNvCxnSpPr>
            <a:stCxn id="14" idx="2"/>
            <a:endCxn id="29" idx="0"/>
          </p:cNvCxnSpPr>
          <p:nvPr/>
        </p:nvCxnSpPr>
        <p:spPr>
          <a:xfrm flipH="1">
            <a:off x="10759825" y="3117533"/>
            <a:ext cx="1" cy="235324"/>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3" name="Straight Arrow Connector 52">
            <a:extLst>
              <a:ext uri="{FF2B5EF4-FFF2-40B4-BE49-F238E27FC236}">
                <a16:creationId xmlns:a16="http://schemas.microsoft.com/office/drawing/2014/main" id="{B6281669-1FB2-F978-9EA2-1F38D92C2DCA}"/>
              </a:ext>
            </a:extLst>
          </p:cNvPr>
          <p:cNvCxnSpPr>
            <a:stCxn id="29" idx="2"/>
            <a:endCxn id="30" idx="0"/>
          </p:cNvCxnSpPr>
          <p:nvPr/>
        </p:nvCxnSpPr>
        <p:spPr>
          <a:xfrm>
            <a:off x="10759825" y="3904187"/>
            <a:ext cx="12325" cy="35037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7A4E2095-F9DC-12B9-40C9-65188CEBA126}"/>
              </a:ext>
            </a:extLst>
          </p:cNvPr>
          <p:cNvCxnSpPr>
            <a:stCxn id="30" idx="2"/>
            <a:endCxn id="31" idx="0"/>
          </p:cNvCxnSpPr>
          <p:nvPr/>
        </p:nvCxnSpPr>
        <p:spPr>
          <a:xfrm>
            <a:off x="10772150" y="4852203"/>
            <a:ext cx="12326" cy="25549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598E102-1E40-BE10-DED9-46458A012E7B}"/>
              </a:ext>
            </a:extLst>
          </p:cNvPr>
          <p:cNvCxnSpPr/>
          <p:nvPr/>
        </p:nvCxnSpPr>
        <p:spPr>
          <a:xfrm>
            <a:off x="1046378" y="1940778"/>
            <a:ext cx="9610531" cy="0"/>
          </a:xfrm>
          <a:prstGeom prst="line">
            <a:avLst/>
          </a:prstGeom>
          <a:ln/>
        </p:spPr>
        <p:style>
          <a:lnRef idx="1">
            <a:schemeClr val="dk1"/>
          </a:lnRef>
          <a:fillRef idx="0">
            <a:schemeClr val="dk1"/>
          </a:fillRef>
          <a:effectRef idx="0">
            <a:schemeClr val="dk1"/>
          </a:effectRef>
          <a:fontRef idx="minor">
            <a:schemeClr val="tx1"/>
          </a:fontRef>
        </p:style>
      </p:cxnSp>
      <p:cxnSp>
        <p:nvCxnSpPr>
          <p:cNvPr id="71" name="Straight Arrow Connector 70">
            <a:extLst>
              <a:ext uri="{FF2B5EF4-FFF2-40B4-BE49-F238E27FC236}">
                <a16:creationId xmlns:a16="http://schemas.microsoft.com/office/drawing/2014/main" id="{FE7F6FD9-E6B7-D709-F713-DA25A7E9E7A2}"/>
              </a:ext>
            </a:extLst>
          </p:cNvPr>
          <p:cNvCxnSpPr/>
          <p:nvPr/>
        </p:nvCxnSpPr>
        <p:spPr>
          <a:xfrm>
            <a:off x="1062437" y="1931448"/>
            <a:ext cx="0" cy="4868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5" name="Straight Arrow Connector 74">
            <a:extLst>
              <a:ext uri="{FF2B5EF4-FFF2-40B4-BE49-F238E27FC236}">
                <a16:creationId xmlns:a16="http://schemas.microsoft.com/office/drawing/2014/main" id="{959CD81E-4354-E170-18CD-2ED69C8AC17B}"/>
              </a:ext>
            </a:extLst>
          </p:cNvPr>
          <p:cNvCxnSpPr>
            <a:endCxn id="10" idx="0"/>
          </p:cNvCxnSpPr>
          <p:nvPr/>
        </p:nvCxnSpPr>
        <p:spPr>
          <a:xfrm>
            <a:off x="3491686" y="1931448"/>
            <a:ext cx="3" cy="486839"/>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7" name="Straight Arrow Connector 76">
            <a:extLst>
              <a:ext uri="{FF2B5EF4-FFF2-40B4-BE49-F238E27FC236}">
                <a16:creationId xmlns:a16="http://schemas.microsoft.com/office/drawing/2014/main" id="{26AE94CF-1E76-DC7D-8603-688DAD694261}"/>
              </a:ext>
            </a:extLst>
          </p:cNvPr>
          <p:cNvCxnSpPr/>
          <p:nvPr/>
        </p:nvCxnSpPr>
        <p:spPr>
          <a:xfrm>
            <a:off x="5723174" y="1931448"/>
            <a:ext cx="0" cy="48683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79" name="Straight Arrow Connector 78">
            <a:extLst>
              <a:ext uri="{FF2B5EF4-FFF2-40B4-BE49-F238E27FC236}">
                <a16:creationId xmlns:a16="http://schemas.microsoft.com/office/drawing/2014/main" id="{6C7D1007-EAC6-C560-79D7-9A4FE07731E1}"/>
              </a:ext>
            </a:extLst>
          </p:cNvPr>
          <p:cNvCxnSpPr/>
          <p:nvPr/>
        </p:nvCxnSpPr>
        <p:spPr>
          <a:xfrm>
            <a:off x="8220069" y="1940778"/>
            <a:ext cx="0" cy="4775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1" name="Straight Arrow Connector 80">
            <a:extLst>
              <a:ext uri="{FF2B5EF4-FFF2-40B4-BE49-F238E27FC236}">
                <a16:creationId xmlns:a16="http://schemas.microsoft.com/office/drawing/2014/main" id="{C0B5A5B5-9333-80E0-B7E1-0106810110E8}"/>
              </a:ext>
            </a:extLst>
          </p:cNvPr>
          <p:cNvCxnSpPr/>
          <p:nvPr/>
        </p:nvCxnSpPr>
        <p:spPr>
          <a:xfrm>
            <a:off x="10656909" y="1940778"/>
            <a:ext cx="0" cy="477508"/>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3" name="Straight Arrow Connector 82">
            <a:extLst>
              <a:ext uri="{FF2B5EF4-FFF2-40B4-BE49-F238E27FC236}">
                <a16:creationId xmlns:a16="http://schemas.microsoft.com/office/drawing/2014/main" id="{488701D9-71AB-8193-4C5C-65C00290E305}"/>
              </a:ext>
            </a:extLst>
          </p:cNvPr>
          <p:cNvCxnSpPr>
            <a:cxnSpLocks/>
          </p:cNvCxnSpPr>
          <p:nvPr/>
        </p:nvCxnSpPr>
        <p:spPr>
          <a:xfrm>
            <a:off x="5723172" y="1636443"/>
            <a:ext cx="0" cy="370777"/>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8" name="Footer Placeholder 3">
            <a:extLst>
              <a:ext uri="{FF2B5EF4-FFF2-40B4-BE49-F238E27FC236}">
                <a16:creationId xmlns:a16="http://schemas.microsoft.com/office/drawing/2014/main" id="{375BDD2A-3DA0-ADA8-56B2-008EF6F0A4E4}"/>
              </a:ext>
            </a:extLst>
          </p:cNvPr>
          <p:cNvSpPr>
            <a:spLocks noGrp="1"/>
          </p:cNvSpPr>
          <p:nvPr>
            <p:ph type="ftr" sz="quarter" idx="11"/>
          </p:nvPr>
        </p:nvSpPr>
        <p:spPr>
          <a:xfrm>
            <a:off x="3851787"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spTree>
    <p:extLst>
      <p:ext uri="{BB962C8B-B14F-4D97-AF65-F5344CB8AC3E}">
        <p14:creationId xmlns:p14="http://schemas.microsoft.com/office/powerpoint/2010/main" val="27889105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195713"/>
            <a:ext cx="6619875" cy="741062"/>
          </a:xfrm>
        </p:spPr>
        <p:txBody>
          <a:bodyPr/>
          <a:lstStyle/>
          <a:p>
            <a:r>
              <a:rPr lang="en-US" sz="2400" b="1" dirty="0">
                <a:latin typeface="Times New Roman" panose="02020603050405020304" pitchFamily="18" charset="0"/>
                <a:cs typeface="Times New Roman" panose="02020603050405020304" pitchFamily="18" charset="0"/>
              </a:rPr>
              <a:t>FLOWCHART:</a:t>
            </a:r>
          </a:p>
        </p:txBody>
      </p:sp>
      <p:sp>
        <p:nvSpPr>
          <p:cNvPr id="5" name="Slide Number Placeholder 4"/>
          <p:cNvSpPr>
            <a:spLocks noGrp="1"/>
          </p:cNvSpPr>
          <p:nvPr>
            <p:ph type="sldNum" sz="quarter" idx="12"/>
          </p:nvPr>
        </p:nvSpPr>
        <p:spPr/>
        <p:txBody>
          <a:bodyPr/>
          <a:lstStyle/>
          <a:p>
            <a:pPr>
              <a:defRPr lang="en-US"/>
            </a:pPr>
            <a:fld id="{3B5AE453-1DD6-0F12-98E2-EB47AAAC6EBE}" type="slidenum">
              <a:rPr lang="en-US" smtClean="0">
                <a:latin typeface="Times New Roman" panose="02020603050405020304" pitchFamily="18" charset="0"/>
                <a:cs typeface="Times New Roman" panose="02020603050405020304" pitchFamily="18" charset="0"/>
              </a:rPr>
              <a:t>9</a:t>
            </a:fld>
            <a:endParaRPr lang="en-US">
              <a:latin typeface="Times New Roman" panose="02020603050405020304" pitchFamily="18" charset="0"/>
              <a:cs typeface="Times New Roman" panose="02020603050405020304" pitchFamily="18" charset="0"/>
            </a:endParaRPr>
          </a:p>
        </p:txBody>
      </p:sp>
      <p:sp>
        <p:nvSpPr>
          <p:cNvPr id="6" name="Oval 5"/>
          <p:cNvSpPr/>
          <p:nvPr/>
        </p:nvSpPr>
        <p:spPr>
          <a:xfrm>
            <a:off x="5286375" y="2271713"/>
            <a:ext cx="1600200" cy="714375"/>
          </a:xfrm>
          <a:prstGeom prst="ellipse">
            <a:avLst/>
          </a:prstGeom>
        </p:spPr>
        <p:style>
          <a:lnRef idx="0">
            <a:schemeClr val="accent1"/>
          </a:lnRef>
          <a:fillRef idx="0">
            <a:schemeClr val="accent1"/>
          </a:fillRef>
          <a:effectRef idx="0">
            <a:schemeClr val="accent1"/>
          </a:effectRef>
          <a:fontRef idx="minor">
            <a:schemeClr val="lt1"/>
          </a:fontRef>
        </p:style>
        <p:txBody>
          <a:bodyPr rtlCol="0" anchor="ctr">
            <a:prstTxWarp prst="textNoShape">
              <a:avLst/>
            </a:prstTxWarp>
            <a:noAutofit/>
          </a:bodyPr>
          <a:lstStyle/>
          <a:p>
            <a:pPr algn="ctr"/>
            <a:endParaRPr lang="en-US">
              <a:latin typeface="Times New Roman" panose="02020603050405020304" pitchFamily="18" charset="0"/>
              <a:cs typeface="Times New Roman" panose="02020603050405020304" pitchFamily="18" charset="0"/>
            </a:endParaRPr>
          </a:p>
        </p:txBody>
      </p:sp>
      <p:sp>
        <p:nvSpPr>
          <p:cNvPr id="7" name="Rounded Rectangle 6"/>
          <p:cNvSpPr/>
          <p:nvPr/>
        </p:nvSpPr>
        <p:spPr>
          <a:xfrm>
            <a:off x="5043488" y="2043113"/>
            <a:ext cx="1514475" cy="742950"/>
          </a:xfrm>
          <a:prstGeom prst="roundRect">
            <a:avLst/>
          </a:prstGeom>
        </p:spPr>
        <p:style>
          <a:lnRef idx="0">
            <a:schemeClr val="accent1"/>
          </a:lnRef>
          <a:fillRef idx="0">
            <a:schemeClr val="accent1"/>
          </a:fillRef>
          <a:effectRef idx="0">
            <a:schemeClr val="accent1"/>
          </a:effectRef>
          <a:fontRef idx="minor">
            <a:schemeClr val="lt1"/>
          </a:fontRef>
        </p:style>
        <p:txBody>
          <a:bodyPr rtlCol="0" anchor="ctr">
            <a:prstTxWarp prst="textNoShape">
              <a:avLst/>
            </a:prstTxWarp>
            <a:noAutofit/>
          </a:bodyPr>
          <a:lstStyle/>
          <a:p>
            <a:pPr algn="ctr"/>
            <a:endParaRPr lang="en-US">
              <a:latin typeface="Times New Roman" panose="02020603050405020304" pitchFamily="18" charset="0"/>
              <a:cs typeface="Times New Roman" panose="02020603050405020304" pitchFamily="18" charset="0"/>
            </a:endParaRPr>
          </a:p>
        </p:txBody>
      </p:sp>
      <p:sp>
        <p:nvSpPr>
          <p:cNvPr id="9" name="Oval 8"/>
          <p:cNvSpPr/>
          <p:nvPr/>
        </p:nvSpPr>
        <p:spPr>
          <a:xfrm>
            <a:off x="2328863" y="1691005"/>
            <a:ext cx="1543050" cy="852170"/>
          </a:xfrm>
          <a:prstGeom prst="ellipse">
            <a:avLst/>
          </a:prstGeom>
        </p:spPr>
        <p:style>
          <a:lnRef idx="0">
            <a:schemeClr val="accent1"/>
          </a:lnRef>
          <a:fillRef idx="0">
            <a:schemeClr val="accent1"/>
          </a:fillRef>
          <a:effectRef idx="0">
            <a:schemeClr val="accent1"/>
          </a:effectRef>
          <a:fontRef idx="minor">
            <a:schemeClr val="lt1"/>
          </a:fontRef>
        </p:style>
        <p:txBody>
          <a:bodyPr rtlCol="0" anchor="ctr">
            <a:prstTxWarp prst="textNoShape">
              <a:avLst/>
            </a:prstTxWarp>
            <a:noAutofit/>
          </a:bodyPr>
          <a:lstStyle/>
          <a:p>
            <a:pPr algn="ctr"/>
            <a:endParaRPr lang="en-US">
              <a:latin typeface="Times New Roman" panose="02020603050405020304" pitchFamily="18" charset="0"/>
              <a:cs typeface="Times New Roman" panose="02020603050405020304" pitchFamily="18" charset="0"/>
            </a:endParaRPr>
          </a:p>
        </p:txBody>
      </p:sp>
      <p:sp>
        <p:nvSpPr>
          <p:cNvPr id="10" name="Oval 9"/>
          <p:cNvSpPr/>
          <p:nvPr/>
        </p:nvSpPr>
        <p:spPr>
          <a:xfrm>
            <a:off x="8015288" y="2185988"/>
            <a:ext cx="45719" cy="85725"/>
          </a:xfrm>
          <a:prstGeom prst="ellipse">
            <a:avLst/>
          </a:prstGeom>
        </p:spPr>
        <p:style>
          <a:lnRef idx="0">
            <a:schemeClr val="accent1"/>
          </a:lnRef>
          <a:fillRef idx="0">
            <a:schemeClr val="accent1"/>
          </a:fillRef>
          <a:effectRef idx="0">
            <a:schemeClr val="accent1"/>
          </a:effectRef>
          <a:fontRef idx="minor">
            <a:schemeClr val="lt1"/>
          </a:fontRef>
        </p:style>
        <p:txBody>
          <a:bodyPr rtlCol="0" anchor="ctr">
            <a:prstTxWarp prst="textNoShape">
              <a:avLst/>
            </a:prstTxWarp>
            <a:noAutofit/>
          </a:bodyPr>
          <a:lstStyle/>
          <a:p>
            <a:pPr algn="ctr"/>
            <a:endParaRPr lang="en-US">
              <a:latin typeface="Times New Roman" panose="02020603050405020304" pitchFamily="18" charset="0"/>
              <a:cs typeface="Times New Roman" panose="02020603050405020304" pitchFamily="18" charset="0"/>
            </a:endParaRPr>
          </a:p>
        </p:txBody>
      </p:sp>
      <p:sp>
        <p:nvSpPr>
          <p:cNvPr id="11" name="Oval 10"/>
          <p:cNvSpPr/>
          <p:nvPr/>
        </p:nvSpPr>
        <p:spPr>
          <a:xfrm>
            <a:off x="3971925" y="1453206"/>
            <a:ext cx="1014413" cy="742950"/>
          </a:xfrm>
          <a:prstGeom prst="ellipse">
            <a:avLst/>
          </a:prstGeom>
        </p:spPr>
        <p:style>
          <a:lnRef idx="0">
            <a:schemeClr val="accent1"/>
          </a:lnRef>
          <a:fillRef idx="0">
            <a:schemeClr val="accent1"/>
          </a:fillRef>
          <a:effectRef idx="0">
            <a:schemeClr val="accent1"/>
          </a:effectRef>
          <a:fontRef idx="minor">
            <a:schemeClr val="lt1"/>
          </a:fontRef>
        </p:style>
        <p:txBody>
          <a:bodyPr rtlCol="0" anchor="ctr">
            <a:prstTxWarp prst="textNoShape">
              <a:avLst/>
            </a:prstTxWarp>
            <a:noAutofit/>
          </a:bodyPr>
          <a:lstStyle/>
          <a:p>
            <a:pPr algn="ctr"/>
            <a:endParaRPr lang="en-US">
              <a:latin typeface="Times New Roman" panose="02020603050405020304" pitchFamily="18" charset="0"/>
              <a:cs typeface="Times New Roman" panose="02020603050405020304" pitchFamily="18" charset="0"/>
            </a:endParaRPr>
          </a:p>
        </p:txBody>
      </p:sp>
      <p:pic>
        <p:nvPicPr>
          <p:cNvPr id="14" name="Content Placeholder 1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75484" y="781726"/>
            <a:ext cx="4441031" cy="5494606"/>
          </a:xfrm>
        </p:spPr>
      </p:pic>
      <p:sp>
        <p:nvSpPr>
          <p:cNvPr id="13" name="Oval 12"/>
          <p:cNvSpPr/>
          <p:nvPr/>
        </p:nvSpPr>
        <p:spPr>
          <a:xfrm>
            <a:off x="4479131" y="1824681"/>
            <a:ext cx="150019" cy="718494"/>
          </a:xfrm>
          <a:prstGeom prst="ellipse">
            <a:avLst/>
          </a:prstGeom>
        </p:spPr>
        <p:style>
          <a:lnRef idx="0">
            <a:schemeClr val="accent1"/>
          </a:lnRef>
          <a:fillRef idx="0">
            <a:schemeClr val="accent1"/>
          </a:fillRef>
          <a:effectRef idx="0">
            <a:schemeClr val="accent1"/>
          </a:effectRef>
          <a:fontRef idx="minor">
            <a:schemeClr val="lt1"/>
          </a:fontRef>
        </p:style>
        <p:txBody>
          <a:bodyPr rtlCol="0" anchor="ctr">
            <a:prstTxWarp prst="textNoShape">
              <a:avLst/>
            </a:prstTxWarp>
            <a:noAutofit/>
          </a:bodyPr>
          <a:lstStyle/>
          <a:p>
            <a:pPr algn="ctr"/>
            <a:endParaRPr lang="en-US">
              <a:latin typeface="Times New Roman" panose="02020603050405020304" pitchFamily="18" charset="0"/>
              <a:cs typeface="Times New Roman" panose="02020603050405020304" pitchFamily="18" charset="0"/>
            </a:endParaRPr>
          </a:p>
        </p:txBody>
      </p:sp>
      <p:sp>
        <p:nvSpPr>
          <p:cNvPr id="3" name="Footer Placeholder 3">
            <a:extLst>
              <a:ext uri="{FF2B5EF4-FFF2-40B4-BE49-F238E27FC236}">
                <a16:creationId xmlns:a16="http://schemas.microsoft.com/office/drawing/2014/main" id="{831D71E8-9C8D-124C-6B6A-09D79E6896B2}"/>
              </a:ext>
            </a:extLst>
          </p:cNvPr>
          <p:cNvSpPr>
            <a:spLocks noGrp="1"/>
          </p:cNvSpPr>
          <p:nvPr>
            <p:ph type="ftr" sz="quarter" idx="11"/>
          </p:nvPr>
        </p:nvSpPr>
        <p:spPr>
          <a:xfrm>
            <a:off x="4038600"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spTree>
    <p:extLst>
      <p:ext uri="{BB962C8B-B14F-4D97-AF65-F5344CB8AC3E}">
        <p14:creationId xmlns:p14="http://schemas.microsoft.com/office/powerpoint/2010/main" val="340480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1D43C36A-05F4-E577-46BA-C7E22C0C3F94}"/>
              </a:ext>
            </a:extLst>
          </p:cNvPr>
          <p:cNvSpPr>
            <a:spLocks noGrp="1"/>
          </p:cNvSpPr>
          <p:nvPr>
            <p:ph type="sldNum" sz="quarter" idx="12"/>
          </p:nvPr>
        </p:nvSpPr>
        <p:spPr/>
        <p:txBody>
          <a:bodyPr/>
          <a:lstStyle/>
          <a:p>
            <a:pPr>
              <a:defRPr lang="en-US"/>
            </a:pPr>
            <a:fld id="{3B5AE453-1DD6-0F12-98E2-EB47AAAC6EBE}" type="slidenum">
              <a:rPr lang="en-IN" smtClean="0">
                <a:latin typeface="Times New Roman" panose="02020603050405020304" pitchFamily="18" charset="0"/>
                <a:cs typeface="Times New Roman" panose="02020603050405020304" pitchFamily="18" charset="0"/>
              </a:rPr>
              <a:t>10</a:t>
            </a:fld>
            <a:endParaRPr lang="en-IN">
              <a:latin typeface="Times New Roman" panose="02020603050405020304" pitchFamily="18" charset="0"/>
              <a:cs typeface="Times New Roman" panose="02020603050405020304" pitchFamily="18" charset="0"/>
            </a:endParaRPr>
          </a:p>
        </p:txBody>
      </p:sp>
      <p:sp>
        <p:nvSpPr>
          <p:cNvPr id="6" name="AutoShape 2">
            <a:extLst>
              <a:ext uri="{FF2B5EF4-FFF2-40B4-BE49-F238E27FC236}">
                <a16:creationId xmlns:a16="http://schemas.microsoft.com/office/drawing/2014/main" id="{CD8E21AB-3C59-BF26-0A3E-37112486293C}"/>
              </a:ext>
            </a:extLst>
          </p:cNvPr>
          <p:cNvSpPr>
            <a:spLocks noChangeArrowheads="1"/>
          </p:cNvSpPr>
          <p:nvPr/>
        </p:nvSpPr>
        <p:spPr bwMode="auto">
          <a:xfrm>
            <a:off x="1794102" y="2047030"/>
            <a:ext cx="2078238" cy="2419351"/>
          </a:xfrm>
          <a:prstGeom prst="roundRect">
            <a:avLst>
              <a:gd name="adj" fmla="val 16667"/>
            </a:avLst>
          </a:prstGeom>
          <a:solidFill>
            <a:srgbClr val="4472C4"/>
          </a:solidFill>
          <a:ln w="38100">
            <a:solidFill>
              <a:srgbClr val="F2F2F2"/>
            </a:solidFill>
            <a:round/>
            <a:headEnd/>
            <a:tailEnd/>
          </a:ln>
          <a:effectLst>
            <a:outerShdw dist="28398" dir="3806097" algn="ctr" rotWithShape="0">
              <a:srgbClr val="1F3763">
                <a:alpha val="50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1.OpenStreetMap(Add cars, bikes, trucks, traffic rules)</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Generate scenario.</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 Generate trace file.</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AutoShape 3">
            <a:extLst>
              <a:ext uri="{FF2B5EF4-FFF2-40B4-BE49-F238E27FC236}">
                <a16:creationId xmlns:a16="http://schemas.microsoft.com/office/drawing/2014/main" id="{15EC90D1-5234-6EAE-37FD-C7C4DDDB046A}"/>
              </a:ext>
            </a:extLst>
          </p:cNvPr>
          <p:cNvSpPr>
            <a:spLocks noChangeArrowheads="1"/>
          </p:cNvSpPr>
          <p:nvPr/>
        </p:nvSpPr>
        <p:spPr bwMode="auto">
          <a:xfrm>
            <a:off x="4638474" y="2014487"/>
            <a:ext cx="2279187" cy="2591720"/>
          </a:xfrm>
          <a:prstGeom prst="roundRect">
            <a:avLst>
              <a:gd name="adj" fmla="val 16667"/>
            </a:avLst>
          </a:prstGeom>
          <a:solidFill>
            <a:srgbClr val="4472C4"/>
          </a:solidFill>
          <a:ln w="38100">
            <a:solidFill>
              <a:srgbClr val="F2F2F2"/>
            </a:solidFill>
            <a:round/>
            <a:headEnd/>
            <a:tailEnd/>
          </a:ln>
          <a:effectLst>
            <a:outerShdw dist="28398" dir="3806097" algn="ctr" rotWithShape="0">
              <a:srgbClr val="1F3763">
                <a:alpha val="50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 Integrate SUMO with NS-3.</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Export mobility trace file.(traceExporter.py).</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 Routing protocol  performance comparison (vanet-compare.cc).</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8" name="AutoShape 4">
            <a:extLst>
              <a:ext uri="{FF2B5EF4-FFF2-40B4-BE49-F238E27FC236}">
                <a16:creationId xmlns:a16="http://schemas.microsoft.com/office/drawing/2014/main" id="{2376BFA5-DF8F-64B2-DCF0-220E021F33B2}"/>
              </a:ext>
            </a:extLst>
          </p:cNvPr>
          <p:cNvSpPr>
            <a:spLocks noChangeArrowheads="1"/>
          </p:cNvSpPr>
          <p:nvPr/>
        </p:nvSpPr>
        <p:spPr bwMode="auto">
          <a:xfrm>
            <a:off x="7558819" y="1750141"/>
            <a:ext cx="2279187" cy="2944302"/>
          </a:xfrm>
          <a:prstGeom prst="roundRect">
            <a:avLst>
              <a:gd name="adj" fmla="val 16667"/>
            </a:avLst>
          </a:prstGeom>
          <a:solidFill>
            <a:srgbClr val="4472C4"/>
          </a:solidFill>
          <a:ln w="38100">
            <a:solidFill>
              <a:srgbClr val="F2F2F2"/>
            </a:solidFill>
            <a:round/>
            <a:headEnd/>
            <a:tailEnd/>
          </a:ln>
          <a:effectLst>
            <a:outerShdw dist="28398" dir="3806097" algn="ctr" rotWithShape="0">
              <a:srgbClr val="1F3763">
                <a:alpha val="50000"/>
              </a:srgbClr>
            </a:outerShdw>
          </a:effectLst>
        </p:spPr>
        <p:txBody>
          <a:bodyPr vert="horz" wrap="square" lIns="91440" tIns="45720" rIns="91440" bIns="45720" numCol="1"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1.Importing trace files to NS-3.</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2.Compilation and execution of NS-3 simulation.</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3.Network visualization with </a:t>
            </a:r>
            <a:r>
              <a:rPr kumimoji="0" lang="en-US" altLang="en-US" sz="1600" b="0" i="0" u="none" strike="noStrike" cap="none" normalizeH="0" baseline="0" dirty="0" err="1">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Netanim</a:t>
            </a: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solidFill>
                <a:effectLst/>
                <a:latin typeface="Times New Roman" panose="02020603050405020304" pitchFamily="18" charset="0"/>
                <a:ea typeface="Calibri" panose="020F0502020204030204" pitchFamily="34" charset="0"/>
                <a:cs typeface="Times New Roman" panose="02020603050405020304" pitchFamily="18" charset="0"/>
              </a:rPr>
              <a:t>4.Performance plotting using GNUPLOT</a:t>
            </a:r>
            <a:endParaRPr kumimoji="0" lang="en-US" altLang="en-US" sz="16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9" name="Rectangle: Rounded Corners 2">
            <a:extLst>
              <a:ext uri="{FF2B5EF4-FFF2-40B4-BE49-F238E27FC236}">
                <a16:creationId xmlns:a16="http://schemas.microsoft.com/office/drawing/2014/main" id="{A3BE0FE1-CF32-FF8D-F734-BF121370C687}"/>
              </a:ext>
            </a:extLst>
          </p:cNvPr>
          <p:cNvSpPr>
            <a:spLocks noChangeArrowheads="1"/>
          </p:cNvSpPr>
          <p:nvPr/>
        </p:nvSpPr>
        <p:spPr bwMode="auto">
          <a:xfrm>
            <a:off x="2195876" y="4606207"/>
            <a:ext cx="1249363" cy="625475"/>
          </a:xfrm>
          <a:prstGeom prst="roundRect">
            <a:avLst>
              <a:gd name="adj" fmla="val 16667"/>
            </a:avLst>
          </a:prstGeom>
          <a:gradFill rotWithShape="1">
            <a:gsLst>
              <a:gs pos="0">
                <a:srgbClr val="6083CB"/>
              </a:gs>
              <a:gs pos="50000">
                <a:srgbClr val="3E70CA"/>
              </a:gs>
              <a:gs pos="100000">
                <a:srgbClr val="2E61BA"/>
              </a:gs>
            </a:gsLst>
            <a:lin ang="5400000"/>
          </a:gradFill>
          <a:ln>
            <a:noFill/>
          </a:ln>
          <a:effectLst>
            <a:outerShdw dist="19050" dir="5400000" algn="ctr" rotWithShape="0">
              <a:srgbClr val="000000">
                <a:alpha val="62999"/>
              </a:srgb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SUMO</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0" name="AutoShape 4">
            <a:extLst>
              <a:ext uri="{FF2B5EF4-FFF2-40B4-BE49-F238E27FC236}">
                <a16:creationId xmlns:a16="http://schemas.microsoft.com/office/drawing/2014/main" id="{51B6D70A-855C-E7BE-FA86-B00631D641E0}"/>
              </a:ext>
            </a:extLst>
          </p:cNvPr>
          <p:cNvSpPr>
            <a:spLocks noChangeArrowheads="1"/>
          </p:cNvSpPr>
          <p:nvPr/>
        </p:nvSpPr>
        <p:spPr bwMode="auto">
          <a:xfrm>
            <a:off x="7985918" y="4785749"/>
            <a:ext cx="1249363" cy="625475"/>
          </a:xfrm>
          <a:prstGeom prst="roundRect">
            <a:avLst>
              <a:gd name="adj" fmla="val 16667"/>
            </a:avLst>
          </a:prstGeom>
          <a:gradFill rotWithShape="1">
            <a:gsLst>
              <a:gs pos="0">
                <a:srgbClr val="6083CB"/>
              </a:gs>
              <a:gs pos="50000">
                <a:srgbClr val="3E70CA"/>
              </a:gs>
              <a:gs pos="100000">
                <a:srgbClr val="2E61BA"/>
              </a:gs>
            </a:gsLst>
            <a:lin ang="5400000"/>
          </a:gradFill>
          <a:ln>
            <a:noFill/>
          </a:ln>
          <a:effectLst>
            <a:outerShdw dist="19050" dir="5400000" algn="ctr" rotWithShape="0">
              <a:srgbClr val="000000">
                <a:alpha val="62999"/>
              </a:srgb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NS-3</a:t>
            </a:r>
            <a:r>
              <a:rPr kumimoji="0" lang="en-US" altLang="en-US" sz="1200"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(3.43)</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1" name="AutoShape 3">
            <a:extLst>
              <a:ext uri="{FF2B5EF4-FFF2-40B4-BE49-F238E27FC236}">
                <a16:creationId xmlns:a16="http://schemas.microsoft.com/office/drawing/2014/main" id="{3FE11B16-B449-1A1E-D18C-B53088085D1F}"/>
              </a:ext>
            </a:extLst>
          </p:cNvPr>
          <p:cNvSpPr>
            <a:spLocks noChangeArrowheads="1"/>
          </p:cNvSpPr>
          <p:nvPr/>
        </p:nvSpPr>
        <p:spPr bwMode="auto">
          <a:xfrm>
            <a:off x="5090897" y="4766085"/>
            <a:ext cx="1249363" cy="625475"/>
          </a:xfrm>
          <a:prstGeom prst="roundRect">
            <a:avLst>
              <a:gd name="adj" fmla="val 16667"/>
            </a:avLst>
          </a:prstGeom>
          <a:gradFill rotWithShape="1">
            <a:gsLst>
              <a:gs pos="0">
                <a:srgbClr val="6083CB"/>
              </a:gs>
              <a:gs pos="50000">
                <a:srgbClr val="3E70CA"/>
              </a:gs>
              <a:gs pos="100000">
                <a:srgbClr val="2E61BA"/>
              </a:gs>
            </a:gsLst>
            <a:lin ang="5400000"/>
          </a:gradFill>
          <a:ln>
            <a:noFill/>
          </a:ln>
          <a:effectLst>
            <a:outerShdw dist="19050" dir="5400000" algn="ctr" rotWithShape="0">
              <a:srgbClr val="000000">
                <a:alpha val="62999"/>
              </a:srgbClr>
            </a:outerShdw>
          </a:effectLst>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ctr" anchorCtr="0" compatLnSpc="1">
            <a:prstTxWarp prst="textNoShape">
              <a:avLst/>
            </a:prstTxWarp>
          </a:bodyPr>
          <a:lstStyle/>
          <a:p>
            <a:pPr marL="0" marR="0" lvl="0" indent="0" algn="ctr"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0000"/>
                </a:solidFill>
                <a:effectLst/>
                <a:latin typeface="Times New Roman" panose="02020603050405020304" pitchFamily="18" charset="0"/>
                <a:ea typeface="Calibri" panose="020F0502020204030204" pitchFamily="34" charset="0"/>
                <a:cs typeface="Times New Roman" panose="02020603050405020304" pitchFamily="18" charset="0"/>
              </a:rPr>
              <a:t>VANET</a:t>
            </a:r>
            <a:endParaRPr kumimoji="0" lang="en-US" altLang="en-US" sz="1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12" name="Arrow: Right 11">
            <a:extLst>
              <a:ext uri="{FF2B5EF4-FFF2-40B4-BE49-F238E27FC236}">
                <a16:creationId xmlns:a16="http://schemas.microsoft.com/office/drawing/2014/main" id="{9D1B3234-2264-4708-3777-4E66C3EB0E3A}"/>
              </a:ext>
            </a:extLst>
          </p:cNvPr>
          <p:cNvSpPr/>
          <p:nvPr/>
        </p:nvSpPr>
        <p:spPr>
          <a:xfrm>
            <a:off x="3872340" y="3018504"/>
            <a:ext cx="766134" cy="28513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prstTxWarp prst="textNoShape">
              <a:avLst/>
            </a:prstTxWarp>
            <a:noAutofit/>
          </a:bodyPr>
          <a:lstStyle/>
          <a:p>
            <a:pPr algn="ctr"/>
            <a:endParaRPr lang="en-IN">
              <a:latin typeface="Times New Roman" panose="02020603050405020304" pitchFamily="18" charset="0"/>
              <a:cs typeface="Times New Roman" panose="02020603050405020304" pitchFamily="18" charset="0"/>
            </a:endParaRPr>
          </a:p>
        </p:txBody>
      </p:sp>
      <p:sp>
        <p:nvSpPr>
          <p:cNvPr id="13" name="Arrow: Right 12">
            <a:extLst>
              <a:ext uri="{FF2B5EF4-FFF2-40B4-BE49-F238E27FC236}">
                <a16:creationId xmlns:a16="http://schemas.microsoft.com/office/drawing/2014/main" id="{AE551492-F5DC-3DA9-D534-0593F1290621}"/>
              </a:ext>
            </a:extLst>
          </p:cNvPr>
          <p:cNvSpPr/>
          <p:nvPr/>
        </p:nvSpPr>
        <p:spPr>
          <a:xfrm>
            <a:off x="6855173" y="3025647"/>
            <a:ext cx="766134" cy="285135"/>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prstTxWarp prst="textNoShape">
              <a:avLst/>
            </a:prstTxWarp>
            <a:noAutofit/>
          </a:bodyPr>
          <a:lstStyle/>
          <a:p>
            <a:pPr algn="ctr"/>
            <a:endParaRPr lang="en-IN" dirty="0">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6269819-2ABE-613C-CEAB-FBCF7D28370E}"/>
              </a:ext>
            </a:extLst>
          </p:cNvPr>
          <p:cNvSpPr txBox="1"/>
          <p:nvPr/>
        </p:nvSpPr>
        <p:spPr>
          <a:xfrm>
            <a:off x="1120877" y="711919"/>
            <a:ext cx="5666517"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DETAILED BLOCK DIAGRAM:</a:t>
            </a:r>
            <a:endParaRPr lang="en-IN" sz="2400" b="1" dirty="0">
              <a:latin typeface="Times New Roman" panose="02020603050405020304" pitchFamily="18" charset="0"/>
              <a:cs typeface="Times New Roman" panose="02020603050405020304" pitchFamily="18" charset="0"/>
            </a:endParaRPr>
          </a:p>
        </p:txBody>
      </p:sp>
      <p:sp>
        <p:nvSpPr>
          <p:cNvPr id="2" name="Footer Placeholder 3">
            <a:extLst>
              <a:ext uri="{FF2B5EF4-FFF2-40B4-BE49-F238E27FC236}">
                <a16:creationId xmlns:a16="http://schemas.microsoft.com/office/drawing/2014/main" id="{F2CCFD36-4042-FF7F-6AA8-68D392D7C42E}"/>
              </a:ext>
            </a:extLst>
          </p:cNvPr>
          <p:cNvSpPr>
            <a:spLocks noGrp="1"/>
          </p:cNvSpPr>
          <p:nvPr>
            <p:ph type="ftr" sz="quarter" idx="11"/>
          </p:nvPr>
        </p:nvSpPr>
        <p:spPr>
          <a:xfrm>
            <a:off x="4038600"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spTree>
    <p:extLst>
      <p:ext uri="{BB962C8B-B14F-4D97-AF65-F5344CB8AC3E}">
        <p14:creationId xmlns:p14="http://schemas.microsoft.com/office/powerpoint/2010/main" val="30412145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9100" y="95252"/>
            <a:ext cx="10515600" cy="706591"/>
          </a:xfrm>
        </p:spPr>
        <p:txBody>
          <a:bodyPr/>
          <a:lstStyle/>
          <a:p>
            <a:r>
              <a:rPr lang="en-US" sz="2400" b="1" dirty="0">
                <a:latin typeface="Times New Roman" panose="02020603050405020304" pitchFamily="18" charset="0"/>
                <a:cs typeface="Times New Roman" panose="02020603050405020304" pitchFamily="18" charset="0"/>
              </a:rPr>
              <a:t>SOFTWARE TOOLS:</a:t>
            </a:r>
          </a:p>
        </p:txBody>
      </p:sp>
      <p:sp>
        <p:nvSpPr>
          <p:cNvPr id="4" name="Footer Placeholder 3"/>
          <p:cNvSpPr>
            <a:spLocks noGrp="1"/>
          </p:cNvSpPr>
          <p:nvPr>
            <p:ph type="ftr" sz="quarter" idx="11"/>
          </p:nvPr>
        </p:nvSpPr>
        <p:spPr>
          <a:xfrm>
            <a:off x="4038600"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sp>
        <p:nvSpPr>
          <p:cNvPr id="5" name="Slide Number Placeholder 4"/>
          <p:cNvSpPr>
            <a:spLocks noGrp="1"/>
          </p:cNvSpPr>
          <p:nvPr>
            <p:ph type="sldNum" sz="quarter" idx="12"/>
          </p:nvPr>
        </p:nvSpPr>
        <p:spPr/>
        <p:txBody>
          <a:bodyPr/>
          <a:lstStyle/>
          <a:p>
            <a:pPr>
              <a:defRPr lang="en-US"/>
            </a:pPr>
            <a:fld id="{3B5AE453-1DD6-0F12-98E2-EB47AAAC6EBE}" type="slidenum">
              <a:rPr lang="en-US" smtClean="0">
                <a:latin typeface="Times New Roman" panose="02020603050405020304" pitchFamily="18" charset="0"/>
                <a:cs typeface="Times New Roman" panose="02020603050405020304" pitchFamily="18" charset="0"/>
              </a:rPr>
              <a:t>11</a:t>
            </a:fld>
            <a:endParaRPr lang="en-US">
              <a:latin typeface="Times New Roman" panose="02020603050405020304" pitchFamily="18" charset="0"/>
              <a:cs typeface="Times New Roman" panose="02020603050405020304" pitchFamily="18" charset="0"/>
            </a:endParaRPr>
          </a:p>
        </p:txBody>
      </p:sp>
      <p:sp>
        <p:nvSpPr>
          <p:cNvPr id="11" name="Rectangle 6"/>
          <p:cNvSpPr>
            <a:spLocks noGrp="1" noChangeArrowheads="1"/>
          </p:cNvSpPr>
          <p:nvPr>
            <p:ph idx="1"/>
          </p:nvPr>
        </p:nvSpPr>
        <p:spPr bwMode="auto">
          <a:xfrm>
            <a:off x="1257300" y="791154"/>
            <a:ext cx="9423400" cy="5575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SUMO (Simulation of Urban Mobility)</a:t>
            </a:r>
          </a:p>
          <a:p>
            <a:pPr rtl="0" eaLnBrk="0" fontAlgn="base" hangingPunct="0">
              <a:lnSpc>
                <a:spcPct val="100000"/>
              </a:lnSpc>
              <a:spcBef>
                <a:spcPct val="0"/>
              </a:spcBef>
              <a:spcAft>
                <a:spcPct val="0"/>
              </a:spcAft>
              <a:buFont typeface="Wingdings" panose="05000000000000000000" pitchFamily="2" charset="2"/>
              <a:buChar char="Ø"/>
            </a:pP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Open-source traffic simulator</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Generates realistic vehicle movement using OSM maps</a:t>
            </a:r>
          </a:p>
          <a:p>
            <a:pPr rtl="0" eaLnBrk="0" fontAlgn="base" hangingPunct="0">
              <a:lnSpc>
                <a:spcPct val="100000"/>
              </a:lnSpc>
              <a:spcBef>
                <a:spcPct val="0"/>
              </a:spcBef>
              <a:spcAft>
                <a:spcPct val="0"/>
              </a:spcAft>
              <a:buFont typeface="Wingdings" panose="05000000000000000000" pitchFamily="2" charset="2"/>
              <a:buChar char="Ø"/>
            </a:pP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Simulates traffic rules, signals, and routing</a:t>
            </a:r>
          </a:p>
          <a:p>
            <a:pPr rtl="0" eaLnBrk="0" fontAlgn="base" hangingPunct="0">
              <a:lnSpc>
                <a:spcPct val="100000"/>
              </a:lnSpc>
              <a:spcBef>
                <a:spcPct val="0"/>
              </a:spcBef>
              <a:spcAft>
                <a:spcPct val="0"/>
              </a:spcAft>
              <a:buFont typeface="Wingdings" panose="05000000000000000000" pitchFamily="2" charset="2"/>
              <a:buChar char="Ø"/>
            </a:pP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Exports trace files for network simulators</a:t>
            </a:r>
          </a:p>
          <a:p>
            <a:pPr marL="0" marR="0" lvl="0" indent="0" algn="l" defTabSz="914400" rtl="0" eaLnBrk="0" fontAlgn="base" latinLnBrk="0" hangingPunct="0">
              <a:lnSpc>
                <a:spcPct val="100000"/>
              </a:lnSpc>
              <a:spcBef>
                <a:spcPct val="0"/>
              </a:spcBef>
              <a:spcAft>
                <a:spcPct val="0"/>
              </a:spcAft>
              <a:buClrTx/>
              <a:buSzTx/>
              <a:buNone/>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lvl="0" indent="0" rtl="0" eaLnBrk="0" fontAlgn="base" hangingPunct="0">
              <a:lnSpc>
                <a:spcPct val="100000"/>
              </a:lnSpc>
              <a:spcBef>
                <a:spcPct val="0"/>
              </a:spcBef>
              <a:spcAft>
                <a:spcPct val="0"/>
              </a:spcAft>
              <a:buNone/>
            </a:pPr>
            <a:r>
              <a:rPr lang="en-US" sz="2000" b="1" dirty="0">
                <a:latin typeface="Times New Roman" panose="02020603050405020304" pitchFamily="18" charset="0"/>
                <a:cs typeface="Times New Roman" panose="02020603050405020304" pitchFamily="18" charset="0"/>
              </a:rPr>
              <a:t>2. VANET Framework</a:t>
            </a:r>
          </a:p>
          <a:p>
            <a:pPr lvl="0" rtl="0" eaLnBrk="0" fontAlgn="base" hangingPunct="0">
              <a:lnSpc>
                <a:spcPct val="10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Integrates SUMO and NS-3 for V2V simulations</a:t>
            </a:r>
          </a:p>
          <a:p>
            <a:pPr lvl="0" rtl="0" eaLnBrk="0" fontAlgn="base" hangingPunct="0">
              <a:lnSpc>
                <a:spcPct val="10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Converts mobility traces for NS-3</a:t>
            </a:r>
          </a:p>
          <a:p>
            <a:pPr lvl="0" rtl="0" eaLnBrk="0" fontAlgn="base" hangingPunct="0">
              <a:lnSpc>
                <a:spcPct val="10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Analyzes routing protocols (AODV, DSR, DSDV)</a:t>
            </a:r>
          </a:p>
          <a:p>
            <a:pPr lvl="0" rtl="0" eaLnBrk="0" fontAlgn="base" hangingPunct="0">
              <a:lnSpc>
                <a:spcPct val="100000"/>
              </a:lnSpc>
              <a:spcBef>
                <a:spcPct val="0"/>
              </a:spcBef>
              <a:spcAft>
                <a:spcPct val="0"/>
              </a:spcAft>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vanet-compare.cc for protocol performance</a:t>
            </a:r>
          </a:p>
          <a:p>
            <a:pPr marL="0" lvl="0" indent="0" rtl="0" eaLnBrk="0" fontAlgn="base" hangingPunct="0">
              <a:lnSpc>
                <a:spcPct val="100000"/>
              </a:lnSpc>
              <a:spcBef>
                <a:spcPct val="0"/>
              </a:spcBef>
              <a:spcAft>
                <a:spcPct val="0"/>
              </a:spcAft>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dirty="0">
                <a:latin typeface="Times New Roman" panose="02020603050405020304" pitchFamily="18" charset="0"/>
                <a:cs typeface="Times New Roman" panose="02020603050405020304" pitchFamily="18" charset="0"/>
              </a:rPr>
              <a:t>3. NS-3 (Network Simulator 3)</a:t>
            </a:r>
          </a:p>
          <a:p>
            <a:pPr>
              <a:spcBef>
                <a:spcPts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Discrete-event network simulator (C++/Python)</a:t>
            </a:r>
          </a:p>
          <a:p>
            <a:pPr>
              <a:spcBef>
                <a:spcPts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Simulates wireless communication (e.g., 802.11p for V2V)</a:t>
            </a:r>
          </a:p>
          <a:p>
            <a:pPr>
              <a:spcBef>
                <a:spcPts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Evaluates network performance: throughput, delay, packet loss</a:t>
            </a:r>
          </a:p>
          <a:p>
            <a:pPr>
              <a:spcBef>
                <a:spcPts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Visualization: </a:t>
            </a:r>
            <a:r>
              <a:rPr lang="en-US" sz="2000" b="1" dirty="0" err="1">
                <a:latin typeface="Times New Roman" panose="02020603050405020304" pitchFamily="18" charset="0"/>
                <a:cs typeface="Times New Roman" panose="02020603050405020304" pitchFamily="18" charset="0"/>
              </a:rPr>
              <a:t>NetAnim</a:t>
            </a:r>
            <a:endParaRPr lang="en-US" sz="2000" dirty="0">
              <a:latin typeface="Times New Roman" panose="02020603050405020304" pitchFamily="18" charset="0"/>
              <a:cs typeface="Times New Roman" panose="02020603050405020304" pitchFamily="18" charset="0"/>
            </a:endParaRPr>
          </a:p>
          <a:p>
            <a:pPr>
              <a:spcBef>
                <a:spcPts val="0"/>
              </a:spcBef>
              <a:buFont typeface="Wingdings" panose="05000000000000000000" pitchFamily="2" charset="2"/>
              <a:buChar char="Ø"/>
            </a:pPr>
            <a:r>
              <a:rPr lang="en-US" sz="2000" dirty="0">
                <a:latin typeface="Times New Roman" panose="02020603050405020304" pitchFamily="18" charset="0"/>
                <a:cs typeface="Times New Roman" panose="02020603050405020304" pitchFamily="18" charset="0"/>
              </a:rPr>
              <a:t>Graphing: </a:t>
            </a:r>
            <a:r>
              <a:rPr lang="en-US" sz="2000" b="1" dirty="0" err="1">
                <a:latin typeface="Times New Roman" panose="02020603050405020304" pitchFamily="18" charset="0"/>
                <a:cs typeface="Times New Roman" panose="02020603050405020304" pitchFamily="18" charset="0"/>
              </a:rPr>
              <a:t>Gnuplot</a:t>
            </a:r>
            <a:endParaRPr lang="en-US" sz="2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78036300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48825"/>
            <a:ext cx="10515600" cy="832724"/>
          </a:xfrm>
        </p:spPr>
        <p:txBody>
          <a:bodyPr/>
          <a:lstStyle/>
          <a:p>
            <a:r>
              <a:rPr lang="en-US" sz="2400" b="1" dirty="0">
                <a:latin typeface="Times New Roman" panose="02020603050405020304" pitchFamily="18" charset="0"/>
                <a:cs typeface="Times New Roman" panose="02020603050405020304" pitchFamily="18" charset="0"/>
              </a:rPr>
              <a:t>HARDWARE SPECIFICATIONS</a:t>
            </a:r>
          </a:p>
        </p:txBody>
      </p:sp>
      <p:sp>
        <p:nvSpPr>
          <p:cNvPr id="3" name="Content Placeholder 2"/>
          <p:cNvSpPr>
            <a:spLocks noGrp="1"/>
          </p:cNvSpPr>
          <p:nvPr>
            <p:ph idx="1"/>
          </p:nvPr>
        </p:nvSpPr>
        <p:spPr>
          <a:xfrm>
            <a:off x="838200" y="1396181"/>
            <a:ext cx="10763250" cy="3074857"/>
          </a:xfrm>
        </p:spPr>
        <p:txBody>
          <a:bodyPr/>
          <a:lstStyle/>
          <a:p>
            <a:pPr marL="0" indent="0">
              <a:buNone/>
            </a:pPr>
            <a:r>
              <a:rPr lang="en-US" sz="2400" b="1" dirty="0">
                <a:latin typeface="Times New Roman" panose="02020603050405020304" pitchFamily="18" charset="0"/>
                <a:cs typeface="Times New Roman" panose="02020603050405020304" pitchFamily="18" charset="0"/>
              </a:rPr>
              <a:t>ESP8266 Hardware Specifications</a:t>
            </a:r>
          </a:p>
          <a:p>
            <a:r>
              <a:rPr lang="en-US" sz="1800" b="1" dirty="0">
                <a:latin typeface="Times New Roman" panose="02020603050405020304" pitchFamily="18" charset="0"/>
                <a:cs typeface="Times New Roman" panose="02020603050405020304" pitchFamily="18" charset="0"/>
              </a:rPr>
              <a:t>Processor:</a:t>
            </a:r>
            <a:r>
              <a:rPr lang="en-US" sz="1800" dirty="0">
                <a:latin typeface="Times New Roman" panose="02020603050405020304" pitchFamily="18" charset="0"/>
                <a:cs typeface="Times New Roman" panose="02020603050405020304" pitchFamily="18" charset="0"/>
              </a:rPr>
              <a:t> Single-core </a:t>
            </a:r>
            <a:r>
              <a:rPr lang="en-US" sz="1800" dirty="0" err="1">
                <a:latin typeface="Times New Roman" panose="02020603050405020304" pitchFamily="18" charset="0"/>
                <a:cs typeface="Times New Roman" panose="02020603050405020304" pitchFamily="18" charset="0"/>
              </a:rPr>
              <a:t>Tensilica</a:t>
            </a:r>
            <a:r>
              <a:rPr lang="en-US" sz="1800" dirty="0">
                <a:latin typeface="Times New Roman" panose="02020603050405020304" pitchFamily="18" charset="0"/>
                <a:cs typeface="Times New Roman" panose="02020603050405020304" pitchFamily="18" charset="0"/>
              </a:rPr>
              <a:t> L106, 80 MHz (</a:t>
            </a:r>
            <a:r>
              <a:rPr lang="en-US" sz="1800" dirty="0" err="1">
                <a:latin typeface="Times New Roman" panose="02020603050405020304" pitchFamily="18" charset="0"/>
                <a:cs typeface="Times New Roman" panose="02020603050405020304" pitchFamily="18" charset="0"/>
              </a:rPr>
              <a:t>overclockable</a:t>
            </a:r>
            <a:r>
              <a:rPr lang="en-US" sz="1800" dirty="0">
                <a:latin typeface="Times New Roman" panose="02020603050405020304" pitchFamily="18" charset="0"/>
                <a:cs typeface="Times New Roman" panose="02020603050405020304" pitchFamily="18" charset="0"/>
              </a:rPr>
              <a:t> to 160 MHz)</a:t>
            </a:r>
          </a:p>
          <a:p>
            <a:r>
              <a:rPr lang="en-US" sz="1800" b="1" dirty="0">
                <a:latin typeface="Times New Roman" panose="02020603050405020304" pitchFamily="18" charset="0"/>
                <a:cs typeface="Times New Roman" panose="02020603050405020304" pitchFamily="18" charset="0"/>
              </a:rPr>
              <a:t>RAM:</a:t>
            </a:r>
            <a:r>
              <a:rPr lang="en-US" sz="1800" dirty="0">
                <a:latin typeface="Times New Roman" panose="02020603050405020304" pitchFamily="18" charset="0"/>
                <a:cs typeface="Times New Roman" panose="02020603050405020304" pitchFamily="18" charset="0"/>
              </a:rPr>
              <a:t> Approximately 160 KB available</a:t>
            </a:r>
          </a:p>
          <a:p>
            <a:r>
              <a:rPr lang="en-US" sz="1800" b="1" dirty="0">
                <a:latin typeface="Times New Roman" panose="02020603050405020304" pitchFamily="18" charset="0"/>
                <a:cs typeface="Times New Roman" panose="02020603050405020304" pitchFamily="18" charset="0"/>
              </a:rPr>
              <a:t>Flash Memory:</a:t>
            </a:r>
            <a:r>
              <a:rPr lang="en-US" sz="1800" dirty="0">
                <a:latin typeface="Times New Roman" panose="02020603050405020304" pitchFamily="18" charset="0"/>
                <a:cs typeface="Times New Roman" panose="02020603050405020304" pitchFamily="18" charset="0"/>
              </a:rPr>
              <a:t> 512 KB to 4 MB (varies by module)</a:t>
            </a:r>
          </a:p>
          <a:p>
            <a:r>
              <a:rPr lang="en-US" sz="1800" b="1" dirty="0">
                <a:latin typeface="Times New Roman" panose="02020603050405020304" pitchFamily="18" charset="0"/>
                <a:cs typeface="Times New Roman" panose="02020603050405020304" pitchFamily="18" charset="0"/>
              </a:rPr>
              <a:t>Wi-Fi:</a:t>
            </a:r>
            <a:r>
              <a:rPr lang="en-US" sz="1800" dirty="0">
                <a:latin typeface="Times New Roman" panose="02020603050405020304" pitchFamily="18" charset="0"/>
                <a:cs typeface="Times New Roman" panose="02020603050405020304" pitchFamily="18" charset="0"/>
              </a:rPr>
              <a:t> 802.11 b/g/n (2.4 GHz)</a:t>
            </a:r>
          </a:p>
          <a:p>
            <a:r>
              <a:rPr lang="en-US" sz="1800" b="1" dirty="0">
                <a:latin typeface="Times New Roman" panose="02020603050405020304" pitchFamily="18" charset="0"/>
                <a:cs typeface="Times New Roman" panose="02020603050405020304" pitchFamily="18" charset="0"/>
              </a:rPr>
              <a:t>Bluetooth:</a:t>
            </a:r>
            <a:r>
              <a:rPr lang="en-US" sz="1800" dirty="0">
                <a:latin typeface="Times New Roman" panose="02020603050405020304" pitchFamily="18" charset="0"/>
                <a:cs typeface="Times New Roman" panose="02020603050405020304" pitchFamily="18" charset="0"/>
              </a:rPr>
              <a:t> Not supported</a:t>
            </a:r>
          </a:p>
          <a:p>
            <a:r>
              <a:rPr lang="en-US" sz="1800" b="1" dirty="0">
                <a:latin typeface="Times New Roman" panose="02020603050405020304" pitchFamily="18" charset="0"/>
                <a:cs typeface="Times New Roman" panose="02020603050405020304" pitchFamily="18" charset="0"/>
              </a:rPr>
              <a:t>GPIO Pins:</a:t>
            </a:r>
            <a:r>
              <a:rPr lang="en-US" sz="1800" dirty="0">
                <a:latin typeface="Times New Roman" panose="02020603050405020304" pitchFamily="18" charset="0"/>
                <a:cs typeface="Times New Roman" panose="02020603050405020304" pitchFamily="18" charset="0"/>
              </a:rPr>
              <a:t> Up to 17 (varies by module; e.g., ESP-01 has 2, </a:t>
            </a:r>
            <a:r>
              <a:rPr lang="en-US" sz="1800" dirty="0" err="1">
                <a:latin typeface="Times New Roman" panose="02020603050405020304" pitchFamily="18" charset="0"/>
                <a:cs typeface="Times New Roman" panose="02020603050405020304" pitchFamily="18" charset="0"/>
              </a:rPr>
              <a:t>NodeMCU</a:t>
            </a:r>
            <a:r>
              <a:rPr lang="en-US" sz="1800" dirty="0">
                <a:latin typeface="Times New Roman" panose="02020603050405020304" pitchFamily="18" charset="0"/>
                <a:cs typeface="Times New Roman" panose="02020603050405020304" pitchFamily="18" charset="0"/>
              </a:rPr>
              <a:t> has 11 usable)</a:t>
            </a:r>
          </a:p>
          <a:p>
            <a:r>
              <a:rPr lang="en-US" sz="1800" b="1" dirty="0">
                <a:latin typeface="Times New Roman" panose="02020603050405020304" pitchFamily="18" charset="0"/>
                <a:cs typeface="Times New Roman" panose="02020603050405020304" pitchFamily="18" charset="0"/>
              </a:rPr>
              <a:t>ADC Channels:</a:t>
            </a:r>
            <a:r>
              <a:rPr lang="en-US" sz="1800" dirty="0">
                <a:latin typeface="Times New Roman" panose="02020603050405020304" pitchFamily="18" charset="0"/>
                <a:cs typeface="Times New Roman" panose="02020603050405020304" pitchFamily="18" charset="0"/>
              </a:rPr>
              <a:t> 1 (10-bit resolution)</a:t>
            </a:r>
          </a:p>
          <a:p>
            <a:r>
              <a:rPr lang="en-US" sz="1800" b="1" dirty="0">
                <a:latin typeface="Times New Roman" panose="02020603050405020304" pitchFamily="18" charset="0"/>
                <a:cs typeface="Times New Roman" panose="02020603050405020304" pitchFamily="18" charset="0"/>
              </a:rPr>
              <a:t>PWM Channels:</a:t>
            </a:r>
            <a:r>
              <a:rPr lang="en-US" sz="1800" dirty="0">
                <a:latin typeface="Times New Roman" panose="02020603050405020304" pitchFamily="18" charset="0"/>
                <a:cs typeface="Times New Roman" panose="02020603050405020304" pitchFamily="18" charset="0"/>
              </a:rPr>
              <a:t> Software-based PWM</a:t>
            </a:r>
          </a:p>
          <a:p>
            <a:r>
              <a:rPr lang="en-US" sz="1800" b="1" dirty="0">
                <a:latin typeface="Times New Roman" panose="02020603050405020304" pitchFamily="18" charset="0"/>
                <a:cs typeface="Times New Roman" panose="02020603050405020304" pitchFamily="18" charset="0"/>
              </a:rPr>
              <a:t>Interfaces:</a:t>
            </a:r>
            <a:r>
              <a:rPr lang="en-US" sz="1800" dirty="0">
                <a:latin typeface="Times New Roman" panose="02020603050405020304" pitchFamily="18" charset="0"/>
                <a:cs typeface="Times New Roman" panose="02020603050405020304" pitchFamily="18" charset="0"/>
              </a:rPr>
              <a:t> SPI, I2C, UART, I2S</a:t>
            </a:r>
          </a:p>
          <a:p>
            <a:r>
              <a:rPr lang="en-US" sz="1800" b="1" dirty="0">
                <a:latin typeface="Times New Roman" panose="02020603050405020304" pitchFamily="18" charset="0"/>
                <a:cs typeface="Times New Roman" panose="02020603050405020304" pitchFamily="18" charset="0"/>
              </a:rPr>
              <a:t>Operating Voltage:</a:t>
            </a:r>
            <a:r>
              <a:rPr lang="en-US" sz="1800" dirty="0">
                <a:latin typeface="Times New Roman" panose="02020603050405020304" pitchFamily="18" charset="0"/>
                <a:cs typeface="Times New Roman" panose="02020603050405020304" pitchFamily="18" charset="0"/>
              </a:rPr>
              <a:t> 3.0 to 3.6 V (typically 3.3 V)</a:t>
            </a:r>
          </a:p>
          <a:p>
            <a:r>
              <a:rPr lang="en-US" sz="1800" b="1" dirty="0">
                <a:latin typeface="Times New Roman" panose="02020603050405020304" pitchFamily="18" charset="0"/>
                <a:cs typeface="Times New Roman" panose="02020603050405020304" pitchFamily="18" charset="0"/>
              </a:rPr>
              <a:t>Power Consumption:</a:t>
            </a:r>
            <a:r>
              <a:rPr lang="en-US" sz="1800" dirty="0">
                <a:latin typeface="Times New Roman" panose="02020603050405020304" pitchFamily="18" charset="0"/>
                <a:cs typeface="Times New Roman" panose="02020603050405020304" pitchFamily="18" charset="0"/>
              </a:rPr>
              <a:t> Low power with support for deep sleep</a:t>
            </a:r>
          </a:p>
          <a:p>
            <a:r>
              <a:rPr lang="en-US" sz="1800" b="1" dirty="0">
                <a:latin typeface="Times New Roman" panose="02020603050405020304" pitchFamily="18" charset="0"/>
                <a:cs typeface="Times New Roman" panose="02020603050405020304" pitchFamily="18" charset="0"/>
              </a:rPr>
              <a:t>Security Features:</a:t>
            </a:r>
            <a:r>
              <a:rPr lang="en-US" sz="1800" dirty="0">
                <a:latin typeface="Times New Roman" panose="02020603050405020304" pitchFamily="18" charset="0"/>
                <a:cs typeface="Times New Roman" panose="02020603050405020304" pitchFamily="18" charset="0"/>
              </a:rPr>
              <a:t> WPA/WPA2, SSL/TLS (software-based)</a:t>
            </a:r>
          </a:p>
        </p:txBody>
      </p:sp>
      <p:sp>
        <p:nvSpPr>
          <p:cNvPr id="5" name="Slide Number Placeholder 4"/>
          <p:cNvSpPr>
            <a:spLocks noGrp="1"/>
          </p:cNvSpPr>
          <p:nvPr>
            <p:ph type="sldNum" sz="quarter" idx="12"/>
          </p:nvPr>
        </p:nvSpPr>
        <p:spPr>
          <a:xfrm>
            <a:off x="8610600" y="6324324"/>
            <a:ext cx="2743200" cy="229318"/>
          </a:xfrm>
        </p:spPr>
        <p:txBody>
          <a:bodyPr/>
          <a:lstStyle/>
          <a:p>
            <a:pPr>
              <a:defRPr lang="en-US"/>
            </a:pPr>
            <a:fld id="{3B5AB30D-43D6-0F45-98E2-B510FDAC6EE0}" type="slidenum">
              <a:rPr lang="en-US" smtClean="0">
                <a:latin typeface="Times New Roman" panose="02020603050405020304" pitchFamily="18" charset="0"/>
                <a:cs typeface="Times New Roman" panose="02020603050405020304" pitchFamily="18" charset="0"/>
              </a:rPr>
              <a:t>12</a:t>
            </a:fld>
            <a:endParaRPr lang="en-US" dirty="0">
              <a:latin typeface="Times New Roman" panose="02020603050405020304" pitchFamily="18" charset="0"/>
              <a:cs typeface="Times New Roman" panose="02020603050405020304" pitchFamily="18" charset="0"/>
            </a:endParaRPr>
          </a:p>
        </p:txBody>
      </p:sp>
      <p:sp>
        <p:nvSpPr>
          <p:cNvPr id="8" name="TextBox 7"/>
          <p:cNvSpPr txBox="1"/>
          <p:nvPr/>
        </p:nvSpPr>
        <p:spPr>
          <a:xfrm>
            <a:off x="9445055" y="3877506"/>
            <a:ext cx="2530021"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ESP8266  </a:t>
            </a:r>
          </a:p>
        </p:txBody>
      </p:sp>
      <p:sp>
        <p:nvSpPr>
          <p:cNvPr id="11" name="Rectangle 10"/>
          <p:cNvSpPr/>
          <p:nvPr/>
        </p:nvSpPr>
        <p:spPr>
          <a:xfrm>
            <a:off x="8610599" y="1047866"/>
            <a:ext cx="3247571" cy="1762033"/>
          </a:xfrm>
          <a:prstGeom prst="rect">
            <a:avLst/>
          </a:prstGeom>
        </p:spPr>
        <p:style>
          <a:lnRef idx="0">
            <a:schemeClr val="accent1"/>
          </a:lnRef>
          <a:fillRef idx="0">
            <a:schemeClr val="accent1"/>
          </a:fillRef>
          <a:effectRef idx="0">
            <a:schemeClr val="accent1"/>
          </a:effectRef>
          <a:fontRef idx="minor">
            <a:schemeClr val="lt1"/>
          </a:fontRef>
        </p:style>
        <p:txBody>
          <a:bodyPr rtlCol="0" anchor="ctr">
            <a:prstTxWarp prst="textNoShape">
              <a:avLst/>
            </a:prstTxWarp>
            <a:noAutofit/>
          </a:bodyPr>
          <a:lstStyle/>
          <a:p>
            <a:pPr algn="ctr"/>
            <a:endParaRPr lang="en-US">
              <a:solidFill>
                <a:srgbClr val="0070C0"/>
              </a:solidFill>
              <a:latin typeface="Times New Roman" panose="02020603050405020304" pitchFamily="18" charset="0"/>
              <a:cs typeface="Times New Roman" panose="02020603050405020304" pitchFamily="18" charset="0"/>
            </a:endParaRPr>
          </a:p>
        </p:txBody>
      </p:sp>
      <p:sp>
        <p:nvSpPr>
          <p:cNvPr id="6" name="Footer Placeholder 3">
            <a:extLst>
              <a:ext uri="{FF2B5EF4-FFF2-40B4-BE49-F238E27FC236}">
                <a16:creationId xmlns:a16="http://schemas.microsoft.com/office/drawing/2014/main" id="{94582070-2C21-996A-CC22-6A4366D715E4}"/>
              </a:ext>
            </a:extLst>
          </p:cNvPr>
          <p:cNvSpPr>
            <a:spLocks noGrp="1"/>
          </p:cNvSpPr>
          <p:nvPr>
            <p:ph type="ftr" sz="quarter" idx="11"/>
          </p:nvPr>
        </p:nvSpPr>
        <p:spPr>
          <a:xfrm>
            <a:off x="3851787"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pic>
        <p:nvPicPr>
          <p:cNvPr id="7" name="Picture 6" descr="ESP8266 12-E">
            <a:extLst>
              <a:ext uri="{FF2B5EF4-FFF2-40B4-BE49-F238E27FC236}">
                <a16:creationId xmlns:a16="http://schemas.microsoft.com/office/drawing/2014/main" id="{84991638-97AC-0F26-20CB-CDF1D5FE25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743617" y="1276310"/>
            <a:ext cx="3359892" cy="224440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062343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37366"/>
            <a:ext cx="10515600" cy="4351655"/>
          </a:xfrm>
        </p:spPr>
        <p:txBody>
          <a:bodyPr/>
          <a:lstStyle/>
          <a:p>
            <a:pPr marL="0" indent="0">
              <a:buNone/>
            </a:pPr>
            <a:r>
              <a:rPr lang="en-US" sz="2400" b="1" dirty="0">
                <a:latin typeface="Times New Roman" panose="02020603050405020304" pitchFamily="18" charset="0"/>
                <a:cs typeface="Times New Roman" panose="02020603050405020304" pitchFamily="18" charset="0"/>
              </a:rPr>
              <a:t>ESP32 Hardware Specifications</a:t>
            </a:r>
          </a:p>
          <a:p>
            <a:r>
              <a:rPr lang="en-US" sz="1800" b="1" dirty="0">
                <a:latin typeface="Times New Roman" panose="02020603050405020304" pitchFamily="18" charset="0"/>
                <a:cs typeface="Times New Roman" panose="02020603050405020304" pitchFamily="18" charset="0"/>
              </a:rPr>
              <a:t>Processor:</a:t>
            </a:r>
            <a:r>
              <a:rPr lang="en-US" sz="1800" dirty="0">
                <a:latin typeface="Times New Roman" panose="02020603050405020304" pitchFamily="18" charset="0"/>
                <a:cs typeface="Times New Roman" panose="02020603050405020304" pitchFamily="18" charset="0"/>
              </a:rPr>
              <a:t> Dual-core </a:t>
            </a:r>
            <a:r>
              <a:rPr lang="en-US" sz="1800" dirty="0" err="1">
                <a:latin typeface="Times New Roman" panose="02020603050405020304" pitchFamily="18" charset="0"/>
                <a:cs typeface="Times New Roman" panose="02020603050405020304" pitchFamily="18" charset="0"/>
              </a:rPr>
              <a:t>Tensilica</a:t>
            </a:r>
            <a:r>
              <a:rPr lang="en-US" sz="1800" dirty="0">
                <a:latin typeface="Times New Roman" panose="02020603050405020304" pitchFamily="18" charset="0"/>
                <a:cs typeface="Times New Roman" panose="02020603050405020304" pitchFamily="18" charset="0"/>
              </a:rPr>
              <a:t> </a:t>
            </a:r>
            <a:r>
              <a:rPr lang="en-US" sz="1800" dirty="0" err="1">
                <a:latin typeface="Times New Roman" panose="02020603050405020304" pitchFamily="18" charset="0"/>
                <a:cs typeface="Times New Roman" panose="02020603050405020304" pitchFamily="18" charset="0"/>
              </a:rPr>
              <a:t>Xtensa</a:t>
            </a:r>
            <a:r>
              <a:rPr lang="en-US" sz="1800" dirty="0">
                <a:latin typeface="Times New Roman" panose="02020603050405020304" pitchFamily="18" charset="0"/>
                <a:cs typeface="Times New Roman" panose="02020603050405020304" pitchFamily="18" charset="0"/>
              </a:rPr>
              <a:t> LX6, up to 240 MHz</a:t>
            </a:r>
          </a:p>
          <a:p>
            <a:r>
              <a:rPr lang="en-US" sz="1800" b="1" dirty="0">
                <a:latin typeface="Times New Roman" panose="02020603050405020304" pitchFamily="18" charset="0"/>
                <a:cs typeface="Times New Roman" panose="02020603050405020304" pitchFamily="18" charset="0"/>
              </a:rPr>
              <a:t>RAM:</a:t>
            </a:r>
            <a:r>
              <a:rPr lang="en-US" sz="1800" dirty="0">
                <a:latin typeface="Times New Roman" panose="02020603050405020304" pitchFamily="18" charset="0"/>
                <a:cs typeface="Times New Roman" panose="02020603050405020304" pitchFamily="18" charset="0"/>
              </a:rPr>
              <a:t> 520 KB SRAM</a:t>
            </a:r>
          </a:p>
          <a:p>
            <a:r>
              <a:rPr lang="en-US" sz="1800" b="1" dirty="0">
                <a:latin typeface="Times New Roman" panose="02020603050405020304" pitchFamily="18" charset="0"/>
                <a:cs typeface="Times New Roman" panose="02020603050405020304" pitchFamily="18" charset="0"/>
              </a:rPr>
              <a:t>Flash Memory:</a:t>
            </a:r>
            <a:r>
              <a:rPr lang="en-US" sz="1800" dirty="0">
                <a:latin typeface="Times New Roman" panose="02020603050405020304" pitchFamily="18" charset="0"/>
                <a:cs typeface="Times New Roman" panose="02020603050405020304" pitchFamily="18" charset="0"/>
              </a:rPr>
              <a:t> Typically 4 MB (varies by module)</a:t>
            </a:r>
          </a:p>
          <a:p>
            <a:r>
              <a:rPr lang="en-US" sz="1800" b="1" dirty="0">
                <a:latin typeface="Times New Roman" panose="02020603050405020304" pitchFamily="18" charset="0"/>
                <a:cs typeface="Times New Roman" panose="02020603050405020304" pitchFamily="18" charset="0"/>
              </a:rPr>
              <a:t>Wi-Fi:</a:t>
            </a:r>
            <a:r>
              <a:rPr lang="en-US" sz="1800" dirty="0">
                <a:latin typeface="Times New Roman" panose="02020603050405020304" pitchFamily="18" charset="0"/>
                <a:cs typeface="Times New Roman" panose="02020603050405020304" pitchFamily="18" charset="0"/>
              </a:rPr>
              <a:t> 802.11 b/g/n, HT40</a:t>
            </a:r>
          </a:p>
          <a:p>
            <a:r>
              <a:rPr lang="en-US" sz="1800" b="1" dirty="0">
                <a:latin typeface="Times New Roman" panose="02020603050405020304" pitchFamily="18" charset="0"/>
                <a:cs typeface="Times New Roman" panose="02020603050405020304" pitchFamily="18" charset="0"/>
              </a:rPr>
              <a:t>Bluetooth:</a:t>
            </a:r>
            <a:r>
              <a:rPr lang="en-US" sz="1800" dirty="0">
                <a:latin typeface="Times New Roman" panose="02020603050405020304" pitchFamily="18" charset="0"/>
                <a:cs typeface="Times New Roman" panose="02020603050405020304" pitchFamily="18" charset="0"/>
              </a:rPr>
              <a:t> Supported (Classic Bluetooth and BLE)</a:t>
            </a:r>
          </a:p>
          <a:p>
            <a:r>
              <a:rPr lang="en-US" sz="1800" b="1" dirty="0">
                <a:latin typeface="Times New Roman" panose="02020603050405020304" pitchFamily="18" charset="0"/>
                <a:cs typeface="Times New Roman" panose="02020603050405020304" pitchFamily="18" charset="0"/>
              </a:rPr>
              <a:t>GPIO Pins:</a:t>
            </a:r>
            <a:r>
              <a:rPr lang="en-US" sz="1800" dirty="0">
                <a:latin typeface="Times New Roman" panose="02020603050405020304" pitchFamily="18" charset="0"/>
                <a:cs typeface="Times New Roman" panose="02020603050405020304" pitchFamily="18" charset="0"/>
              </a:rPr>
              <a:t> Up to 34 (configurable for various functions)</a:t>
            </a:r>
          </a:p>
          <a:p>
            <a:r>
              <a:rPr lang="en-US" sz="1800" b="1" dirty="0">
                <a:latin typeface="Times New Roman" panose="02020603050405020304" pitchFamily="18" charset="0"/>
                <a:cs typeface="Times New Roman" panose="02020603050405020304" pitchFamily="18" charset="0"/>
              </a:rPr>
              <a:t>ADC Channels:</a:t>
            </a:r>
            <a:r>
              <a:rPr lang="en-US" sz="1800" dirty="0">
                <a:latin typeface="Times New Roman" panose="02020603050405020304" pitchFamily="18" charset="0"/>
                <a:cs typeface="Times New Roman" panose="02020603050405020304" pitchFamily="18" charset="0"/>
              </a:rPr>
              <a:t> 18 (12-bit resolution)</a:t>
            </a:r>
          </a:p>
          <a:p>
            <a:r>
              <a:rPr lang="en-US" sz="1800" b="1" dirty="0">
                <a:latin typeface="Times New Roman" panose="02020603050405020304" pitchFamily="18" charset="0"/>
                <a:cs typeface="Times New Roman" panose="02020603050405020304" pitchFamily="18" charset="0"/>
              </a:rPr>
              <a:t>DAC Channels:</a:t>
            </a:r>
            <a:r>
              <a:rPr lang="en-US" sz="1800" dirty="0">
                <a:latin typeface="Times New Roman" panose="02020603050405020304" pitchFamily="18" charset="0"/>
                <a:cs typeface="Times New Roman" panose="02020603050405020304" pitchFamily="18" charset="0"/>
              </a:rPr>
              <a:t> 2 (8-bit resolution)</a:t>
            </a:r>
          </a:p>
          <a:p>
            <a:r>
              <a:rPr lang="en-US" sz="1800" b="1" dirty="0">
                <a:latin typeface="Times New Roman" panose="02020603050405020304" pitchFamily="18" charset="0"/>
                <a:cs typeface="Times New Roman" panose="02020603050405020304" pitchFamily="18" charset="0"/>
              </a:rPr>
              <a:t>PWM Channels:</a:t>
            </a:r>
            <a:r>
              <a:rPr lang="en-US" sz="1800" dirty="0">
                <a:latin typeface="Times New Roman" panose="02020603050405020304" pitchFamily="18" charset="0"/>
                <a:cs typeface="Times New Roman" panose="02020603050405020304" pitchFamily="18" charset="0"/>
              </a:rPr>
              <a:t> Up to 16</a:t>
            </a:r>
          </a:p>
          <a:p>
            <a:r>
              <a:rPr lang="en-US" sz="1800" b="1" dirty="0">
                <a:latin typeface="Times New Roman" panose="02020603050405020304" pitchFamily="18" charset="0"/>
                <a:cs typeface="Times New Roman" panose="02020603050405020304" pitchFamily="18" charset="0"/>
              </a:rPr>
              <a:t>Touch Sensors:</a:t>
            </a:r>
            <a:r>
              <a:rPr lang="en-US" sz="1800" dirty="0">
                <a:latin typeface="Times New Roman" panose="02020603050405020304" pitchFamily="18" charset="0"/>
                <a:cs typeface="Times New Roman" panose="02020603050405020304" pitchFamily="18" charset="0"/>
              </a:rPr>
              <a:t> 10 capacitive touch inputs.</a:t>
            </a:r>
          </a:p>
        </p:txBody>
      </p:sp>
      <p:sp>
        <p:nvSpPr>
          <p:cNvPr id="5" name="Slide Number Placeholder 4"/>
          <p:cNvSpPr>
            <a:spLocks noGrp="1"/>
          </p:cNvSpPr>
          <p:nvPr>
            <p:ph type="sldNum" sz="quarter" idx="12"/>
          </p:nvPr>
        </p:nvSpPr>
        <p:spPr>
          <a:xfrm>
            <a:off x="8610600" y="6415343"/>
            <a:ext cx="2743200" cy="365125"/>
          </a:xfrm>
        </p:spPr>
        <p:txBody>
          <a:bodyPr/>
          <a:lstStyle/>
          <a:p>
            <a:pPr>
              <a:defRPr lang="en-US"/>
            </a:pPr>
            <a:fld id="{3B5AB30D-43D6-0F45-98E2-B510FDAC6EE0}" type="slidenum">
              <a:rPr lang="en-US" smtClean="0">
                <a:latin typeface="Times New Roman" panose="02020603050405020304" pitchFamily="18" charset="0"/>
                <a:cs typeface="Times New Roman" panose="02020603050405020304" pitchFamily="18" charset="0"/>
              </a:rPr>
              <a:t>13</a:t>
            </a:fld>
            <a:endParaRPr lang="en-US">
              <a:latin typeface="Times New Roman" panose="02020603050405020304" pitchFamily="18" charset="0"/>
              <a:cs typeface="Times New Roman" panose="02020603050405020304" pitchFamily="18" charset="0"/>
            </a:endParaRPr>
          </a:p>
        </p:txBody>
      </p:sp>
      <p:sp>
        <p:nvSpPr>
          <p:cNvPr id="7" name="TextBox 6"/>
          <p:cNvSpPr txBox="1"/>
          <p:nvPr/>
        </p:nvSpPr>
        <p:spPr>
          <a:xfrm>
            <a:off x="7825851" y="3514740"/>
            <a:ext cx="3976915" cy="369332"/>
          </a:xfrm>
          <a:prstGeom prst="rect">
            <a:avLst/>
          </a:prstGeom>
          <a:noFill/>
        </p:spPr>
        <p:txBody>
          <a:bodyPr wrap="square" rtlCol="0">
            <a:spAutoFit/>
          </a:bodyPr>
          <a:lstStyle/>
          <a:p>
            <a:r>
              <a:rPr lang="en-US" dirty="0">
                <a:latin typeface="Times New Roman" panose="02020603050405020304" pitchFamily="18" charset="0"/>
                <a:cs typeface="Times New Roman" panose="02020603050405020304" pitchFamily="18" charset="0"/>
              </a:rPr>
              <a:t>                   ESP32</a:t>
            </a:r>
          </a:p>
        </p:txBody>
      </p:sp>
      <p:pic>
        <p:nvPicPr>
          <p:cNvPr id="6" name="Picture 2" descr="https://imgs.search.brave.com/z0jOpYmKzRNg0UR3KfWXMFrCGFKMqAnu3575HLDQHAQ/rs:fit:860:0:0:0/g:ce/aHR0cHM6Ly9pbWdz/LnNlYXJjaC5icmF2/ZS5jb20vNFFoTU1E/U1YwOFc1X3NhZDdn/UWZvR3gwSUMwOTdT/NVNzNFp3Vl9YUW9J/TS9yczpmaXQ6NTAw/OjA6MDowL2c6Y2Uv/YUhSMGNITTZMeTl0/YVdOeS9iM0I1ZEdo/dmJpNXZjbWN2L2Nt/VnpiM1Z5WTJWekwy/MXAvWTNKdmNIbDBh/Rzl1TFcxbC9aR2xo/TDJKdllYSmtjeTlG/L1UxQXpNbDlIUlU1/RlVrbEQvTDJWemNE/TXlYMlJsZG10cC9k/R011YW5Cbg">
            <a:extLst>
              <a:ext uri="{FF2B5EF4-FFF2-40B4-BE49-F238E27FC236}">
                <a16:creationId xmlns:a16="http://schemas.microsoft.com/office/drawing/2014/main" id="{ED8CF762-9554-A2FE-B188-45E83EF2284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25580" y="2052162"/>
            <a:ext cx="2903550" cy="1291099"/>
          </a:xfrm>
          <a:prstGeom prst="rect">
            <a:avLst/>
          </a:prstGeom>
          <a:noFill/>
          <a:extLst>
            <a:ext uri="{909E8E84-426E-40DD-AFC4-6F175D3DCCD1}">
              <a14:hiddenFill xmlns:a14="http://schemas.microsoft.com/office/drawing/2010/main">
                <a:solidFill>
                  <a:srgbClr val="FFFFFF"/>
                </a:solidFill>
              </a14:hiddenFill>
            </a:ext>
          </a:extLst>
        </p:spPr>
      </p:pic>
      <p:sp>
        <p:nvSpPr>
          <p:cNvPr id="9" name="Footer Placeholder 3">
            <a:extLst>
              <a:ext uri="{FF2B5EF4-FFF2-40B4-BE49-F238E27FC236}">
                <a16:creationId xmlns:a16="http://schemas.microsoft.com/office/drawing/2014/main" id="{6CA08050-95C5-A0C3-1F66-BE302BEF1EDD}"/>
              </a:ext>
            </a:extLst>
          </p:cNvPr>
          <p:cNvSpPr>
            <a:spLocks noGrp="1"/>
          </p:cNvSpPr>
          <p:nvPr>
            <p:ph type="ftr" sz="quarter" idx="11"/>
          </p:nvPr>
        </p:nvSpPr>
        <p:spPr>
          <a:xfrm>
            <a:off x="3851787"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spTree>
    <p:extLst>
      <p:ext uri="{BB962C8B-B14F-4D97-AF65-F5344CB8AC3E}">
        <p14:creationId xmlns:p14="http://schemas.microsoft.com/office/powerpoint/2010/main" val="317065962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8FB4E87D-9D68-B216-55D4-5718C7DF20B8}"/>
              </a:ext>
            </a:extLst>
          </p:cNvPr>
          <p:cNvSpPr txBox="1"/>
          <p:nvPr/>
        </p:nvSpPr>
        <p:spPr>
          <a:xfrm>
            <a:off x="1408776" y="845448"/>
            <a:ext cx="502920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BILL OF MATERIAL</a:t>
            </a:r>
            <a:endParaRPr lang="en-IN" sz="2400" b="1" dirty="0">
              <a:latin typeface="Times New Roman" panose="02020603050405020304" pitchFamily="18" charset="0"/>
              <a:cs typeface="Times New Roman" panose="02020603050405020304" pitchFamily="18" charset="0"/>
            </a:endParaRPr>
          </a:p>
        </p:txBody>
      </p:sp>
      <p:graphicFrame>
        <p:nvGraphicFramePr>
          <p:cNvPr id="8" name="Table 7">
            <a:extLst>
              <a:ext uri="{FF2B5EF4-FFF2-40B4-BE49-F238E27FC236}">
                <a16:creationId xmlns:a16="http://schemas.microsoft.com/office/drawing/2014/main" id="{011F8995-4B7C-59C8-F820-A694C1575735}"/>
              </a:ext>
            </a:extLst>
          </p:cNvPr>
          <p:cNvGraphicFramePr>
            <a:graphicFrameLocks noGrp="1"/>
          </p:cNvGraphicFramePr>
          <p:nvPr>
            <p:extLst>
              <p:ext uri="{D42A27DB-BD31-4B8C-83A1-F6EECF244321}">
                <p14:modId xmlns:p14="http://schemas.microsoft.com/office/powerpoint/2010/main" val="3250847518"/>
              </p:ext>
            </p:extLst>
          </p:nvPr>
        </p:nvGraphicFramePr>
        <p:xfrm>
          <a:off x="1408776" y="1732010"/>
          <a:ext cx="9415464" cy="2689790"/>
        </p:xfrm>
        <a:graphic>
          <a:graphicData uri="http://schemas.openxmlformats.org/drawingml/2006/table">
            <a:tbl>
              <a:tblPr firstRow="1" bandRow="1">
                <a:tableStyleId>{5C22544A-7EE6-4342-B048-85BDC9FD1C3A}</a:tableStyleId>
              </a:tblPr>
              <a:tblGrid>
                <a:gridCol w="1128993">
                  <a:extLst>
                    <a:ext uri="{9D8B030D-6E8A-4147-A177-3AD203B41FA5}">
                      <a16:colId xmlns:a16="http://schemas.microsoft.com/office/drawing/2014/main" val="2090963905"/>
                    </a:ext>
                  </a:extLst>
                </a:gridCol>
                <a:gridCol w="3578739">
                  <a:extLst>
                    <a:ext uri="{9D8B030D-6E8A-4147-A177-3AD203B41FA5}">
                      <a16:colId xmlns:a16="http://schemas.microsoft.com/office/drawing/2014/main" val="303460662"/>
                    </a:ext>
                  </a:extLst>
                </a:gridCol>
                <a:gridCol w="2353866">
                  <a:extLst>
                    <a:ext uri="{9D8B030D-6E8A-4147-A177-3AD203B41FA5}">
                      <a16:colId xmlns:a16="http://schemas.microsoft.com/office/drawing/2014/main" val="278630720"/>
                    </a:ext>
                  </a:extLst>
                </a:gridCol>
                <a:gridCol w="2353866">
                  <a:extLst>
                    <a:ext uri="{9D8B030D-6E8A-4147-A177-3AD203B41FA5}">
                      <a16:colId xmlns:a16="http://schemas.microsoft.com/office/drawing/2014/main" val="1820762843"/>
                    </a:ext>
                  </a:extLst>
                </a:gridCol>
              </a:tblGrid>
              <a:tr h="537958">
                <a:tc>
                  <a:txBody>
                    <a:bodyPr/>
                    <a:lstStyle/>
                    <a:p>
                      <a:r>
                        <a:rPr lang="en-US" dirty="0"/>
                        <a:t>SL NO.</a:t>
                      </a:r>
                      <a:endParaRPr lang="en-IN" dirty="0"/>
                    </a:p>
                  </a:txBody>
                  <a:tcPr/>
                </a:tc>
                <a:tc>
                  <a:txBody>
                    <a:bodyPr/>
                    <a:lstStyle/>
                    <a:p>
                      <a:r>
                        <a:rPr lang="en-US" dirty="0"/>
                        <a:t>COMPONENTS</a:t>
                      </a:r>
                      <a:endParaRPr lang="en-IN" dirty="0"/>
                    </a:p>
                  </a:txBody>
                  <a:tcPr/>
                </a:tc>
                <a:tc>
                  <a:txBody>
                    <a:bodyPr/>
                    <a:lstStyle/>
                    <a:p>
                      <a:r>
                        <a:rPr lang="en-US" dirty="0"/>
                        <a:t>QUANTITY</a:t>
                      </a:r>
                      <a:endParaRPr lang="en-IN" dirty="0"/>
                    </a:p>
                  </a:txBody>
                  <a:tcPr/>
                </a:tc>
                <a:tc>
                  <a:txBody>
                    <a:bodyPr/>
                    <a:lstStyle/>
                    <a:p>
                      <a:r>
                        <a:rPr lang="en-US" dirty="0"/>
                        <a:t>PRICE(Rs.)</a:t>
                      </a:r>
                      <a:endParaRPr lang="en-IN" dirty="0"/>
                    </a:p>
                  </a:txBody>
                  <a:tcPr/>
                </a:tc>
                <a:extLst>
                  <a:ext uri="{0D108BD9-81ED-4DB2-BD59-A6C34878D82A}">
                    <a16:rowId xmlns:a16="http://schemas.microsoft.com/office/drawing/2014/main" val="2474838275"/>
                  </a:ext>
                </a:extLst>
              </a:tr>
              <a:tr h="537958">
                <a:tc>
                  <a:txBody>
                    <a:bodyPr/>
                    <a:lstStyle/>
                    <a:p>
                      <a:r>
                        <a:rPr lang="en-US" dirty="0"/>
                        <a:t>01.</a:t>
                      </a:r>
                      <a:endParaRPr lang="en-IN" dirty="0"/>
                    </a:p>
                  </a:txBody>
                  <a:tcPr/>
                </a:tc>
                <a:tc>
                  <a:txBody>
                    <a:bodyPr/>
                    <a:lstStyle/>
                    <a:p>
                      <a:r>
                        <a:rPr lang="en-US" dirty="0"/>
                        <a:t>ESP32</a:t>
                      </a:r>
                      <a:endParaRPr lang="en-IN" dirty="0"/>
                    </a:p>
                  </a:txBody>
                  <a:tcPr/>
                </a:tc>
                <a:tc>
                  <a:txBody>
                    <a:bodyPr/>
                    <a:lstStyle/>
                    <a:p>
                      <a:r>
                        <a:rPr lang="en-US" dirty="0"/>
                        <a:t>1</a:t>
                      </a:r>
                      <a:endParaRPr lang="en-IN" dirty="0"/>
                    </a:p>
                  </a:txBody>
                  <a:tcPr/>
                </a:tc>
                <a:tc>
                  <a:txBody>
                    <a:bodyPr/>
                    <a:lstStyle/>
                    <a:p>
                      <a:r>
                        <a:rPr lang="en-US" dirty="0"/>
                        <a:t>450</a:t>
                      </a:r>
                      <a:endParaRPr lang="en-IN" dirty="0"/>
                    </a:p>
                  </a:txBody>
                  <a:tcPr/>
                </a:tc>
                <a:extLst>
                  <a:ext uri="{0D108BD9-81ED-4DB2-BD59-A6C34878D82A}">
                    <a16:rowId xmlns:a16="http://schemas.microsoft.com/office/drawing/2014/main" val="4215363128"/>
                  </a:ext>
                </a:extLst>
              </a:tr>
              <a:tr h="537958">
                <a:tc>
                  <a:txBody>
                    <a:bodyPr/>
                    <a:lstStyle/>
                    <a:p>
                      <a:r>
                        <a:rPr lang="en-US" dirty="0"/>
                        <a:t>02.</a:t>
                      </a:r>
                      <a:endParaRPr lang="en-IN" dirty="0"/>
                    </a:p>
                  </a:txBody>
                  <a:tcPr/>
                </a:tc>
                <a:tc>
                  <a:txBody>
                    <a:bodyPr/>
                    <a:lstStyle/>
                    <a:p>
                      <a:pPr marL="0" marR="0" indent="0" algn="l" defTabSz="914400" eaLnBrk="1" fontAlgn="auto" latinLnBrk="0" hangingPunct="1">
                        <a:lnSpc>
                          <a:spcPct val="100000"/>
                        </a:lnSpc>
                        <a:spcBef>
                          <a:spcPts val="0"/>
                        </a:spcBef>
                        <a:spcAft>
                          <a:spcPts val="0"/>
                        </a:spcAft>
                        <a:buClrTx/>
                        <a:buSzTx/>
                        <a:buFontTx/>
                        <a:buNone/>
                        <a:tabLst/>
                        <a:defRPr/>
                      </a:pPr>
                      <a:r>
                        <a:rPr lang="en-US" dirty="0"/>
                        <a:t>JUMPER WIRES</a:t>
                      </a:r>
                      <a:endParaRPr lang="en-IN" dirty="0"/>
                    </a:p>
                  </a:txBody>
                  <a:tcPr/>
                </a:tc>
                <a:tc>
                  <a:txBody>
                    <a:bodyPr/>
                    <a:lstStyle/>
                    <a:p>
                      <a:r>
                        <a:rPr lang="en-US" dirty="0"/>
                        <a:t>1</a:t>
                      </a:r>
                      <a:r>
                        <a:rPr lang="en-US" baseline="0" dirty="0"/>
                        <a:t> SET</a:t>
                      </a:r>
                      <a:endParaRPr lang="en-IN" dirty="0"/>
                    </a:p>
                  </a:txBody>
                  <a:tcPr/>
                </a:tc>
                <a:tc>
                  <a:txBody>
                    <a:bodyPr/>
                    <a:lstStyle/>
                    <a:p>
                      <a:r>
                        <a:rPr lang="en-US" dirty="0"/>
                        <a:t>150</a:t>
                      </a:r>
                      <a:endParaRPr lang="en-IN" dirty="0"/>
                    </a:p>
                  </a:txBody>
                  <a:tcPr/>
                </a:tc>
                <a:extLst>
                  <a:ext uri="{0D108BD9-81ED-4DB2-BD59-A6C34878D82A}">
                    <a16:rowId xmlns:a16="http://schemas.microsoft.com/office/drawing/2014/main" val="3096089602"/>
                  </a:ext>
                </a:extLst>
              </a:tr>
              <a:tr h="537958">
                <a:tc>
                  <a:txBody>
                    <a:bodyPr/>
                    <a:lstStyle/>
                    <a:p>
                      <a:r>
                        <a:rPr lang="en-US" dirty="0"/>
                        <a:t>03.</a:t>
                      </a:r>
                      <a:endParaRPr lang="en-IN" dirty="0"/>
                    </a:p>
                  </a:txBody>
                  <a:tcPr/>
                </a:tc>
                <a:tc>
                  <a:txBody>
                    <a:bodyPr/>
                    <a:lstStyle/>
                    <a:p>
                      <a:r>
                        <a:rPr lang="en-IN" dirty="0"/>
                        <a:t>ESP8266</a:t>
                      </a:r>
                    </a:p>
                  </a:txBody>
                  <a:tcPr/>
                </a:tc>
                <a:tc>
                  <a:txBody>
                    <a:bodyPr/>
                    <a:lstStyle/>
                    <a:p>
                      <a:r>
                        <a:rPr lang="en-IN" dirty="0"/>
                        <a:t>1</a:t>
                      </a:r>
                    </a:p>
                  </a:txBody>
                  <a:tcPr/>
                </a:tc>
                <a:tc>
                  <a:txBody>
                    <a:bodyPr/>
                    <a:lstStyle/>
                    <a:p>
                      <a:r>
                        <a:rPr lang="en-US" dirty="0"/>
                        <a:t>375</a:t>
                      </a:r>
                      <a:endParaRPr lang="en-IN" dirty="0"/>
                    </a:p>
                  </a:txBody>
                  <a:tcPr/>
                </a:tc>
                <a:extLst>
                  <a:ext uri="{0D108BD9-81ED-4DB2-BD59-A6C34878D82A}">
                    <a16:rowId xmlns:a16="http://schemas.microsoft.com/office/drawing/2014/main" val="253489615"/>
                  </a:ext>
                </a:extLst>
              </a:tr>
              <a:tr h="537958">
                <a:tc>
                  <a:txBody>
                    <a:bodyPr/>
                    <a:lstStyle/>
                    <a:p>
                      <a:r>
                        <a:rPr lang="en-US" dirty="0"/>
                        <a:t>TOTAL</a:t>
                      </a:r>
                      <a:endParaRPr lang="en-IN" dirty="0"/>
                    </a:p>
                  </a:txBody>
                  <a:tcPr/>
                </a:tc>
                <a:tc>
                  <a:txBody>
                    <a:bodyPr/>
                    <a:lstStyle/>
                    <a:p>
                      <a:r>
                        <a:rPr lang="en-IN" dirty="0"/>
                        <a:t>3</a:t>
                      </a:r>
                    </a:p>
                  </a:txBody>
                  <a:tcPr/>
                </a:tc>
                <a:tc>
                  <a:txBody>
                    <a:bodyPr/>
                    <a:lstStyle/>
                    <a:p>
                      <a:r>
                        <a:rPr lang="en-IN" dirty="0"/>
                        <a:t>3</a:t>
                      </a:r>
                    </a:p>
                  </a:txBody>
                  <a:tcPr/>
                </a:tc>
                <a:tc>
                  <a:txBody>
                    <a:bodyPr/>
                    <a:lstStyle/>
                    <a:p>
                      <a:r>
                        <a:rPr lang="en-IN" dirty="0"/>
                        <a:t>975</a:t>
                      </a:r>
                    </a:p>
                  </a:txBody>
                  <a:tcPr/>
                </a:tc>
                <a:extLst>
                  <a:ext uri="{0D108BD9-81ED-4DB2-BD59-A6C34878D82A}">
                    <a16:rowId xmlns:a16="http://schemas.microsoft.com/office/drawing/2014/main" val="2549588670"/>
                  </a:ext>
                </a:extLst>
              </a:tr>
            </a:tbl>
          </a:graphicData>
        </a:graphic>
      </p:graphicFrame>
      <p:sp>
        <p:nvSpPr>
          <p:cNvPr id="2" name="Footer Placeholder 3">
            <a:extLst>
              <a:ext uri="{FF2B5EF4-FFF2-40B4-BE49-F238E27FC236}">
                <a16:creationId xmlns:a16="http://schemas.microsoft.com/office/drawing/2014/main" id="{E3EF553D-E5F4-BD8B-1716-5B04D00F05D9}"/>
              </a:ext>
            </a:extLst>
          </p:cNvPr>
          <p:cNvSpPr>
            <a:spLocks noGrp="1"/>
          </p:cNvSpPr>
          <p:nvPr>
            <p:ph type="ftr" sz="quarter" idx="11"/>
          </p:nvPr>
        </p:nvSpPr>
        <p:spPr>
          <a:xfrm>
            <a:off x="3851787"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spTree>
    <p:extLst>
      <p:ext uri="{BB962C8B-B14F-4D97-AF65-F5344CB8AC3E}">
        <p14:creationId xmlns:p14="http://schemas.microsoft.com/office/powerpoint/2010/main" val="27279076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latin typeface="Times New Roman" panose="02020603050405020304" pitchFamily="18" charset="0"/>
                <a:cs typeface="Times New Roman" panose="02020603050405020304" pitchFamily="18" charset="0"/>
              </a:rPr>
              <a:t>OPTIMIZATION</a:t>
            </a:r>
            <a:r>
              <a:rPr lang="en-US" sz="2400" dirty="0">
                <a:latin typeface="Times New Roman" panose="02020603050405020304" pitchFamily="18" charset="0"/>
                <a:cs typeface="Times New Roman" panose="02020603050405020304" pitchFamily="18" charset="0"/>
              </a:rPr>
              <a:t>:</a:t>
            </a:r>
          </a:p>
        </p:txBody>
      </p:sp>
      <p:sp>
        <p:nvSpPr>
          <p:cNvPr id="5" name="Slide Number Placeholder 4"/>
          <p:cNvSpPr>
            <a:spLocks noGrp="1"/>
          </p:cNvSpPr>
          <p:nvPr>
            <p:ph type="sldNum" sz="quarter" idx="12"/>
          </p:nvPr>
        </p:nvSpPr>
        <p:spPr/>
        <p:txBody>
          <a:bodyPr/>
          <a:lstStyle/>
          <a:p>
            <a:pPr>
              <a:defRPr lang="en-US"/>
            </a:pPr>
            <a:fld id="{3B5AE453-1DD6-0F12-98E2-EB47AAAC6EBE}" type="slidenum">
              <a:rPr lang="en-US" smtClean="0">
                <a:latin typeface="Times New Roman" panose="02020603050405020304" pitchFamily="18" charset="0"/>
                <a:cs typeface="Times New Roman" panose="02020603050405020304" pitchFamily="18" charset="0"/>
              </a:rPr>
              <a:t>15</a:t>
            </a:fld>
            <a:endParaRPr lang="en-US">
              <a:latin typeface="Times New Roman" panose="02020603050405020304" pitchFamily="18" charset="0"/>
              <a:cs typeface="Times New Roman" panose="02020603050405020304" pitchFamily="18" charset="0"/>
            </a:endParaRPr>
          </a:p>
        </p:txBody>
      </p:sp>
      <p:graphicFrame>
        <p:nvGraphicFramePr>
          <p:cNvPr id="9" name="Content Placeholder 8"/>
          <p:cNvGraphicFramePr>
            <a:graphicFrameLocks noGrp="1"/>
          </p:cNvGraphicFramePr>
          <p:nvPr>
            <p:ph idx="1"/>
            <p:extLst>
              <p:ext uri="{D42A27DB-BD31-4B8C-83A1-F6EECF244321}">
                <p14:modId xmlns:p14="http://schemas.microsoft.com/office/powerpoint/2010/main" val="3981344501"/>
              </p:ext>
            </p:extLst>
          </p:nvPr>
        </p:nvGraphicFramePr>
        <p:xfrm>
          <a:off x="838200" y="1825625"/>
          <a:ext cx="10515600" cy="3205480"/>
        </p:xfrm>
        <a:graphic>
          <a:graphicData uri="http://schemas.openxmlformats.org/drawingml/2006/table">
            <a:tbl>
              <a:tblPr firstRow="1" bandRow="1">
                <a:tableStyleId>{5C22544A-7EE6-4342-B048-85BDC9FD1C3A}</a:tableStyleId>
              </a:tblPr>
              <a:tblGrid>
                <a:gridCol w="2628900">
                  <a:extLst>
                    <a:ext uri="{9D8B030D-6E8A-4147-A177-3AD203B41FA5}">
                      <a16:colId xmlns:a16="http://schemas.microsoft.com/office/drawing/2014/main" val="20000"/>
                    </a:ext>
                  </a:extLst>
                </a:gridCol>
                <a:gridCol w="2628900">
                  <a:extLst>
                    <a:ext uri="{9D8B030D-6E8A-4147-A177-3AD203B41FA5}">
                      <a16:colId xmlns:a16="http://schemas.microsoft.com/office/drawing/2014/main" val="20001"/>
                    </a:ext>
                  </a:extLst>
                </a:gridCol>
                <a:gridCol w="2628900">
                  <a:extLst>
                    <a:ext uri="{9D8B030D-6E8A-4147-A177-3AD203B41FA5}">
                      <a16:colId xmlns:a16="http://schemas.microsoft.com/office/drawing/2014/main" val="20002"/>
                    </a:ext>
                  </a:extLst>
                </a:gridCol>
                <a:gridCol w="2628900">
                  <a:extLst>
                    <a:ext uri="{9D8B030D-6E8A-4147-A177-3AD203B41FA5}">
                      <a16:colId xmlns:a16="http://schemas.microsoft.com/office/drawing/2014/main" val="20003"/>
                    </a:ext>
                  </a:extLst>
                </a:gridCol>
              </a:tblGrid>
              <a:tr h="370840">
                <a:tc>
                  <a:txBody>
                    <a:bodyPr/>
                    <a:lstStyle/>
                    <a:p>
                      <a:r>
                        <a:rPr lang="en-US" dirty="0">
                          <a:latin typeface="Times New Roman" panose="02020603050405020304" pitchFamily="18" charset="0"/>
                          <a:cs typeface="Times New Roman" panose="02020603050405020304" pitchFamily="18" charset="0"/>
                        </a:rPr>
                        <a:t>Protocol (Full Form)</a:t>
                      </a:r>
                    </a:p>
                  </a:txBody>
                  <a:tcPr anchor="ctr"/>
                </a:tc>
                <a:tc>
                  <a:txBody>
                    <a:bodyPr/>
                    <a:lstStyle/>
                    <a:p>
                      <a:r>
                        <a:rPr lang="en-US">
                          <a:latin typeface="Times New Roman" panose="02020603050405020304" pitchFamily="18" charset="0"/>
                          <a:cs typeface="Times New Roman" panose="02020603050405020304" pitchFamily="18" charset="0"/>
                        </a:rPr>
                        <a:t>Throughput</a:t>
                      </a:r>
                    </a:p>
                  </a:txBody>
                  <a:tcPr anchor="ctr"/>
                </a:tc>
                <a:tc>
                  <a:txBody>
                    <a:bodyPr/>
                    <a:lstStyle/>
                    <a:p>
                      <a:r>
                        <a:rPr lang="en-US">
                          <a:latin typeface="Times New Roman" panose="02020603050405020304" pitchFamily="18" charset="0"/>
                          <a:cs typeface="Times New Roman" panose="02020603050405020304" pitchFamily="18" charset="0"/>
                        </a:rPr>
                        <a:t>Overhead</a:t>
                      </a:r>
                    </a:p>
                  </a:txBody>
                  <a:tcPr anchor="ctr"/>
                </a:tc>
                <a:tc>
                  <a:txBody>
                    <a:bodyPr/>
                    <a:lstStyle/>
                    <a:p>
                      <a:r>
                        <a:rPr lang="en-US">
                          <a:latin typeface="Times New Roman" panose="02020603050405020304" pitchFamily="18" charset="0"/>
                          <a:cs typeface="Times New Roman" panose="02020603050405020304" pitchFamily="18" charset="0"/>
                        </a:rPr>
                        <a:t>Receive Rate</a:t>
                      </a:r>
                    </a:p>
                  </a:txBody>
                  <a:tcPr anchor="ctr"/>
                </a:tc>
                <a:extLst>
                  <a:ext uri="{0D108BD9-81ED-4DB2-BD59-A6C34878D82A}">
                    <a16:rowId xmlns:a16="http://schemas.microsoft.com/office/drawing/2014/main" val="10000"/>
                  </a:ext>
                </a:extLst>
              </a:tr>
              <a:tr h="370840">
                <a:tc>
                  <a:txBody>
                    <a:bodyPr/>
                    <a:lstStyle/>
                    <a:p>
                      <a:r>
                        <a:rPr lang="en-US" dirty="0">
                          <a:latin typeface="Times New Roman" panose="02020603050405020304" pitchFamily="18" charset="0"/>
                          <a:cs typeface="Times New Roman" panose="02020603050405020304" pitchFamily="18" charset="0"/>
                        </a:rPr>
                        <a:t>DSR (Dynamic Source Routing)</a:t>
                      </a:r>
                    </a:p>
                  </a:txBody>
                  <a:tcPr anchor="ctr"/>
                </a:tc>
                <a:tc>
                  <a:txBody>
                    <a:bodyPr/>
                    <a:lstStyle/>
                    <a:p>
                      <a:r>
                        <a:rPr lang="en-US">
                          <a:latin typeface="Times New Roman" panose="02020603050405020304" pitchFamily="18" charset="0"/>
                          <a:cs typeface="Times New Roman" panose="02020603050405020304" pitchFamily="18" charset="0"/>
                        </a:rPr>
                        <a:t>High</a:t>
                      </a:r>
                    </a:p>
                  </a:txBody>
                  <a:tcPr anchor="ctr"/>
                </a:tc>
                <a:tc>
                  <a:txBody>
                    <a:bodyPr/>
                    <a:lstStyle/>
                    <a:p>
                      <a:r>
                        <a:rPr lang="en-US">
                          <a:latin typeface="Times New Roman" panose="02020603050405020304" pitchFamily="18" charset="0"/>
                          <a:cs typeface="Times New Roman" panose="02020603050405020304" pitchFamily="18" charset="0"/>
                        </a:rPr>
                        <a:t>Low</a:t>
                      </a:r>
                    </a:p>
                  </a:txBody>
                  <a:tcPr anchor="ctr"/>
                </a:tc>
                <a:tc>
                  <a:txBody>
                    <a:bodyPr/>
                    <a:lstStyle/>
                    <a:p>
                      <a:r>
                        <a:rPr lang="en-US">
                          <a:latin typeface="Times New Roman" panose="02020603050405020304" pitchFamily="18" charset="0"/>
                          <a:cs typeface="Times New Roman" panose="02020603050405020304" pitchFamily="18" charset="0"/>
                        </a:rPr>
                        <a:t>High</a:t>
                      </a:r>
                    </a:p>
                  </a:txBody>
                  <a:tcPr anchor="ctr"/>
                </a:tc>
                <a:extLst>
                  <a:ext uri="{0D108BD9-81ED-4DB2-BD59-A6C34878D82A}">
                    <a16:rowId xmlns:a16="http://schemas.microsoft.com/office/drawing/2014/main" val="10001"/>
                  </a:ext>
                </a:extLst>
              </a:tr>
              <a:tr h="370840">
                <a:tc>
                  <a:txBody>
                    <a:bodyPr/>
                    <a:lstStyle/>
                    <a:p>
                      <a:r>
                        <a:rPr lang="en-US" dirty="0">
                          <a:latin typeface="Times New Roman" panose="02020603050405020304" pitchFamily="18" charset="0"/>
                          <a:cs typeface="Times New Roman" panose="02020603050405020304" pitchFamily="18" charset="0"/>
                        </a:rPr>
                        <a:t>AODV (Ad hoc On-Demand Distance Vector)</a:t>
                      </a:r>
                    </a:p>
                  </a:txBody>
                  <a:tcPr anchor="ctr"/>
                </a:tc>
                <a:tc>
                  <a:txBody>
                    <a:bodyPr/>
                    <a:lstStyle/>
                    <a:p>
                      <a:r>
                        <a:rPr lang="en-US">
                          <a:latin typeface="Times New Roman" panose="02020603050405020304" pitchFamily="18" charset="0"/>
                          <a:cs typeface="Times New Roman" panose="02020603050405020304" pitchFamily="18" charset="0"/>
                        </a:rPr>
                        <a:t>High</a:t>
                      </a:r>
                    </a:p>
                  </a:txBody>
                  <a:tcPr anchor="ctr"/>
                </a:tc>
                <a:tc>
                  <a:txBody>
                    <a:bodyPr/>
                    <a:lstStyle/>
                    <a:p>
                      <a:r>
                        <a:rPr lang="en-US">
                          <a:latin typeface="Times New Roman" panose="02020603050405020304" pitchFamily="18" charset="0"/>
                          <a:cs typeface="Times New Roman" panose="02020603050405020304" pitchFamily="18" charset="0"/>
                        </a:rPr>
                        <a:t>Moderate</a:t>
                      </a:r>
                    </a:p>
                  </a:txBody>
                  <a:tcPr anchor="ctr"/>
                </a:tc>
                <a:tc>
                  <a:txBody>
                    <a:bodyPr/>
                    <a:lstStyle/>
                    <a:p>
                      <a:r>
                        <a:rPr lang="en-US">
                          <a:latin typeface="Times New Roman" panose="02020603050405020304" pitchFamily="18" charset="0"/>
                          <a:cs typeface="Times New Roman" panose="02020603050405020304" pitchFamily="18" charset="0"/>
                        </a:rPr>
                        <a:t>High</a:t>
                      </a:r>
                    </a:p>
                  </a:txBody>
                  <a:tcPr anchor="ctr"/>
                </a:tc>
                <a:extLst>
                  <a:ext uri="{0D108BD9-81ED-4DB2-BD59-A6C34878D82A}">
                    <a16:rowId xmlns:a16="http://schemas.microsoft.com/office/drawing/2014/main" val="10002"/>
                  </a:ext>
                </a:extLst>
              </a:tr>
              <a:tr h="370840">
                <a:tc>
                  <a:txBody>
                    <a:bodyPr/>
                    <a:lstStyle/>
                    <a:p>
                      <a:r>
                        <a:rPr lang="en-US" dirty="0">
                          <a:latin typeface="Times New Roman" panose="02020603050405020304" pitchFamily="18" charset="0"/>
                          <a:cs typeface="Times New Roman" panose="02020603050405020304" pitchFamily="18" charset="0"/>
                        </a:rPr>
                        <a:t>OLSR (Optimized </a:t>
                      </a:r>
                      <a:r>
                        <a:rPr lang="en-US" b="1" dirty="0">
                          <a:latin typeface="Times New Roman" panose="02020603050405020304" pitchFamily="18" charset="0"/>
                          <a:cs typeface="Times New Roman" panose="02020603050405020304" pitchFamily="18" charset="0"/>
                        </a:rPr>
                        <a:t>Link</a:t>
                      </a:r>
                      <a:r>
                        <a:rPr lang="en-US" dirty="0">
                          <a:latin typeface="Times New Roman" panose="02020603050405020304" pitchFamily="18" charset="0"/>
                          <a:cs typeface="Times New Roman" panose="02020603050405020304" pitchFamily="18" charset="0"/>
                        </a:rPr>
                        <a:t> State Routing)</a:t>
                      </a:r>
                    </a:p>
                  </a:txBody>
                  <a:tcPr anchor="ctr"/>
                </a:tc>
                <a:tc>
                  <a:txBody>
                    <a:bodyPr/>
                    <a:lstStyle/>
                    <a:p>
                      <a:r>
                        <a:rPr lang="en-US">
                          <a:latin typeface="Times New Roman" panose="02020603050405020304" pitchFamily="18" charset="0"/>
                          <a:cs typeface="Times New Roman" panose="02020603050405020304" pitchFamily="18" charset="0"/>
                        </a:rPr>
                        <a:t>Moderate</a:t>
                      </a:r>
                    </a:p>
                  </a:txBody>
                  <a:tcPr anchor="ctr"/>
                </a:tc>
                <a:tc>
                  <a:txBody>
                    <a:bodyPr/>
                    <a:lstStyle/>
                    <a:p>
                      <a:r>
                        <a:rPr lang="en-US">
                          <a:latin typeface="Times New Roman" panose="02020603050405020304" pitchFamily="18" charset="0"/>
                          <a:cs typeface="Times New Roman" panose="02020603050405020304" pitchFamily="18" charset="0"/>
                        </a:rPr>
                        <a:t>High</a:t>
                      </a:r>
                    </a:p>
                  </a:txBody>
                  <a:tcPr anchor="ctr"/>
                </a:tc>
                <a:tc>
                  <a:txBody>
                    <a:bodyPr/>
                    <a:lstStyle/>
                    <a:p>
                      <a:r>
                        <a:rPr lang="en-US">
                          <a:latin typeface="Times New Roman" panose="02020603050405020304" pitchFamily="18" charset="0"/>
                          <a:cs typeface="Times New Roman" panose="02020603050405020304" pitchFamily="18" charset="0"/>
                        </a:rPr>
                        <a:t>Moderate</a:t>
                      </a:r>
                    </a:p>
                  </a:txBody>
                  <a:tcPr anchor="ctr"/>
                </a:tc>
                <a:extLst>
                  <a:ext uri="{0D108BD9-81ED-4DB2-BD59-A6C34878D82A}">
                    <a16:rowId xmlns:a16="http://schemas.microsoft.com/office/drawing/2014/main" val="10003"/>
                  </a:ext>
                </a:extLst>
              </a:tr>
              <a:tr h="370840">
                <a:tc>
                  <a:txBody>
                    <a:bodyPr/>
                    <a:lstStyle/>
                    <a:p>
                      <a:r>
                        <a:rPr lang="en-US">
                          <a:latin typeface="Times New Roman" panose="02020603050405020304" pitchFamily="18" charset="0"/>
                          <a:cs typeface="Times New Roman" panose="02020603050405020304" pitchFamily="18" charset="0"/>
                        </a:rPr>
                        <a:t>DSDV (Destination-Sequenced Distance Vector)</a:t>
                      </a:r>
                    </a:p>
                  </a:txBody>
                  <a:tcPr anchor="ctr"/>
                </a:tc>
                <a:tc>
                  <a:txBody>
                    <a:bodyPr/>
                    <a:lstStyle/>
                    <a:p>
                      <a:r>
                        <a:rPr lang="en-US">
                          <a:latin typeface="Times New Roman" panose="02020603050405020304" pitchFamily="18" charset="0"/>
                          <a:cs typeface="Times New Roman" panose="02020603050405020304" pitchFamily="18" charset="0"/>
                        </a:rPr>
                        <a:t>Low</a:t>
                      </a:r>
                    </a:p>
                  </a:txBody>
                  <a:tcPr anchor="ctr"/>
                </a:tc>
                <a:tc>
                  <a:txBody>
                    <a:bodyPr/>
                    <a:lstStyle/>
                    <a:p>
                      <a:r>
                        <a:rPr lang="en-US">
                          <a:latin typeface="Times New Roman" panose="02020603050405020304" pitchFamily="18" charset="0"/>
                          <a:cs typeface="Times New Roman" panose="02020603050405020304" pitchFamily="18" charset="0"/>
                        </a:rPr>
                        <a:t>High</a:t>
                      </a:r>
                    </a:p>
                  </a:txBody>
                  <a:tcPr anchor="ctr"/>
                </a:tc>
                <a:tc>
                  <a:txBody>
                    <a:bodyPr/>
                    <a:lstStyle/>
                    <a:p>
                      <a:r>
                        <a:rPr lang="en-US" dirty="0">
                          <a:latin typeface="Times New Roman" panose="02020603050405020304" pitchFamily="18" charset="0"/>
                          <a:cs typeface="Times New Roman" panose="02020603050405020304" pitchFamily="18" charset="0"/>
                        </a:rPr>
                        <a:t>Low</a:t>
                      </a:r>
                    </a:p>
                  </a:txBody>
                  <a:tcPr anchor="ctr"/>
                </a:tc>
                <a:extLst>
                  <a:ext uri="{0D108BD9-81ED-4DB2-BD59-A6C34878D82A}">
                    <a16:rowId xmlns:a16="http://schemas.microsoft.com/office/drawing/2014/main" val="10004"/>
                  </a:ext>
                </a:extLst>
              </a:tr>
            </a:tbl>
          </a:graphicData>
        </a:graphic>
      </p:graphicFrame>
      <p:pic>
        <p:nvPicPr>
          <p:cNvPr id="6" name="Picture 10">
            <a:extLst>
              <a:ext uri="{FF2B5EF4-FFF2-40B4-BE49-F238E27FC236}">
                <a16:creationId xmlns:a16="http://schemas.microsoft.com/office/drawing/2014/main" id="{41997F1C-67AF-8079-C57E-899E4359E682}"/>
              </a:ext>
            </a:extLst>
          </p:cNvPr>
          <p:cNvPicPr>
            <a:picLocks noChangeAspect="1"/>
            <a:extLst>
              <a:ext uri="smNativeData">
                <pr:smNativeData xmlns="smNativeData" xmlns:pr="smNativeData" xmlns:p15="http://schemas.microsoft.com/office/powerpoint/2012/main" xmlns:p14="http://schemas.microsoft.com/office/powerpoint/2010/main" xmlns:mc="http://schemas.openxmlformats.org/markup-compatibility/2006" val="SMDATA_17_IWgsZxMAAAAlAAAAEQAAAC0AAAAAkAAAAEgAAACQAAAASAAAAAAAAAAAAAAAAAAAAAEAAABQAAAAAAAAAAAA4D8AAAAAAADgPwAAAAAAAOA/AAAAAAAA4D8AAAAAAADgPwAAAAAAAOA/AAAAAAAA4D8AAAAAAADgPwAAAAAAAOA/AAAAAAAA4D8CAAAAjAAAAAAAAAAAAAAARHLEDP///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8BAAAAf39/AAEAAABkAAAAAAAAABQAAABAHwAAAAAAACYAAAAAAAAAwOD//wAAAAAmAAAAZAAAABYAAABMAAAAAAAAAAAAAAAEAAAAAAAAAAEAAADn5uYKAAAAACgAAAAoAAAAZAAAAGQAAAAAAAAAzMzMAAAAAABQAAAAUAAAAGQAAABkAAAAAAAAAAcAAAA4AAAAAAAAAAAAAAAAAAAA////AAAAAAAAAAAAAAAAAAAAAAAAAAAAAAAAAAAAAABkAAAAZAAAAAAAAAAjAAAABAAAAGQAAAAXAAAAFAAAAAAAAAAAAAAA/38AAP9/AAAAAAAACQAAAAQAAAAAAAAAHgAAAGgAAAAAAAAAAAAAAAAAAAAAAAAAAAAAABAnAAAQJwAAAAAAAAAAAAAAAAAAAAAAAAAAAAAAAAAAAAAAAAAAAAAUAAAAAAAAAMDA/wAAAAAAZAAAADIAAAAAAAAAZAAAAAAAAAB/f38ACgAAACIAAAAYAAAAAAAAAAAAAAAAAAAAAAAAAAAAAAAAAAAAJAAAACQAAAAAAAAABwAAAAAAAAAAAAAAAAAAAAAAAAAAAAAAAAAAAH9/fwAlAAAAWAAAAAAAAAAAAAAAAAAAAAAAAAAAAAAAAAAAAAAAAAAAAAAAAAAAAAAAAAAAAAAAPwAAAAAAAACghgEAAAAAAAAAAAAAAAAADAAAAAEAAAAAAAAAAAAAAAAAAAAfAAAAVAAAAFub1QX///8BAAAAAAAAAAAAAAAAAAAAAAAAAAAAAAAAAAAAAAAAAAAAAAACf39/AOfm5gPMzMwAwMD/AH9/fwAAAAAAAAAAAAAAAAD///8AAAAAACEAAAAYAAAAFAAAAFwGAADXAAAAXEIAAGcHAAAQAAAAJgAAAAgAAAD//////////w=="/>
              </a:ext>
            </a:extLst>
          </p:cNvPicPr>
          <p:nvPr/>
        </p:nvPicPr>
        <p:blipFill>
          <a:blip r:embed="rId2"/>
          <a:stretch>
            <a:fillRect/>
          </a:stretch>
        </p:blipFill>
        <p:spPr>
          <a:xfrm>
            <a:off x="7797296" y="82552"/>
            <a:ext cx="4306213" cy="470992"/>
          </a:xfrm>
          <a:prstGeom prst="rect">
            <a:avLst/>
          </a:prstGeom>
          <a:noFill/>
          <a:ln>
            <a:noFill/>
          </a:ln>
          <a:effectLst/>
        </p:spPr>
      </p:pic>
      <p:sp>
        <p:nvSpPr>
          <p:cNvPr id="3" name="Footer Placeholder 3">
            <a:extLst>
              <a:ext uri="{FF2B5EF4-FFF2-40B4-BE49-F238E27FC236}">
                <a16:creationId xmlns:a16="http://schemas.microsoft.com/office/drawing/2014/main" id="{AB243F85-CAC8-DF3C-5B53-F47C244D4E77}"/>
              </a:ext>
            </a:extLst>
          </p:cNvPr>
          <p:cNvSpPr>
            <a:spLocks noGrp="1"/>
          </p:cNvSpPr>
          <p:nvPr>
            <p:ph type="ftr" sz="quarter" idx="11"/>
          </p:nvPr>
        </p:nvSpPr>
        <p:spPr>
          <a:xfrm>
            <a:off x="3851787"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spTree>
    <p:extLst>
      <p:ext uri="{BB962C8B-B14F-4D97-AF65-F5344CB8AC3E}">
        <p14:creationId xmlns:p14="http://schemas.microsoft.com/office/powerpoint/2010/main" val="32170970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38432" y="87724"/>
            <a:ext cx="10515600" cy="554802"/>
          </a:xfrm>
        </p:spPr>
        <p:txBody>
          <a:bodyPr/>
          <a:lstStyle/>
          <a:p>
            <a:r>
              <a:rPr lang="en-US" sz="2400" b="1" dirty="0">
                <a:latin typeface="Times New Roman" panose="02020603050405020304" pitchFamily="18" charset="0"/>
                <a:cs typeface="Times New Roman" panose="02020603050405020304" pitchFamily="18" charset="0"/>
              </a:rPr>
              <a:t>RESULTS </a:t>
            </a:r>
          </a:p>
        </p:txBody>
      </p:sp>
      <p:sp>
        <p:nvSpPr>
          <p:cNvPr id="5" name="Slide Number Placeholder 4"/>
          <p:cNvSpPr>
            <a:spLocks noGrp="1"/>
          </p:cNvSpPr>
          <p:nvPr>
            <p:ph type="sldNum" sz="quarter" idx="12"/>
          </p:nvPr>
        </p:nvSpPr>
        <p:spPr/>
        <p:txBody>
          <a:bodyPr/>
          <a:lstStyle/>
          <a:p>
            <a:pPr>
              <a:defRPr lang="en-US"/>
            </a:pPr>
            <a:fld id="{3B5AE453-1DD6-0F12-98E2-EB47AAAC6EBE}" type="slidenum">
              <a:rPr lang="en-US" smtClean="0">
                <a:latin typeface="Times New Roman" panose="02020603050405020304" pitchFamily="18" charset="0"/>
                <a:cs typeface="Times New Roman" panose="02020603050405020304" pitchFamily="18" charset="0"/>
              </a:rPr>
              <a:t>16</a:t>
            </a:fld>
            <a:endParaRPr lang="en-US" dirty="0">
              <a:latin typeface="Times New Roman" panose="02020603050405020304" pitchFamily="18" charset="0"/>
              <a:cs typeface="Times New Roman" panose="02020603050405020304" pitchFamily="18" charset="0"/>
            </a:endParaRPr>
          </a:p>
        </p:txBody>
      </p:sp>
      <p:sp>
        <p:nvSpPr>
          <p:cNvPr id="3" name="Footer Placeholder 3">
            <a:extLst>
              <a:ext uri="{FF2B5EF4-FFF2-40B4-BE49-F238E27FC236}">
                <a16:creationId xmlns:a16="http://schemas.microsoft.com/office/drawing/2014/main" id="{B7D10A0C-35CA-2564-2613-B57F94BC9CD2}"/>
              </a:ext>
            </a:extLst>
          </p:cNvPr>
          <p:cNvSpPr>
            <a:spLocks noGrp="1"/>
          </p:cNvSpPr>
          <p:nvPr>
            <p:ph type="ftr" sz="quarter" idx="11"/>
          </p:nvPr>
        </p:nvSpPr>
        <p:spPr>
          <a:xfrm>
            <a:off x="3851787"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pic>
        <p:nvPicPr>
          <p:cNvPr id="21" name="Picture 20">
            <a:extLst>
              <a:ext uri="{FF2B5EF4-FFF2-40B4-BE49-F238E27FC236}">
                <a16:creationId xmlns:a16="http://schemas.microsoft.com/office/drawing/2014/main" id="{A123006F-45F7-286E-0726-3B4A597842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8432" y="941439"/>
            <a:ext cx="3865306" cy="4839930"/>
          </a:xfrm>
          <a:prstGeom prst="rect">
            <a:avLst/>
          </a:prstGeom>
        </p:spPr>
      </p:pic>
      <p:pic>
        <p:nvPicPr>
          <p:cNvPr id="23" name="Picture 22">
            <a:extLst>
              <a:ext uri="{FF2B5EF4-FFF2-40B4-BE49-F238E27FC236}">
                <a16:creationId xmlns:a16="http://schemas.microsoft.com/office/drawing/2014/main" id="{B1927FA9-23B6-D5DB-8155-5523132094D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85187" y="761629"/>
            <a:ext cx="3785419" cy="5061156"/>
          </a:xfrm>
          <a:prstGeom prst="rect">
            <a:avLst/>
          </a:prstGeom>
        </p:spPr>
      </p:pic>
      <p:pic>
        <p:nvPicPr>
          <p:cNvPr id="25" name="Picture 24">
            <a:extLst>
              <a:ext uri="{FF2B5EF4-FFF2-40B4-BE49-F238E27FC236}">
                <a16:creationId xmlns:a16="http://schemas.microsoft.com/office/drawing/2014/main" id="{85E97E05-7DDC-5170-7AAC-4C031137B9A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37755" y="855405"/>
            <a:ext cx="3510115" cy="4967380"/>
          </a:xfrm>
          <a:prstGeom prst="rect">
            <a:avLst/>
          </a:prstGeom>
        </p:spPr>
      </p:pic>
      <p:sp>
        <p:nvSpPr>
          <p:cNvPr id="26" name="TextBox 25">
            <a:extLst>
              <a:ext uri="{FF2B5EF4-FFF2-40B4-BE49-F238E27FC236}">
                <a16:creationId xmlns:a16="http://schemas.microsoft.com/office/drawing/2014/main" id="{BB835419-5EF2-52AA-8C31-52DE501909F8}"/>
              </a:ext>
            </a:extLst>
          </p:cNvPr>
          <p:cNvSpPr txBox="1"/>
          <p:nvPr/>
        </p:nvSpPr>
        <p:spPr>
          <a:xfrm>
            <a:off x="845574" y="5822785"/>
            <a:ext cx="2202426"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Fig(1)</a:t>
            </a:r>
          </a:p>
          <a:p>
            <a:pPr algn="ctr"/>
            <a:r>
              <a:rPr lang="en-US" dirty="0">
                <a:latin typeface="Times New Roman" panose="02020603050405020304" pitchFamily="18" charset="0"/>
                <a:cs typeface="Times New Roman" panose="02020603050405020304" pitchFamily="18" charset="0"/>
              </a:rPr>
              <a:t>OVERHEAD</a:t>
            </a:r>
            <a:endParaRPr lang="en-IN" dirty="0">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77915DB3-F0AB-B75F-B8A9-92F06B6CF9A4}"/>
              </a:ext>
            </a:extLst>
          </p:cNvPr>
          <p:cNvSpPr txBox="1"/>
          <p:nvPr/>
        </p:nvSpPr>
        <p:spPr>
          <a:xfrm>
            <a:off x="4950542" y="5834664"/>
            <a:ext cx="2202426"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Fig(2)</a:t>
            </a:r>
          </a:p>
          <a:p>
            <a:pPr algn="ctr"/>
            <a:r>
              <a:rPr lang="en-US" dirty="0">
                <a:latin typeface="Times New Roman" panose="02020603050405020304" pitchFamily="18" charset="0"/>
                <a:cs typeface="Times New Roman" panose="02020603050405020304" pitchFamily="18" charset="0"/>
              </a:rPr>
              <a:t>RECEIVE RATE</a:t>
            </a:r>
            <a:endParaRPr lang="en-IN" dirty="0">
              <a:latin typeface="Times New Roman" panose="02020603050405020304" pitchFamily="18" charset="0"/>
              <a:cs typeface="Times New Roman" panose="02020603050405020304" pitchFamily="18" charset="0"/>
            </a:endParaRPr>
          </a:p>
        </p:txBody>
      </p:sp>
      <p:sp>
        <p:nvSpPr>
          <p:cNvPr id="28" name="TextBox 27">
            <a:extLst>
              <a:ext uri="{FF2B5EF4-FFF2-40B4-BE49-F238E27FC236}">
                <a16:creationId xmlns:a16="http://schemas.microsoft.com/office/drawing/2014/main" id="{159E2768-12B5-237B-3EF7-A91F6D2C1477}"/>
              </a:ext>
            </a:extLst>
          </p:cNvPr>
          <p:cNvSpPr txBox="1"/>
          <p:nvPr/>
        </p:nvSpPr>
        <p:spPr>
          <a:xfrm>
            <a:off x="8849189" y="5801480"/>
            <a:ext cx="2202426" cy="646331"/>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Fig(3)</a:t>
            </a:r>
          </a:p>
          <a:p>
            <a:pPr algn="ctr"/>
            <a:r>
              <a:rPr lang="en-US" dirty="0">
                <a:latin typeface="Times New Roman" panose="02020603050405020304" pitchFamily="18" charset="0"/>
                <a:cs typeface="Times New Roman" panose="02020603050405020304" pitchFamily="18" charset="0"/>
              </a:rPr>
              <a:t>THROUGHPUT</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0586881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latin typeface="Times New Roman" panose="02020603050405020304" pitchFamily="18" charset="0"/>
                <a:cs typeface="Times New Roman" panose="02020603050405020304" pitchFamily="18" charset="0"/>
              </a:rPr>
              <a:t>Receive rate v/s Simulation Time</a:t>
            </a:r>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t="7912" r="1679"/>
          <a:stretch/>
        </p:blipFill>
        <p:spPr>
          <a:xfrm>
            <a:off x="2197412" y="1691005"/>
            <a:ext cx="6689414" cy="3990975"/>
          </a:xfrm>
        </p:spPr>
      </p:pic>
      <p:sp>
        <p:nvSpPr>
          <p:cNvPr id="5" name="Slide Number Placeholder 4"/>
          <p:cNvSpPr>
            <a:spLocks noGrp="1"/>
          </p:cNvSpPr>
          <p:nvPr>
            <p:ph type="sldNum" sz="quarter" idx="12"/>
          </p:nvPr>
        </p:nvSpPr>
        <p:spPr/>
        <p:txBody>
          <a:bodyPr/>
          <a:lstStyle/>
          <a:p>
            <a:pPr>
              <a:defRPr lang="en-US"/>
            </a:pPr>
            <a:fld id="{3B5AE453-1DD6-0F12-98E2-EB47AAAC6EBE}" type="slidenum">
              <a:rPr lang="en-US" smtClean="0"/>
              <a:t>17</a:t>
            </a:fld>
            <a:endParaRPr lang="en-US"/>
          </a:p>
        </p:txBody>
      </p:sp>
      <p:sp>
        <p:nvSpPr>
          <p:cNvPr id="3" name="Footer Placeholder 3">
            <a:extLst>
              <a:ext uri="{FF2B5EF4-FFF2-40B4-BE49-F238E27FC236}">
                <a16:creationId xmlns:a16="http://schemas.microsoft.com/office/drawing/2014/main" id="{C815B90C-262D-7A19-1891-D7CD4A57D094}"/>
              </a:ext>
            </a:extLst>
          </p:cNvPr>
          <p:cNvSpPr>
            <a:spLocks noGrp="1"/>
          </p:cNvSpPr>
          <p:nvPr>
            <p:ph type="ftr" sz="quarter" idx="11"/>
          </p:nvPr>
        </p:nvSpPr>
        <p:spPr>
          <a:xfrm>
            <a:off x="3851787"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spTree>
    <p:extLst>
      <p:ext uri="{BB962C8B-B14F-4D97-AF65-F5344CB8AC3E}">
        <p14:creationId xmlns:p14="http://schemas.microsoft.com/office/powerpoint/2010/main" val="13539782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400" b="1" dirty="0">
                <a:latin typeface="Times New Roman" panose="02020603050405020304" pitchFamily="18" charset="0"/>
                <a:cs typeface="Times New Roman" panose="02020603050405020304" pitchFamily="18" charset="0"/>
              </a:rPr>
              <a:t>Overhead v/s Simulation time</a:t>
            </a:r>
          </a:p>
        </p:txBody>
      </p:sp>
      <p:pic>
        <p:nvPicPr>
          <p:cNvPr id="6" name="Content Placeholder 5"/>
          <p:cNvPicPr>
            <a:picLocks noGrp="1" noChangeAspect="1"/>
          </p:cNvPicPr>
          <p:nvPr>
            <p:ph idx="1"/>
          </p:nvPr>
        </p:nvPicPr>
        <p:blipFill rotWithShape="1">
          <a:blip r:embed="rId2">
            <a:extLst>
              <a:ext uri="{28A0092B-C50C-407E-A947-70E740481C1C}">
                <a14:useLocalDpi xmlns:a14="http://schemas.microsoft.com/office/drawing/2010/main" val="0"/>
              </a:ext>
            </a:extLst>
          </a:blip>
          <a:srcRect t="6901" r="1005"/>
          <a:stretch/>
        </p:blipFill>
        <p:spPr>
          <a:xfrm>
            <a:off x="1790650" y="2013903"/>
            <a:ext cx="7510513" cy="4048125"/>
          </a:xfrm>
        </p:spPr>
      </p:pic>
      <p:sp>
        <p:nvSpPr>
          <p:cNvPr id="5" name="Slide Number Placeholder 4"/>
          <p:cNvSpPr>
            <a:spLocks noGrp="1"/>
          </p:cNvSpPr>
          <p:nvPr>
            <p:ph type="sldNum" sz="quarter" idx="12"/>
          </p:nvPr>
        </p:nvSpPr>
        <p:spPr/>
        <p:txBody>
          <a:bodyPr/>
          <a:lstStyle/>
          <a:p>
            <a:pPr>
              <a:defRPr lang="en-US"/>
            </a:pPr>
            <a:fld id="{3B5AE453-1DD6-0F12-98E2-EB47AAAC6EBE}" type="slidenum">
              <a:rPr lang="en-US" smtClean="0"/>
              <a:t>18</a:t>
            </a:fld>
            <a:endParaRPr lang="en-US"/>
          </a:p>
        </p:txBody>
      </p:sp>
      <p:sp>
        <p:nvSpPr>
          <p:cNvPr id="3" name="Footer Placeholder 3">
            <a:extLst>
              <a:ext uri="{FF2B5EF4-FFF2-40B4-BE49-F238E27FC236}">
                <a16:creationId xmlns:a16="http://schemas.microsoft.com/office/drawing/2014/main" id="{F496CF0B-55B4-D4EB-8181-965A2FB35A70}"/>
              </a:ext>
            </a:extLst>
          </p:cNvPr>
          <p:cNvSpPr>
            <a:spLocks noGrp="1"/>
          </p:cNvSpPr>
          <p:nvPr>
            <p:ph type="ftr" sz="quarter" idx="11"/>
          </p:nvPr>
        </p:nvSpPr>
        <p:spPr>
          <a:xfrm>
            <a:off x="3851787"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spTree>
    <p:extLst>
      <p:ext uri="{BB962C8B-B14F-4D97-AF65-F5344CB8AC3E}">
        <p14:creationId xmlns:p14="http://schemas.microsoft.com/office/powerpoint/2010/main" val="163017056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AA500C-22C9-D8AB-CE10-143EF2341E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98F120-6356-AC2A-9D08-B600722088D5}"/>
              </a:ext>
            </a:extLst>
          </p:cNvPr>
          <p:cNvSpPr>
            <a:spLocks noGrp="1"/>
          </p:cNvSpPr>
          <p:nvPr>
            <p:ph type="title"/>
          </p:nvPr>
        </p:nvSpPr>
        <p:spPr/>
        <p:txBody>
          <a:bodyPr/>
          <a:lstStyle/>
          <a:p>
            <a:r>
              <a:rPr lang="en-US" sz="2400" b="1" dirty="0">
                <a:latin typeface="Times New Roman" panose="02020603050405020304" pitchFamily="18" charset="0"/>
                <a:cs typeface="Times New Roman" panose="02020603050405020304" pitchFamily="18" charset="0"/>
              </a:rPr>
              <a:t>Throughput</a:t>
            </a:r>
          </a:p>
        </p:txBody>
      </p:sp>
      <p:sp>
        <p:nvSpPr>
          <p:cNvPr id="5" name="Slide Number Placeholder 4">
            <a:extLst>
              <a:ext uri="{FF2B5EF4-FFF2-40B4-BE49-F238E27FC236}">
                <a16:creationId xmlns:a16="http://schemas.microsoft.com/office/drawing/2014/main" id="{50933922-309A-BCF6-A01D-A0634DA3CB54}"/>
              </a:ext>
            </a:extLst>
          </p:cNvPr>
          <p:cNvSpPr>
            <a:spLocks noGrp="1"/>
          </p:cNvSpPr>
          <p:nvPr>
            <p:ph type="sldNum" sz="quarter" idx="12"/>
          </p:nvPr>
        </p:nvSpPr>
        <p:spPr/>
        <p:txBody>
          <a:bodyPr/>
          <a:lstStyle/>
          <a:p>
            <a:pPr>
              <a:defRPr lang="en-US"/>
            </a:pPr>
            <a:fld id="{3B5AE453-1DD6-0F12-98E2-EB47AAAC6EBE}" type="slidenum">
              <a:rPr lang="en-US" smtClean="0"/>
              <a:t>19</a:t>
            </a:fld>
            <a:endParaRPr lang="en-US"/>
          </a:p>
        </p:txBody>
      </p:sp>
      <p:sp>
        <p:nvSpPr>
          <p:cNvPr id="3" name="Footer Placeholder 3">
            <a:extLst>
              <a:ext uri="{FF2B5EF4-FFF2-40B4-BE49-F238E27FC236}">
                <a16:creationId xmlns:a16="http://schemas.microsoft.com/office/drawing/2014/main" id="{81808968-A11A-1820-4848-D251CBF372B0}"/>
              </a:ext>
            </a:extLst>
          </p:cNvPr>
          <p:cNvSpPr>
            <a:spLocks noGrp="1"/>
          </p:cNvSpPr>
          <p:nvPr>
            <p:ph type="ftr" sz="quarter" idx="11"/>
          </p:nvPr>
        </p:nvSpPr>
        <p:spPr>
          <a:xfrm>
            <a:off x="3851787"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pic>
        <p:nvPicPr>
          <p:cNvPr id="9" name="Picture 8">
            <a:extLst>
              <a:ext uri="{FF2B5EF4-FFF2-40B4-BE49-F238E27FC236}">
                <a16:creationId xmlns:a16="http://schemas.microsoft.com/office/drawing/2014/main" id="{EC3FEC38-DC73-572A-902B-D852DD0FA5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5716" y="1337187"/>
            <a:ext cx="5370871" cy="4658258"/>
          </a:xfrm>
          <a:prstGeom prst="rect">
            <a:avLst/>
          </a:prstGeom>
        </p:spPr>
      </p:pic>
    </p:spTree>
    <p:extLst>
      <p:ext uri="{BB962C8B-B14F-4D97-AF65-F5344CB8AC3E}">
        <p14:creationId xmlns:p14="http://schemas.microsoft.com/office/powerpoint/2010/main" val="204272288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9562" y="91122"/>
            <a:ext cx="10515600" cy="1325880"/>
          </a:xfrm>
        </p:spPr>
        <p:txBody>
          <a:bodyPr/>
          <a:lstStyle/>
          <a:p>
            <a:r>
              <a:rPr lang="en-US" dirty="0">
                <a:latin typeface="Times New Roman" panose="02020603050405020304" pitchFamily="18" charset="0"/>
                <a:cs typeface="Times New Roman" panose="02020603050405020304" pitchFamily="18" charset="0"/>
              </a:rPr>
              <a:t> </a:t>
            </a:r>
            <a:r>
              <a:rPr lang="en-US" sz="2400" b="1" dirty="0">
                <a:latin typeface="Times New Roman" panose="02020603050405020304" pitchFamily="18" charset="0"/>
                <a:cs typeface="Times New Roman" panose="02020603050405020304" pitchFamily="18" charset="0"/>
              </a:rPr>
              <a:t>HARDWARE RESULTS</a:t>
            </a:r>
            <a:r>
              <a:rPr lang="en-US" dirty="0">
                <a:latin typeface="Times New Roman" panose="02020603050405020304" pitchFamily="18" charset="0"/>
                <a:cs typeface="Times New Roman" panose="02020603050405020304" pitchFamily="18" charset="0"/>
              </a:rPr>
              <a:t>:</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976312" y="1417002"/>
            <a:ext cx="5181600" cy="2419350"/>
          </a:xfrm>
        </p:spPr>
      </p:pic>
      <p:sp>
        <p:nvSpPr>
          <p:cNvPr id="5" name="Slide Number Placeholder 4"/>
          <p:cNvSpPr>
            <a:spLocks noGrp="1"/>
          </p:cNvSpPr>
          <p:nvPr>
            <p:ph type="sldNum" sz="quarter" idx="12"/>
          </p:nvPr>
        </p:nvSpPr>
        <p:spPr/>
        <p:txBody>
          <a:bodyPr/>
          <a:lstStyle/>
          <a:p>
            <a:pPr>
              <a:defRPr lang="en-US"/>
            </a:pPr>
            <a:fld id="{3B5AB30D-43D6-0F45-98E2-B510FDAC6EE0}" type="slidenum">
              <a:rPr lang="en-US" smtClean="0">
                <a:latin typeface="Times New Roman" panose="02020603050405020304" pitchFamily="18" charset="0"/>
                <a:cs typeface="Times New Roman" panose="02020603050405020304" pitchFamily="18" charset="0"/>
              </a:rPr>
              <a:t>20</a:t>
            </a:fld>
            <a:endParaRPr lang="en-US">
              <a:latin typeface="Times New Roman" panose="02020603050405020304" pitchFamily="18" charset="0"/>
              <a:cs typeface="Times New Roman" panose="02020603050405020304" pitchFamily="18" charset="0"/>
            </a:endParaRPr>
          </a:p>
        </p:txBody>
      </p:sp>
      <p:pic>
        <p:nvPicPr>
          <p:cNvPr id="7" name="Picture 6"/>
          <p:cNvPicPr>
            <a:picLocks noChangeAspect="1"/>
          </p:cNvPicPr>
          <p:nvPr/>
        </p:nvPicPr>
        <p:blipFill rotWithShape="1">
          <a:blip r:embed="rId3">
            <a:extLst>
              <a:ext uri="{28A0092B-C50C-407E-A947-70E740481C1C}">
                <a14:useLocalDpi xmlns:a14="http://schemas.microsoft.com/office/drawing/2010/main" val="0"/>
              </a:ext>
            </a:extLst>
          </a:blip>
          <a:srcRect t="-1414" r="19494"/>
          <a:stretch/>
        </p:blipFill>
        <p:spPr>
          <a:xfrm>
            <a:off x="1004888" y="4192588"/>
            <a:ext cx="5153025" cy="2163762"/>
          </a:xfrm>
          <a:prstGeom prst="rect">
            <a:avLst/>
          </a:prstGeom>
        </p:spPr>
      </p:pic>
      <p:sp>
        <p:nvSpPr>
          <p:cNvPr id="3" name="Footer Placeholder 3">
            <a:extLst>
              <a:ext uri="{FF2B5EF4-FFF2-40B4-BE49-F238E27FC236}">
                <a16:creationId xmlns:a16="http://schemas.microsoft.com/office/drawing/2014/main" id="{B8CC4F4B-E882-E32E-BA8F-2B08F360E00C}"/>
              </a:ext>
            </a:extLst>
          </p:cNvPr>
          <p:cNvSpPr>
            <a:spLocks noGrp="1"/>
          </p:cNvSpPr>
          <p:nvPr>
            <p:ph type="ftr" sz="quarter" idx="11"/>
          </p:nvPr>
        </p:nvSpPr>
        <p:spPr>
          <a:xfrm>
            <a:off x="3851787"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spTree>
    <p:extLst>
      <p:ext uri="{BB962C8B-B14F-4D97-AF65-F5344CB8AC3E}">
        <p14:creationId xmlns:p14="http://schemas.microsoft.com/office/powerpoint/2010/main" val="300170578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lang="en-US"/>
            </a:pPr>
            <a:fld id="{3B5A8AA3-EDD6-0F7C-98E2-1B29C4AC6E4E}" type="slidenum">
              <a:rPr lang="en-US" smtClean="0">
                <a:latin typeface="Times New Roman" panose="02020603050405020304" pitchFamily="18" charset="0"/>
                <a:cs typeface="Times New Roman" panose="02020603050405020304" pitchFamily="18" charset="0"/>
              </a:rPr>
              <a:t>21</a:t>
            </a:fld>
            <a:endParaRPr lang="en-US">
              <a:latin typeface="Times New Roman" panose="02020603050405020304" pitchFamily="18" charset="0"/>
              <a:cs typeface="Times New Roman" panose="02020603050405020304" pitchFamily="18" charset="0"/>
            </a:endParaRPr>
          </a:p>
        </p:txBody>
      </p:sp>
      <p:sp>
        <p:nvSpPr>
          <p:cNvPr id="4" name="TextBox 3"/>
          <p:cNvSpPr txBox="1"/>
          <p:nvPr/>
        </p:nvSpPr>
        <p:spPr>
          <a:xfrm>
            <a:off x="566737" y="434379"/>
            <a:ext cx="11049000"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APPLICATIONS:</a:t>
            </a:r>
          </a:p>
        </p:txBody>
      </p:sp>
      <p:sp>
        <p:nvSpPr>
          <p:cNvPr id="17" name="TextBox 16"/>
          <p:cNvSpPr txBox="1"/>
          <p:nvPr/>
        </p:nvSpPr>
        <p:spPr>
          <a:xfrm>
            <a:off x="566737" y="1043126"/>
            <a:ext cx="10787063" cy="5632311"/>
          </a:xfrm>
          <a:prstGeom prst="rect">
            <a:avLst/>
          </a:prstGeom>
          <a:noFill/>
        </p:spPr>
        <p:txBody>
          <a:bodyPr wrap="square" rtlCol="0">
            <a:spAutoFit/>
          </a:bodyPr>
          <a:lstStyle/>
          <a:p>
            <a:pPr lvl="0" rtl="0" eaLnBrk="0" fontAlgn="base" hangingPunct="0">
              <a:spcBef>
                <a:spcPct val="0"/>
              </a:spcBef>
              <a:spcAft>
                <a:spcPct val="0"/>
              </a:spcAft>
              <a:buFontTx/>
              <a:buAutoNum type="arabicPeriod"/>
            </a:pPr>
            <a:r>
              <a:rPr lang="en-US" b="1" dirty="0">
                <a:latin typeface="Times New Roman" panose="02020603050405020304" pitchFamily="18" charset="0"/>
                <a:cs typeface="Times New Roman" panose="02020603050405020304" pitchFamily="18" charset="0"/>
              </a:rPr>
              <a:t>Traffic Flow Optimization</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Simulating real-world road scenarios with SUMO and analyzing communication protocols helps in designing systems that reduce congestion and improve vehicle flow efficiency.</a:t>
            </a:r>
          </a:p>
          <a:p>
            <a:pPr lvl="0" rtl="0" eaLnBrk="0" fontAlgn="base" hangingPunct="0">
              <a:spcBef>
                <a:spcPct val="0"/>
              </a:spcBef>
              <a:spcAft>
                <a:spcPct val="0"/>
              </a:spcAft>
            </a:pPr>
            <a:endParaRPr lang="en-US" dirty="0">
              <a:latin typeface="Times New Roman" panose="02020603050405020304" pitchFamily="18" charset="0"/>
              <a:cs typeface="Times New Roman" panose="02020603050405020304" pitchFamily="18" charset="0"/>
            </a:endParaRPr>
          </a:p>
          <a:p>
            <a:pPr lvl="0" rtl="0" eaLnBrk="0" fontAlgn="base" hangingPunct="0">
              <a:spcBef>
                <a:spcPct val="0"/>
              </a:spcBef>
              <a:spcAft>
                <a:spcPct val="0"/>
              </a:spcAft>
              <a:buFontTx/>
              <a:buAutoNum type="arabicPeriod" startAt="2"/>
            </a:pPr>
            <a:r>
              <a:rPr lang="en-US" b="1" dirty="0">
                <a:latin typeface="Times New Roman" panose="02020603050405020304" pitchFamily="18" charset="0"/>
                <a:cs typeface="Times New Roman" panose="02020603050405020304" pitchFamily="18" charset="0"/>
              </a:rPr>
              <a:t>Accident Prevention and Safety Enhancement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By modeling communication between vehicles (VANET) and simulating it in NS-3, you can evaluate how real-time alerts and data sharing help to prevent collisions and ensure road safety.</a:t>
            </a:r>
          </a:p>
          <a:p>
            <a:pPr lvl="0" rtl="0" eaLnBrk="0" fontAlgn="base" hangingPunct="0">
              <a:spcBef>
                <a:spcPct val="0"/>
              </a:spcBef>
              <a:spcAft>
                <a:spcPct val="0"/>
              </a:spcAft>
            </a:pPr>
            <a:endParaRPr lang="en-US" dirty="0">
              <a:latin typeface="Times New Roman" panose="02020603050405020304" pitchFamily="18" charset="0"/>
              <a:cs typeface="Times New Roman" panose="02020603050405020304" pitchFamily="18" charset="0"/>
            </a:endParaRPr>
          </a:p>
          <a:p>
            <a:pPr lvl="0" rtl="0" eaLnBrk="0" fontAlgn="base" hangingPunct="0">
              <a:spcBef>
                <a:spcPct val="0"/>
              </a:spcBef>
              <a:spcAft>
                <a:spcPct val="0"/>
              </a:spcAft>
              <a:buFontTx/>
              <a:buAutoNum type="arabicPeriod" startAt="3"/>
            </a:pPr>
            <a:r>
              <a:rPr lang="en-US" b="1" dirty="0">
                <a:latin typeface="Times New Roman" panose="02020603050405020304" pitchFamily="18" charset="0"/>
                <a:cs typeface="Times New Roman" panose="02020603050405020304" pitchFamily="18" charset="0"/>
              </a:rPr>
              <a:t>Smart City Traffic Management</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Integrating vehicle communication with infrastructure and simulation tools supports smart city planning and intelligent traffic light control systems.</a:t>
            </a:r>
          </a:p>
          <a:p>
            <a:pPr lvl="0" rtl="0" eaLnBrk="0" fontAlgn="base" hangingPunct="0">
              <a:spcBef>
                <a:spcPct val="0"/>
              </a:spcBef>
              <a:spcAft>
                <a:spcPct val="0"/>
              </a:spcAft>
            </a:pPr>
            <a:endParaRPr lang="en-US" dirty="0">
              <a:latin typeface="Times New Roman" panose="02020603050405020304" pitchFamily="18" charset="0"/>
              <a:cs typeface="Times New Roman" panose="02020603050405020304" pitchFamily="18" charset="0"/>
            </a:endParaRPr>
          </a:p>
          <a:p>
            <a:pPr lvl="0" rtl="0" eaLnBrk="0" fontAlgn="base" hangingPunct="0">
              <a:spcBef>
                <a:spcPct val="0"/>
              </a:spcBef>
              <a:spcAft>
                <a:spcPct val="0"/>
              </a:spcAft>
              <a:buFontTx/>
              <a:buAutoNum type="arabicPeriod" startAt="4"/>
            </a:pPr>
            <a:r>
              <a:rPr lang="en-US" b="1" dirty="0">
                <a:latin typeface="Times New Roman" panose="02020603050405020304" pitchFamily="18" charset="0"/>
                <a:cs typeface="Times New Roman" panose="02020603050405020304" pitchFamily="18" charset="0"/>
              </a:rPr>
              <a:t>Protocol Performance Analysis</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Comparing routing protocols in vehicular environments (e.g., AODV, DSR) helps in selecting the most efficient ones for different urban or highway conditions.</a:t>
            </a:r>
          </a:p>
          <a:p>
            <a:pPr lvl="0" rtl="0" eaLnBrk="0" fontAlgn="base" hangingPunct="0">
              <a:spcBef>
                <a:spcPct val="0"/>
              </a:spcBef>
              <a:spcAft>
                <a:spcPct val="0"/>
              </a:spcAft>
            </a:pPr>
            <a:endParaRPr lang="en-US" dirty="0">
              <a:latin typeface="Times New Roman" panose="02020603050405020304" pitchFamily="18" charset="0"/>
              <a:cs typeface="Times New Roman" panose="02020603050405020304" pitchFamily="18" charset="0"/>
            </a:endParaRPr>
          </a:p>
          <a:p>
            <a:pPr lvl="0" rtl="0" eaLnBrk="0" fontAlgn="base" hangingPunct="0">
              <a:spcBef>
                <a:spcPct val="0"/>
              </a:spcBef>
              <a:spcAft>
                <a:spcPct val="0"/>
              </a:spcAft>
              <a:buFontTx/>
              <a:buAutoNum type="arabicPeriod" startAt="5"/>
            </a:pPr>
            <a:r>
              <a:rPr lang="en-US" b="1" dirty="0">
                <a:latin typeface="Times New Roman" panose="02020603050405020304" pitchFamily="18" charset="0"/>
                <a:cs typeface="Times New Roman" panose="02020603050405020304" pitchFamily="18" charset="0"/>
              </a:rPr>
              <a:t>Autonomous Vehicle Research</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Supports testing how autonomous or semi-autonomous vehicles interact and make decisions based on networked communication and simulated conditions.</a:t>
            </a:r>
          </a:p>
          <a:p>
            <a:endParaRPr lang="en-US" dirty="0">
              <a:latin typeface="Times New Roman" panose="02020603050405020304" pitchFamily="18" charset="0"/>
              <a:cs typeface="Times New Roman" panose="02020603050405020304" pitchFamily="18" charset="0"/>
            </a:endParaRPr>
          </a:p>
        </p:txBody>
      </p:sp>
      <p:sp>
        <p:nvSpPr>
          <p:cNvPr id="5" name="Footer Placeholder 3">
            <a:extLst>
              <a:ext uri="{FF2B5EF4-FFF2-40B4-BE49-F238E27FC236}">
                <a16:creationId xmlns:a16="http://schemas.microsoft.com/office/drawing/2014/main" id="{4A2A52D1-7162-33DA-E59E-F205E580B2D3}"/>
              </a:ext>
            </a:extLst>
          </p:cNvPr>
          <p:cNvSpPr>
            <a:spLocks noGrp="1"/>
          </p:cNvSpPr>
          <p:nvPr>
            <p:ph type="ftr" sz="quarter" idx="11"/>
          </p:nvPr>
        </p:nvSpPr>
        <p:spPr>
          <a:xfrm>
            <a:off x="3851787"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spTree>
    <p:extLst>
      <p:ext uri="{BB962C8B-B14F-4D97-AF65-F5344CB8AC3E}">
        <p14:creationId xmlns:p14="http://schemas.microsoft.com/office/powerpoint/2010/main" val="30554375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pPr>
              <a:defRPr lang="en-US"/>
            </a:pPr>
            <a:fld id="{3B5A8AA3-EDD6-0F7C-98E2-1B29C4AC6E4E}" type="slidenum">
              <a:rPr lang="en-US" smtClean="0">
                <a:latin typeface="Times New Roman" panose="02020603050405020304" pitchFamily="18" charset="0"/>
                <a:cs typeface="Times New Roman" panose="02020603050405020304" pitchFamily="18" charset="0"/>
              </a:rPr>
              <a:t>22</a:t>
            </a:fld>
            <a:endParaRPr lang="en-US">
              <a:latin typeface="Times New Roman" panose="02020603050405020304" pitchFamily="18" charset="0"/>
              <a:cs typeface="Times New Roman" panose="02020603050405020304" pitchFamily="18" charset="0"/>
            </a:endParaRPr>
          </a:p>
        </p:txBody>
      </p:sp>
      <p:sp>
        <p:nvSpPr>
          <p:cNvPr id="4" name="TextBox 3"/>
          <p:cNvSpPr txBox="1"/>
          <p:nvPr/>
        </p:nvSpPr>
        <p:spPr>
          <a:xfrm>
            <a:off x="471488" y="485775"/>
            <a:ext cx="1161573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FUTURE SCOPE</a:t>
            </a:r>
            <a:r>
              <a:rPr lang="en-US" sz="2400" dirty="0">
                <a:latin typeface="Times New Roman" panose="02020603050405020304" pitchFamily="18" charset="0"/>
                <a:cs typeface="Times New Roman" panose="02020603050405020304" pitchFamily="18" charset="0"/>
              </a:rPr>
              <a:t>:</a:t>
            </a:r>
          </a:p>
        </p:txBody>
      </p:sp>
      <p:sp>
        <p:nvSpPr>
          <p:cNvPr id="6" name="Rectangle 1"/>
          <p:cNvSpPr>
            <a:spLocks noChangeArrowheads="1"/>
          </p:cNvSpPr>
          <p:nvPr/>
        </p:nvSpPr>
        <p:spPr bwMode="auto">
          <a:xfrm>
            <a:off x="471488" y="1488148"/>
            <a:ext cx="11219067"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a:tabLst/>
            </a:pP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Enable real-time collision avoidance and emergency alerts to improve road safety.</a:t>
            </a:r>
          </a:p>
          <a:p>
            <a:pPr marL="0" marR="0" lvl="0" indent="0" algn="just" defTabSz="914400" rtl="0" eaLnBrk="0" fontAlgn="base" latinLnBrk="0" hangingPunct="0">
              <a:lnSpc>
                <a:spcPct val="100000"/>
              </a:lnSpc>
              <a:spcBef>
                <a:spcPct val="0"/>
              </a:spcBef>
              <a:spcAft>
                <a:spcPct val="0"/>
              </a:spcAft>
              <a:buClrTx/>
              <a:buSzTx/>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2"/>
              <a:tabLst/>
            </a:pP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Integrate with 5G and AI for faster communication and smarter, predictive decision-making.</a:t>
            </a:r>
          </a:p>
          <a:p>
            <a:pPr marL="0" marR="0" lvl="0" indent="0" algn="just" defTabSz="914400" rtl="0" eaLnBrk="0" fontAlgn="base" latinLnBrk="0" hangingPunct="0">
              <a:lnSpc>
                <a:spcPct val="100000"/>
              </a:lnSpc>
              <a:spcBef>
                <a:spcPct val="0"/>
              </a:spcBef>
              <a:spcAft>
                <a:spcPct val="0"/>
              </a:spcAft>
              <a:buClrTx/>
              <a:buSzTx/>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3"/>
              <a:tabLst/>
            </a:pP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Expand to V2X communication to connect vehicles with infrastructure, pedestrians, and networks.</a:t>
            </a:r>
          </a:p>
          <a:p>
            <a:pPr marL="0" marR="0" lvl="0" indent="0" algn="just" defTabSz="914400" rtl="0" eaLnBrk="0" fontAlgn="base" latinLnBrk="0" hangingPunct="0">
              <a:lnSpc>
                <a:spcPct val="100000"/>
              </a:lnSpc>
              <a:spcBef>
                <a:spcPct val="0"/>
              </a:spcBef>
              <a:spcAft>
                <a:spcPct val="0"/>
              </a:spcAft>
              <a:buClrTx/>
              <a:buSzTx/>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4"/>
              <a:tabLst/>
            </a:pP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Enhance autonomous vehicle coordination for efficient platooning and traffic flow management.</a:t>
            </a:r>
          </a:p>
          <a:p>
            <a:pPr marL="0" marR="0" lvl="0" indent="0" algn="just" defTabSz="914400" rtl="0" eaLnBrk="0" fontAlgn="base" latinLnBrk="0" hangingPunct="0">
              <a:lnSpc>
                <a:spcPct val="100000"/>
              </a:lnSpc>
              <a:spcBef>
                <a:spcPct val="0"/>
              </a:spcBef>
              <a:spcAft>
                <a:spcPct val="0"/>
              </a:spcAft>
              <a:buClrTx/>
              <a:buSzTx/>
              <a:tabLst/>
            </a:pPr>
            <a:endPar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AutoNum type="arabicPeriod" startAt="5"/>
              <a:tabLst/>
            </a:pPr>
            <a:r>
              <a:rPr kumimoji="0" 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Improve traffic congestion management and emergency vehicle priority through seamless data exchange.</a:t>
            </a:r>
          </a:p>
        </p:txBody>
      </p:sp>
      <p:sp>
        <p:nvSpPr>
          <p:cNvPr id="5" name="Footer Placeholder 3">
            <a:extLst>
              <a:ext uri="{FF2B5EF4-FFF2-40B4-BE49-F238E27FC236}">
                <a16:creationId xmlns:a16="http://schemas.microsoft.com/office/drawing/2014/main" id="{76F5662B-1E30-6AFF-E4B4-4D37AC5A5010}"/>
              </a:ext>
            </a:extLst>
          </p:cNvPr>
          <p:cNvSpPr>
            <a:spLocks noGrp="1"/>
          </p:cNvSpPr>
          <p:nvPr>
            <p:ph type="ftr" sz="quarter" idx="11"/>
          </p:nvPr>
        </p:nvSpPr>
        <p:spPr>
          <a:xfrm>
            <a:off x="3851787"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spTree>
    <p:extLst>
      <p:ext uri="{BB962C8B-B14F-4D97-AF65-F5344CB8AC3E}">
        <p14:creationId xmlns:p14="http://schemas.microsoft.com/office/powerpoint/2010/main" val="31575716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2D1F9A7A-B4AF-A163-391D-D7666F703C2D}"/>
              </a:ext>
            </a:extLst>
          </p:cNvPr>
          <p:cNvSpPr txBox="1"/>
          <p:nvPr/>
        </p:nvSpPr>
        <p:spPr>
          <a:xfrm>
            <a:off x="548640" y="1767840"/>
            <a:ext cx="10911840" cy="2554545"/>
          </a:xfrm>
          <a:prstGeom prst="rect">
            <a:avLst/>
          </a:prstGeom>
          <a:noFill/>
        </p:spPr>
        <p:txBody>
          <a:bodyPr wrap="square" rtlCol="0">
            <a:spAutoFit/>
          </a:bodyPr>
          <a:lstStyle/>
          <a:p>
            <a:pPr marL="342900" marR="0" lvl="0" indent="-342900" algn="just"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V2V communication is crucial for improving road safety and traffic flow. </a:t>
            </a:r>
          </a:p>
          <a:p>
            <a:pPr marL="342900" marR="0" lvl="0" indent="-342900" algn="just"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data exchange between vehicles can reduce accidents and enhance driver awareness. </a:t>
            </a:r>
          </a:p>
          <a:p>
            <a:pPr marL="342900" marR="0" lvl="0" indent="-342900" algn="just"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Using DSRC (Dedicated Short-Range Communications), V2V communication can be effectively      implemented for reliable, low-latency communication. </a:t>
            </a:r>
          </a:p>
          <a:p>
            <a:pPr marL="342900" marR="0" lvl="0" indent="-342900" algn="just"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V2V will play a key role in future smart transportation systems. </a:t>
            </a:r>
          </a:p>
          <a:p>
            <a:pPr marL="342900" marR="0" lvl="0" indent="-342900" algn="just" defTabSz="914400" rtl="0" eaLnBrk="0" fontAlgn="base" latinLnBrk="0" hangingPunct="0">
              <a:lnSpc>
                <a:spcPct val="100000"/>
              </a:lnSpc>
              <a:spcBef>
                <a:spcPct val="0"/>
              </a:spcBef>
              <a:spcAft>
                <a:spcPts val="1200"/>
              </a:spcAft>
              <a:buClrTx/>
              <a:buSzTx/>
              <a:buFont typeface="Arial" panose="020B0604020202020204" pitchFamily="34" charset="0"/>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Implementing V2V with DSRC is essential to address current traffic management challenges. </a:t>
            </a:r>
          </a:p>
        </p:txBody>
      </p:sp>
      <p:sp>
        <p:nvSpPr>
          <p:cNvPr id="9" name="TextBox 8">
            <a:extLst>
              <a:ext uri="{FF2B5EF4-FFF2-40B4-BE49-F238E27FC236}">
                <a16:creationId xmlns:a16="http://schemas.microsoft.com/office/drawing/2014/main" id="{082AB31C-1478-F04B-8F75-516D39E1A9F2}"/>
              </a:ext>
            </a:extLst>
          </p:cNvPr>
          <p:cNvSpPr txBox="1"/>
          <p:nvPr/>
        </p:nvSpPr>
        <p:spPr>
          <a:xfrm>
            <a:off x="865239" y="670416"/>
            <a:ext cx="3814916"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CONCLUSION:</a:t>
            </a:r>
            <a:endParaRPr lang="en-IN" sz="2400" b="1" dirty="0">
              <a:latin typeface="Times New Roman" panose="02020603050405020304" pitchFamily="18" charset="0"/>
              <a:cs typeface="Times New Roman" panose="02020603050405020304" pitchFamily="18" charset="0"/>
            </a:endParaRPr>
          </a:p>
        </p:txBody>
      </p:sp>
      <p:sp>
        <p:nvSpPr>
          <p:cNvPr id="2" name="Footer Placeholder 3">
            <a:extLst>
              <a:ext uri="{FF2B5EF4-FFF2-40B4-BE49-F238E27FC236}">
                <a16:creationId xmlns:a16="http://schemas.microsoft.com/office/drawing/2014/main" id="{0E17B246-BB91-FA8C-136C-A1FED432DC6D}"/>
              </a:ext>
            </a:extLst>
          </p:cNvPr>
          <p:cNvSpPr>
            <a:spLocks noGrp="1"/>
          </p:cNvSpPr>
          <p:nvPr>
            <p:ph type="ftr" sz="quarter" idx="11"/>
          </p:nvPr>
        </p:nvSpPr>
        <p:spPr>
          <a:xfrm>
            <a:off x="3851787"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22C1807-DEFC-FC5F-9493-6AAB9B7941DF}"/>
              </a:ext>
            </a:extLst>
          </p:cNvPr>
          <p:cNvSpPr>
            <a:spLocks noGrp="1"/>
          </p:cNvSpPr>
          <p:nvPr>
            <p:ph type="sldNum" sz="quarter" idx="12"/>
          </p:nvPr>
        </p:nvSpPr>
        <p:spPr/>
        <p:txBody>
          <a:bodyPr/>
          <a:lstStyle/>
          <a:p>
            <a:pPr>
              <a:defRPr lang="en-US"/>
            </a:pPr>
            <a:fld id="{3B5A8AA3-EDD6-0F7C-98E2-1B29C4AC6E4E}" type="slidenum">
              <a:rPr lang="en-IN" smtClean="0">
                <a:latin typeface="Times New Roman" panose="02020603050405020304" pitchFamily="18" charset="0"/>
                <a:cs typeface="Times New Roman" panose="02020603050405020304" pitchFamily="18" charset="0"/>
              </a:rPr>
              <a:t>24</a:t>
            </a:fld>
            <a:endParaRPr lang="en-IN">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D944E4C8-95F7-E2F9-AC7A-597F3B645F1A}"/>
              </a:ext>
            </a:extLst>
          </p:cNvPr>
          <p:cNvSpPr txBox="1"/>
          <p:nvPr/>
        </p:nvSpPr>
        <p:spPr>
          <a:xfrm>
            <a:off x="533400" y="332486"/>
            <a:ext cx="3431458" cy="461665"/>
          </a:xfrm>
          <a:prstGeom prst="rect">
            <a:avLst/>
          </a:prstGeom>
          <a:noFill/>
        </p:spPr>
        <p:txBody>
          <a:bodyPr wrap="square" rtlCol="0">
            <a:spAutoFit/>
          </a:bodyPr>
          <a:lstStyle/>
          <a:p>
            <a:r>
              <a:rPr lang="en-US" sz="2400" b="1" dirty="0">
                <a:latin typeface="Times New Roman" panose="02020603050405020304" pitchFamily="18" charset="0"/>
                <a:cs typeface="Times New Roman" panose="02020603050405020304" pitchFamily="18" charset="0"/>
              </a:rPr>
              <a:t>REFERENCES</a:t>
            </a:r>
            <a:r>
              <a:rPr lang="en-US" dirty="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sp>
        <p:nvSpPr>
          <p:cNvPr id="6" name="TextBox 5">
            <a:extLst>
              <a:ext uri="{FF2B5EF4-FFF2-40B4-BE49-F238E27FC236}">
                <a16:creationId xmlns:a16="http://schemas.microsoft.com/office/drawing/2014/main" id="{7E3D1410-1F2D-EFEC-821F-EFEB71F7DE82}"/>
              </a:ext>
            </a:extLst>
          </p:cNvPr>
          <p:cNvSpPr txBox="1"/>
          <p:nvPr/>
        </p:nvSpPr>
        <p:spPr>
          <a:xfrm>
            <a:off x="482702" y="794151"/>
            <a:ext cx="11226595" cy="6478697"/>
          </a:xfrm>
          <a:prstGeom prst="rect">
            <a:avLst/>
          </a:prstGeom>
          <a:noFill/>
        </p:spPr>
        <p:txBody>
          <a:bodyPr wrap="square" rtlCol="0">
            <a:spAutoFit/>
          </a:bodyPr>
          <a:lstStyle/>
          <a:p>
            <a:pPr algn="just">
              <a:spcAft>
                <a:spcPts val="1800"/>
              </a:spcAft>
              <a:defRPr lang="en-US" sz="1400" b="0" cap="none">
                <a:latin typeface="Times New Roman" pitchFamily="1" charset="0"/>
                <a:ea typeface="Times New Roman" pitchFamily="1" charset="0"/>
                <a:cs typeface="Times New Roman" pitchFamily="1" charset="0"/>
              </a:defRPr>
            </a:pPr>
            <a:r>
              <a:rPr lang="en-IN" sz="1400" dirty="0">
                <a:solidFill>
                  <a:srgbClr val="006699"/>
                </a:solidFill>
                <a:latin typeface="Times New Roman" panose="02020603050405020304" pitchFamily="18" charset="0"/>
                <a:cs typeface="Times New Roman" panose="02020603050405020304" pitchFamily="18" charset="0"/>
              </a:rPr>
              <a:t>[1] M. </a:t>
            </a:r>
            <a:r>
              <a:rPr lang="en-IN" sz="1400" dirty="0" err="1">
                <a:solidFill>
                  <a:srgbClr val="006699"/>
                </a:solidFill>
                <a:latin typeface="Times New Roman" panose="02020603050405020304" pitchFamily="18" charset="0"/>
                <a:cs typeface="Times New Roman" panose="02020603050405020304" pitchFamily="18" charset="0"/>
              </a:rPr>
              <a:t>Alsudani</a:t>
            </a:r>
            <a:r>
              <a:rPr lang="en-IN" sz="1400" dirty="0">
                <a:solidFill>
                  <a:srgbClr val="006699"/>
                </a:solidFill>
                <a:latin typeface="Times New Roman" panose="02020603050405020304" pitchFamily="18" charset="0"/>
                <a:cs typeface="Times New Roman" panose="02020603050405020304" pitchFamily="18" charset="0"/>
              </a:rPr>
              <a:t>, “The wireless communication between vehicles: exploring the potential of v2v and v2x communication for improved efficiency, safety, and sustainability: wireless communication between (v2v) and (v2i, v2x),” Journal of </a:t>
            </a:r>
            <a:r>
              <a:rPr lang="en-IN" sz="1400" dirty="0" err="1">
                <a:solidFill>
                  <a:srgbClr val="006699"/>
                </a:solidFill>
                <a:latin typeface="Times New Roman" panose="02020603050405020304" pitchFamily="18" charset="0"/>
                <a:cs typeface="Times New Roman" panose="02020603050405020304" pitchFamily="18" charset="0"/>
              </a:rPr>
              <a:t>Millimeterwave</a:t>
            </a:r>
            <a:r>
              <a:rPr lang="en-IN" sz="1400" dirty="0">
                <a:solidFill>
                  <a:srgbClr val="006699"/>
                </a:solidFill>
                <a:latin typeface="Times New Roman" panose="02020603050405020304" pitchFamily="18" charset="0"/>
                <a:cs typeface="Times New Roman" panose="02020603050405020304" pitchFamily="18" charset="0"/>
              </a:rPr>
              <a:t> Communication, Optimization and Modelling, vol. 3, no. 1, pp. 9–13, 2023.</a:t>
            </a:r>
          </a:p>
          <a:p>
            <a:pPr algn="just">
              <a:spcAft>
                <a:spcPts val="1800"/>
              </a:spcAft>
              <a:defRPr lang="en-US" sz="1400" b="0" cap="none">
                <a:latin typeface="Times New Roman" pitchFamily="1" charset="0"/>
                <a:ea typeface="Times New Roman" pitchFamily="1" charset="0"/>
                <a:cs typeface="Times New Roman" pitchFamily="1" charset="0"/>
              </a:defRPr>
            </a:pPr>
            <a:r>
              <a:rPr lang="en-IN" sz="1400" dirty="0">
                <a:solidFill>
                  <a:srgbClr val="006699"/>
                </a:solidFill>
                <a:latin typeface="Times New Roman" panose="02020603050405020304" pitchFamily="18" charset="0"/>
                <a:cs typeface="Times New Roman" panose="02020603050405020304" pitchFamily="18" charset="0"/>
              </a:rPr>
              <a:t>[2] M. El </a:t>
            </a:r>
            <a:r>
              <a:rPr lang="en-IN" sz="1400" dirty="0" err="1">
                <a:solidFill>
                  <a:srgbClr val="006699"/>
                </a:solidFill>
                <a:latin typeface="Times New Roman" panose="02020603050405020304" pitchFamily="18" charset="0"/>
                <a:cs typeface="Times New Roman" panose="02020603050405020304" pitchFamily="18" charset="0"/>
              </a:rPr>
              <a:t>Zorkany</a:t>
            </a:r>
            <a:r>
              <a:rPr lang="en-IN" sz="1400" dirty="0">
                <a:solidFill>
                  <a:srgbClr val="006699"/>
                </a:solidFill>
                <a:latin typeface="Times New Roman" panose="02020603050405020304" pitchFamily="18" charset="0"/>
                <a:cs typeface="Times New Roman" panose="02020603050405020304" pitchFamily="18" charset="0"/>
              </a:rPr>
              <a:t>, A. Yasser, and A. I. Galal, “Vehicle to vehicle “v2v” communication: scope, importance, challenges, research directions and future,” The Open Transportation Journal, vol. 14, no. 1, 2020.</a:t>
            </a:r>
          </a:p>
          <a:p>
            <a:pPr algn="just">
              <a:spcAft>
                <a:spcPts val="1800"/>
              </a:spcAft>
              <a:defRPr lang="en-US" sz="1400" b="0" cap="none">
                <a:latin typeface="Times New Roman" pitchFamily="1" charset="0"/>
                <a:ea typeface="Times New Roman" pitchFamily="1" charset="0"/>
                <a:cs typeface="Times New Roman" pitchFamily="1" charset="0"/>
              </a:defRPr>
            </a:pPr>
            <a:r>
              <a:rPr lang="en-IN" sz="1400" dirty="0">
                <a:solidFill>
                  <a:srgbClr val="006699"/>
                </a:solidFill>
                <a:latin typeface="Times New Roman" panose="02020603050405020304" pitchFamily="18" charset="0"/>
                <a:cs typeface="Times New Roman" panose="02020603050405020304" pitchFamily="18" charset="0"/>
              </a:rPr>
              <a:t>[3]M. </a:t>
            </a:r>
            <a:r>
              <a:rPr lang="en-IN" sz="1400" dirty="0" err="1">
                <a:solidFill>
                  <a:srgbClr val="006699"/>
                </a:solidFill>
                <a:latin typeface="Times New Roman" panose="02020603050405020304" pitchFamily="18" charset="0"/>
                <a:cs typeface="Times New Roman" panose="02020603050405020304" pitchFamily="18" charset="0"/>
              </a:rPr>
              <a:t>Khanafer</a:t>
            </a:r>
            <a:r>
              <a:rPr lang="en-IN" sz="1400" dirty="0">
                <a:solidFill>
                  <a:srgbClr val="006699"/>
                </a:solidFill>
                <a:latin typeface="Times New Roman" panose="02020603050405020304" pitchFamily="18" charset="0"/>
                <a:cs typeface="Times New Roman" panose="02020603050405020304" pitchFamily="18" charset="0"/>
              </a:rPr>
              <a:t>, F. Khalil, K. </a:t>
            </a:r>
            <a:r>
              <a:rPr lang="en-IN" sz="1400" dirty="0" err="1">
                <a:solidFill>
                  <a:srgbClr val="006699"/>
                </a:solidFill>
                <a:latin typeface="Times New Roman" panose="02020603050405020304" pitchFamily="18" charset="0"/>
                <a:cs typeface="Times New Roman" panose="02020603050405020304" pitchFamily="18" charset="0"/>
              </a:rPr>
              <a:t>Waleed</a:t>
            </a:r>
            <a:r>
              <a:rPr lang="en-IN" sz="1400" dirty="0">
                <a:solidFill>
                  <a:srgbClr val="006699"/>
                </a:solidFill>
                <a:latin typeface="Times New Roman" panose="02020603050405020304" pitchFamily="18" charset="0"/>
                <a:cs typeface="Times New Roman" panose="02020603050405020304" pitchFamily="18" charset="0"/>
              </a:rPr>
              <a:t>, R. </a:t>
            </a:r>
            <a:r>
              <a:rPr lang="en-IN" sz="1400" dirty="0" err="1">
                <a:solidFill>
                  <a:srgbClr val="006699"/>
                </a:solidFill>
                <a:latin typeface="Times New Roman" panose="02020603050405020304" pitchFamily="18" charset="0"/>
                <a:cs typeface="Times New Roman" panose="02020603050405020304" pitchFamily="18" charset="0"/>
              </a:rPr>
              <a:t>Hamed</a:t>
            </a:r>
            <a:r>
              <a:rPr lang="en-IN" sz="1400" dirty="0">
                <a:solidFill>
                  <a:srgbClr val="006699"/>
                </a:solidFill>
                <a:latin typeface="Times New Roman" panose="02020603050405020304" pitchFamily="18" charset="0"/>
                <a:cs typeface="Times New Roman" panose="02020603050405020304" pitchFamily="18" charset="0"/>
              </a:rPr>
              <a:t>, A. </a:t>
            </a:r>
            <a:r>
              <a:rPr lang="en-IN" sz="1400" dirty="0" err="1">
                <a:solidFill>
                  <a:srgbClr val="006699"/>
                </a:solidFill>
                <a:latin typeface="Times New Roman" panose="02020603050405020304" pitchFamily="18" charset="0"/>
                <a:cs typeface="Times New Roman" panose="02020603050405020304" pitchFamily="18" charset="0"/>
              </a:rPr>
              <a:t>Rezk</a:t>
            </a:r>
            <a:r>
              <a:rPr lang="en-IN" sz="1400" dirty="0">
                <a:solidFill>
                  <a:srgbClr val="006699"/>
                </a:solidFill>
                <a:latin typeface="Times New Roman" panose="02020603050405020304" pitchFamily="18" charset="0"/>
                <a:cs typeface="Times New Roman" panose="02020603050405020304" pitchFamily="18" charset="0"/>
              </a:rPr>
              <a:t>, and M. El Abd, “Roads: Road assistance for driver safety,” in 2024 IEEE Global Conference on Artificial Intelligence and Internet of Things (</a:t>
            </a:r>
            <a:r>
              <a:rPr lang="en-IN" sz="1400" dirty="0" err="1">
                <a:solidFill>
                  <a:srgbClr val="006699"/>
                </a:solidFill>
                <a:latin typeface="Times New Roman" panose="02020603050405020304" pitchFamily="18" charset="0"/>
                <a:cs typeface="Times New Roman" panose="02020603050405020304" pitchFamily="18" charset="0"/>
              </a:rPr>
              <a:t>GCAIoT</a:t>
            </a:r>
            <a:r>
              <a:rPr lang="en-IN" sz="1400" dirty="0">
                <a:solidFill>
                  <a:srgbClr val="006699"/>
                </a:solidFill>
                <a:latin typeface="Times New Roman" panose="02020603050405020304" pitchFamily="18" charset="0"/>
                <a:cs typeface="Times New Roman" panose="02020603050405020304" pitchFamily="18" charset="0"/>
              </a:rPr>
              <a:t>), pp. 1–6, IEEE, 2024.</a:t>
            </a:r>
          </a:p>
          <a:p>
            <a:pPr algn="just">
              <a:spcAft>
                <a:spcPts val="1800"/>
              </a:spcAft>
              <a:defRPr lang="en-US" sz="1400" b="0" cap="none">
                <a:latin typeface="Times New Roman" pitchFamily="1" charset="0"/>
                <a:ea typeface="Times New Roman" pitchFamily="1" charset="0"/>
                <a:cs typeface="Times New Roman" pitchFamily="1" charset="0"/>
              </a:defRPr>
            </a:pPr>
            <a:r>
              <a:rPr lang="en-IN" sz="1400" dirty="0">
                <a:solidFill>
                  <a:srgbClr val="006699"/>
                </a:solidFill>
                <a:latin typeface="Times New Roman" panose="02020603050405020304" pitchFamily="18" charset="0"/>
                <a:cs typeface="Times New Roman" panose="02020603050405020304" pitchFamily="18" charset="0"/>
              </a:rPr>
              <a:t>[4 ]A. </a:t>
            </a:r>
            <a:r>
              <a:rPr lang="en-IN" sz="1400" dirty="0" err="1">
                <a:solidFill>
                  <a:srgbClr val="006699"/>
                </a:solidFill>
                <a:latin typeface="Times New Roman" panose="02020603050405020304" pitchFamily="18" charset="0"/>
                <a:cs typeface="Times New Roman" panose="02020603050405020304" pitchFamily="18" charset="0"/>
              </a:rPr>
              <a:t>Zubow</a:t>
            </a:r>
            <a:r>
              <a:rPr lang="en-IN" sz="1400" dirty="0">
                <a:solidFill>
                  <a:srgbClr val="006699"/>
                </a:solidFill>
                <a:latin typeface="Times New Roman" panose="02020603050405020304" pitchFamily="18" charset="0"/>
                <a:cs typeface="Times New Roman" panose="02020603050405020304" pitchFamily="18" charset="0"/>
              </a:rPr>
              <a:t>, C. </a:t>
            </a:r>
            <a:r>
              <a:rPr lang="en-IN" sz="1400" dirty="0" err="1">
                <a:solidFill>
                  <a:srgbClr val="006699"/>
                </a:solidFill>
                <a:latin typeface="Times New Roman" panose="02020603050405020304" pitchFamily="18" charset="0"/>
                <a:cs typeface="Times New Roman" panose="02020603050405020304" pitchFamily="18" charset="0"/>
              </a:rPr>
              <a:t>Laskos</a:t>
            </a:r>
            <a:r>
              <a:rPr lang="en-IN" sz="1400" dirty="0">
                <a:solidFill>
                  <a:srgbClr val="006699"/>
                </a:solidFill>
                <a:latin typeface="Times New Roman" panose="02020603050405020304" pitchFamily="18" charset="0"/>
                <a:cs typeface="Times New Roman" panose="02020603050405020304" pitchFamily="18" charset="0"/>
              </a:rPr>
              <a:t>, and F. Dressler, “Toward the simulation of </a:t>
            </a:r>
            <a:r>
              <a:rPr lang="en-IN" sz="1400" dirty="0" err="1">
                <a:solidFill>
                  <a:srgbClr val="006699"/>
                </a:solidFill>
                <a:latin typeface="Times New Roman" panose="02020603050405020304" pitchFamily="18" charset="0"/>
                <a:cs typeface="Times New Roman" panose="02020603050405020304" pitchFamily="18" charset="0"/>
              </a:rPr>
              <a:t>wifi</a:t>
            </a:r>
            <a:r>
              <a:rPr lang="en-IN" sz="1400" dirty="0">
                <a:solidFill>
                  <a:srgbClr val="006699"/>
                </a:solidFill>
                <a:latin typeface="Times New Roman" panose="02020603050405020304" pitchFamily="18" charset="0"/>
                <a:cs typeface="Times New Roman" panose="02020603050405020304" pitchFamily="18" charset="0"/>
              </a:rPr>
              <a:t> fine time measurements in ns3 network simulator,” Computer Communications, vol. 210, pp. 35–44, 2023.</a:t>
            </a:r>
          </a:p>
          <a:p>
            <a:pPr algn="just">
              <a:spcAft>
                <a:spcPts val="1800"/>
              </a:spcAft>
              <a:defRPr lang="en-US" sz="1400" b="0" cap="none">
                <a:latin typeface="Times New Roman" pitchFamily="1" charset="0"/>
                <a:ea typeface="Times New Roman" pitchFamily="1" charset="0"/>
                <a:cs typeface="Times New Roman" pitchFamily="1" charset="0"/>
              </a:defRPr>
            </a:pPr>
            <a:r>
              <a:rPr lang="en-IN" sz="1400" dirty="0">
                <a:solidFill>
                  <a:srgbClr val="006699"/>
                </a:solidFill>
                <a:latin typeface="Times New Roman" panose="02020603050405020304" pitchFamily="18" charset="0"/>
                <a:cs typeface="Times New Roman" panose="02020603050405020304" pitchFamily="18" charset="0"/>
              </a:rPr>
              <a:t>[5] M. </a:t>
            </a:r>
            <a:r>
              <a:rPr lang="en-IN" sz="1400" dirty="0" err="1">
                <a:solidFill>
                  <a:srgbClr val="006699"/>
                </a:solidFill>
                <a:latin typeface="Times New Roman" panose="02020603050405020304" pitchFamily="18" charset="0"/>
                <a:cs typeface="Times New Roman" panose="02020603050405020304" pitchFamily="18" charset="0"/>
              </a:rPr>
              <a:t>Alsudani</a:t>
            </a:r>
            <a:r>
              <a:rPr lang="en-IN" sz="1400" dirty="0">
                <a:solidFill>
                  <a:srgbClr val="006699"/>
                </a:solidFill>
                <a:latin typeface="Times New Roman" panose="02020603050405020304" pitchFamily="18" charset="0"/>
                <a:cs typeface="Times New Roman" panose="02020603050405020304" pitchFamily="18" charset="0"/>
              </a:rPr>
              <a:t>, “The wireless communication between vehicles: exploring the potential of v2v and v2x communication for improved efficiency, safety, and sustainability: wireless communication between (v2v) and (v2i, v2x),” Journal of </a:t>
            </a:r>
            <a:r>
              <a:rPr lang="en-IN" sz="1400" dirty="0" err="1">
                <a:solidFill>
                  <a:srgbClr val="006699"/>
                </a:solidFill>
                <a:latin typeface="Times New Roman" panose="02020603050405020304" pitchFamily="18" charset="0"/>
                <a:cs typeface="Times New Roman" panose="02020603050405020304" pitchFamily="18" charset="0"/>
              </a:rPr>
              <a:t>Millimeterwave</a:t>
            </a:r>
            <a:r>
              <a:rPr lang="en-IN" sz="1400" dirty="0">
                <a:solidFill>
                  <a:srgbClr val="006699"/>
                </a:solidFill>
                <a:latin typeface="Times New Roman" panose="02020603050405020304" pitchFamily="18" charset="0"/>
                <a:cs typeface="Times New Roman" panose="02020603050405020304" pitchFamily="18" charset="0"/>
              </a:rPr>
              <a:t> Communication, Optimization and Modelling, vol. 3, no. 1, pp. 9–13, 2023.</a:t>
            </a:r>
          </a:p>
          <a:p>
            <a:pPr algn="just">
              <a:spcAft>
                <a:spcPts val="1800"/>
              </a:spcAft>
              <a:defRPr lang="en-US" sz="1400" b="0" cap="none">
                <a:latin typeface="Times New Roman" pitchFamily="1" charset="0"/>
                <a:ea typeface="Times New Roman" pitchFamily="1" charset="0"/>
                <a:cs typeface="Times New Roman" pitchFamily="1" charset="0"/>
              </a:defRPr>
            </a:pPr>
            <a:r>
              <a:rPr lang="en-IN" sz="1400" dirty="0">
                <a:solidFill>
                  <a:srgbClr val="006699"/>
                </a:solidFill>
                <a:latin typeface="Times New Roman" panose="02020603050405020304" pitchFamily="18" charset="0"/>
                <a:cs typeface="Times New Roman" panose="02020603050405020304" pitchFamily="18" charset="0"/>
              </a:rPr>
              <a:t>[6] M. El </a:t>
            </a:r>
            <a:r>
              <a:rPr lang="en-IN" sz="1400" dirty="0" err="1">
                <a:solidFill>
                  <a:srgbClr val="006699"/>
                </a:solidFill>
                <a:latin typeface="Times New Roman" panose="02020603050405020304" pitchFamily="18" charset="0"/>
                <a:cs typeface="Times New Roman" panose="02020603050405020304" pitchFamily="18" charset="0"/>
              </a:rPr>
              <a:t>Zorkany</a:t>
            </a:r>
            <a:r>
              <a:rPr lang="en-IN" sz="1400" dirty="0">
                <a:solidFill>
                  <a:srgbClr val="006699"/>
                </a:solidFill>
                <a:latin typeface="Times New Roman" panose="02020603050405020304" pitchFamily="18" charset="0"/>
                <a:cs typeface="Times New Roman" panose="02020603050405020304" pitchFamily="18" charset="0"/>
              </a:rPr>
              <a:t>, A. Yasser, and A. I. Galal, “Vehicle to vehicle “v2v” communication: scope, importance, challenges, research directions and future,” The Open Transportation Journal, vol. 14, no. 1, 2020.</a:t>
            </a:r>
          </a:p>
          <a:p>
            <a:pPr algn="just">
              <a:spcAft>
                <a:spcPts val="1800"/>
              </a:spcAft>
              <a:defRPr lang="en-US" sz="1400" b="0" cap="none">
                <a:latin typeface="Times New Roman" pitchFamily="1" charset="0"/>
                <a:ea typeface="Times New Roman" pitchFamily="1" charset="0"/>
                <a:cs typeface="Times New Roman" pitchFamily="1" charset="0"/>
              </a:defRPr>
            </a:pPr>
            <a:r>
              <a:rPr lang="en-IN" sz="1400" dirty="0">
                <a:solidFill>
                  <a:srgbClr val="006699"/>
                </a:solidFill>
                <a:latin typeface="Times New Roman" panose="02020603050405020304" pitchFamily="18" charset="0"/>
                <a:cs typeface="Times New Roman" panose="02020603050405020304" pitchFamily="18" charset="0"/>
              </a:rPr>
              <a:t>[7]M. Khanafer, F. Khalil, K. Waleed, R. Hamed, A. Rezk, and M. El Abd, “Roads: Road assistance for driver safety,” in 2024 IEEE Global Conference on Artificial Intelligence and Internet of Things (</a:t>
            </a:r>
            <a:r>
              <a:rPr lang="en-IN" sz="1400" dirty="0" err="1">
                <a:solidFill>
                  <a:srgbClr val="006699"/>
                </a:solidFill>
                <a:latin typeface="Times New Roman" panose="02020603050405020304" pitchFamily="18" charset="0"/>
                <a:cs typeface="Times New Roman" panose="02020603050405020304" pitchFamily="18" charset="0"/>
              </a:rPr>
              <a:t>GCAIoT</a:t>
            </a:r>
            <a:r>
              <a:rPr lang="en-IN" sz="1400" dirty="0">
                <a:solidFill>
                  <a:srgbClr val="006699"/>
                </a:solidFill>
                <a:latin typeface="Times New Roman" panose="02020603050405020304" pitchFamily="18" charset="0"/>
                <a:cs typeface="Times New Roman" panose="02020603050405020304" pitchFamily="18" charset="0"/>
              </a:rPr>
              <a:t>), pp. 1–6, IEEE, 2024.</a:t>
            </a:r>
          </a:p>
          <a:p>
            <a:pPr algn="just">
              <a:spcAft>
                <a:spcPts val="1800"/>
              </a:spcAft>
              <a:defRPr lang="en-US" sz="1400" b="0" cap="none">
                <a:latin typeface="Times New Roman" pitchFamily="1" charset="0"/>
                <a:ea typeface="Times New Roman" pitchFamily="1" charset="0"/>
                <a:cs typeface="Times New Roman" pitchFamily="1" charset="0"/>
              </a:defRPr>
            </a:pPr>
            <a:r>
              <a:rPr lang="en-IN" sz="1400" dirty="0">
                <a:solidFill>
                  <a:srgbClr val="006699"/>
                </a:solidFill>
                <a:latin typeface="Times New Roman" panose="02020603050405020304" pitchFamily="18" charset="0"/>
                <a:cs typeface="Times New Roman" panose="02020603050405020304" pitchFamily="18" charset="0"/>
              </a:rPr>
              <a:t>[8]A. </a:t>
            </a:r>
            <a:r>
              <a:rPr lang="en-IN" sz="1400" dirty="0" err="1">
                <a:solidFill>
                  <a:srgbClr val="006699"/>
                </a:solidFill>
                <a:latin typeface="Times New Roman" panose="02020603050405020304" pitchFamily="18" charset="0"/>
                <a:cs typeface="Times New Roman" panose="02020603050405020304" pitchFamily="18" charset="0"/>
              </a:rPr>
              <a:t>Zubow</a:t>
            </a:r>
            <a:r>
              <a:rPr lang="en-IN" sz="1400" dirty="0">
                <a:solidFill>
                  <a:srgbClr val="006699"/>
                </a:solidFill>
                <a:latin typeface="Times New Roman" panose="02020603050405020304" pitchFamily="18" charset="0"/>
                <a:cs typeface="Times New Roman" panose="02020603050405020304" pitchFamily="18" charset="0"/>
              </a:rPr>
              <a:t>, C. Laskos, and F. Dressler, “Toward the simulation of </a:t>
            </a:r>
            <a:r>
              <a:rPr lang="en-IN" sz="1400" dirty="0" err="1">
                <a:solidFill>
                  <a:srgbClr val="006699"/>
                </a:solidFill>
                <a:latin typeface="Times New Roman" panose="02020603050405020304" pitchFamily="18" charset="0"/>
                <a:cs typeface="Times New Roman" panose="02020603050405020304" pitchFamily="18" charset="0"/>
              </a:rPr>
              <a:t>wifi</a:t>
            </a:r>
            <a:r>
              <a:rPr lang="en-IN" sz="1400" dirty="0">
                <a:solidFill>
                  <a:srgbClr val="006699"/>
                </a:solidFill>
                <a:latin typeface="Times New Roman" panose="02020603050405020304" pitchFamily="18" charset="0"/>
                <a:cs typeface="Times New Roman" panose="02020603050405020304" pitchFamily="18" charset="0"/>
              </a:rPr>
              <a:t> fine time measurements in ns3 network simulator,” Computer Communications, vol. 210, pp. 35–44, 2023.</a:t>
            </a:r>
          </a:p>
          <a:p>
            <a:pPr algn="just">
              <a:spcAft>
                <a:spcPts val="1800"/>
              </a:spcAft>
              <a:defRPr lang="en-US" sz="1400" b="0" cap="none">
                <a:latin typeface="Times New Roman" pitchFamily="1" charset="0"/>
                <a:ea typeface="Times New Roman" pitchFamily="1" charset="0"/>
                <a:cs typeface="Times New Roman" pitchFamily="1" charset="0"/>
              </a:defRPr>
            </a:pPr>
            <a:endParaRPr lang="en-IN" sz="1400" dirty="0">
              <a:solidFill>
                <a:srgbClr val="006699"/>
              </a:solidFill>
              <a:latin typeface="Times New Roman" panose="02020603050405020304" pitchFamily="18" charset="0"/>
              <a:cs typeface="Times New Roman" panose="02020603050405020304" pitchFamily="18" charset="0"/>
            </a:endParaRPr>
          </a:p>
          <a:p>
            <a:pPr algn="just">
              <a:spcAft>
                <a:spcPts val="1800"/>
              </a:spcAft>
              <a:defRPr lang="en-US" sz="1400" b="0" cap="none">
                <a:latin typeface="Times New Roman" pitchFamily="1" charset="0"/>
                <a:ea typeface="Times New Roman" pitchFamily="1" charset="0"/>
                <a:cs typeface="Times New Roman" pitchFamily="1" charset="0"/>
              </a:defRPr>
            </a:pPr>
            <a:endParaRPr lang="en-IN" sz="1400" dirty="0">
              <a:solidFill>
                <a:srgbClr val="006699"/>
              </a:solidFill>
              <a:latin typeface="Times New Roman" panose="02020603050405020304" pitchFamily="18" charset="0"/>
              <a:cs typeface="Times New Roman" panose="02020603050405020304" pitchFamily="18" charset="0"/>
            </a:endParaRPr>
          </a:p>
        </p:txBody>
      </p:sp>
      <p:sp>
        <p:nvSpPr>
          <p:cNvPr id="5" name="Footer Placeholder 3">
            <a:extLst>
              <a:ext uri="{FF2B5EF4-FFF2-40B4-BE49-F238E27FC236}">
                <a16:creationId xmlns:a16="http://schemas.microsoft.com/office/drawing/2014/main" id="{1003D5E8-16A3-607B-E53E-F57E6C86D3BF}"/>
              </a:ext>
            </a:extLst>
          </p:cNvPr>
          <p:cNvSpPr>
            <a:spLocks noGrp="1"/>
          </p:cNvSpPr>
          <p:nvPr>
            <p:ph type="ftr" sz="quarter" idx="11"/>
          </p:nvPr>
        </p:nvSpPr>
        <p:spPr>
          <a:xfrm>
            <a:off x="3851787" y="6492875"/>
            <a:ext cx="4114800" cy="365125"/>
          </a:xfrm>
        </p:spPr>
        <p:txBody>
          <a:bodyPr/>
          <a:lstStyle/>
          <a:p>
            <a:pPr>
              <a:defRPr lang="en-US"/>
            </a:pPr>
            <a:r>
              <a:rPr lang="en-US" sz="1000" dirty="0">
                <a:latin typeface="Times New Roman" panose="02020603050405020304" pitchFamily="18" charset="0"/>
                <a:cs typeface="Times New Roman" panose="02020603050405020304" pitchFamily="18" charset="0"/>
              </a:rPr>
              <a:t>V2V COMMUNICATION:ENHANCING SAFETY AND TRAFFIC FLOW</a:t>
            </a:r>
          </a:p>
        </p:txBody>
      </p:sp>
    </p:spTree>
    <p:extLst>
      <p:ext uri="{BB962C8B-B14F-4D97-AF65-F5344CB8AC3E}">
        <p14:creationId xmlns:p14="http://schemas.microsoft.com/office/powerpoint/2010/main" val="1754268432"/>
      </p:ext>
    </p:extLst>
  </p:cSld>
  <p:clrMapOvr>
    <a:masterClrMapping/>
  </p:clrMapOvr>
</p:sld>
</file>

<file path=ppt/theme/theme1.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resentation">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resentation">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Presentation">
  <a:themeElements>
    <a:clrScheme name="Presentation 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Presentation">
      <a:majorFont>
        <a:latin typeface="Calibri Light"/>
        <a:ea typeface="Calibri Light"/>
        <a:cs typeface="Calibri Light"/>
      </a:majorFont>
      <a:minorFont>
        <a:latin typeface="Calibri"/>
        <a:ea typeface="Calibri"/>
        <a:cs typeface="Calibri"/>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prstTxWarp prst="textNoShape">
          <a:avLst/>
        </a:prstTxWarp>
        <a:noAutofit/>
      </a:bodyPr>
      <a:lstStyle>
        <a:defPPr>
          <a:defRPr/>
        </a:defPPr>
      </a:lstStyle>
      <a:style>
        <a:lnRef idx="0">
          <a:schemeClr val="accent1"/>
        </a:lnRef>
        <a:fillRef idx="0">
          <a:schemeClr val="accent1"/>
        </a:fillRef>
        <a:effectRef idx="0">
          <a:schemeClr val="accent1"/>
        </a:effectRef>
        <a:fontRef idx="minor">
          <a:schemeClr val="lt1"/>
        </a:fontRef>
      </a:style>
    </a:spDef>
  </a:objectDefaults>
  <a:extraClrSchemeLst>
    <a:extraClrScheme>
      <a:clrScheme name="Presentation 1">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2">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3">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
      <a:clrScheme name="Presentation 4">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clrMap bg1="lt1" tx1="dk1" bg2="lt2" tx2="dk2" accent1="accent1" accent2="accent2" accent3="accent3" accent4="accent4" accent5="accent5" accent6="accent6" hlink="hlink" folHlink="folHlink"/>
    </a:extraClrScheme>
  </a:extraClrSchemeLst>
</a:theme>
</file>

<file path=docProps/app.xml><?xml version="1.0" encoding="utf-8"?>
<Properties xmlns="http://schemas.openxmlformats.org/officeDocument/2006/extended-properties" xmlns:vt="http://schemas.openxmlformats.org/officeDocument/2006/docPropsVTypes">
  <Template>SMART_DRIVING_ASSISTANTREVIEW_1</Template>
  <TotalTime>894</TotalTime>
  <Words>2584</Words>
  <Application>Microsoft Office PowerPoint</Application>
  <PresentationFormat>Widescreen</PresentationFormat>
  <Paragraphs>372</Paragraphs>
  <Slides>24</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24</vt:i4>
      </vt:variant>
    </vt:vector>
  </HeadingPairs>
  <TitlesOfParts>
    <vt:vector size="30" baseType="lpstr">
      <vt:lpstr>Arial</vt:lpstr>
      <vt:lpstr>Calibri</vt:lpstr>
      <vt:lpstr>Calibri Light</vt:lpstr>
      <vt:lpstr>Times New Roman</vt:lpstr>
      <vt:lpstr>Wingdings</vt:lpstr>
      <vt:lpstr>Presentation</vt:lpstr>
      <vt:lpstr>PowerPoint Presentation</vt:lpstr>
      <vt:lpstr>TABLE OF CONTENT:</vt:lpstr>
      <vt:lpstr>PowerPoint Presentation</vt:lpstr>
      <vt:lpstr>PowerPoint Presentation</vt:lpstr>
      <vt:lpstr>PowerPoint Presentation</vt:lpstr>
      <vt:lpstr>PowerPoint Presentation</vt:lpstr>
      <vt:lpstr>PowerPoint Presentation</vt:lpstr>
      <vt:lpstr>WORK BREAKDOWN STRUCTURE</vt:lpstr>
      <vt:lpstr>FLOWCHART:</vt:lpstr>
      <vt:lpstr>PowerPoint Presentation</vt:lpstr>
      <vt:lpstr>SOFTWARE TOOLS:</vt:lpstr>
      <vt:lpstr>HARDWARE SPECIFICATIONS</vt:lpstr>
      <vt:lpstr>PowerPoint Presentation</vt:lpstr>
      <vt:lpstr>PowerPoint Presentation</vt:lpstr>
      <vt:lpstr>OPTIMIZATION:</vt:lpstr>
      <vt:lpstr>RESULTS </vt:lpstr>
      <vt:lpstr>Receive rate v/s Simulation Time</vt:lpstr>
      <vt:lpstr>Overhead v/s Simulation time</vt:lpstr>
      <vt:lpstr>Throughput</vt:lpstr>
      <vt:lpstr> HARDWARE RESULTS:</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swaroop patil</dc:creator>
  <cp:keywords/>
  <dc:description/>
  <cp:lastModifiedBy>Swaroop Patil</cp:lastModifiedBy>
  <cp:revision>33</cp:revision>
  <dcterms:created xsi:type="dcterms:W3CDTF">2025-03-19T14:43:59Z</dcterms:created>
  <dcterms:modified xsi:type="dcterms:W3CDTF">2025-11-27T07:24:27Z</dcterms:modified>
</cp:coreProperties>
</file>